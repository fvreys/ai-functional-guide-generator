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84664" y="1197864"/>
            <a:ext cx="914400" cy="7315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1874520"/>
            <a:ext cx="274320" cy="128016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9518904" y="1197864"/>
            <a:ext cx="365760" cy="11887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9966960" y="3200400"/>
            <a:ext cx="1097280" cy="54864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64240" y="3200400"/>
            <a:ext cx="365760" cy="15544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0853928" y="4727448"/>
            <a:ext cx="548640" cy="11887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3703320"/>
            <a:ext cx="182880" cy="15544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76688" y="5230368"/>
            <a:ext cx="731520" cy="64008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555480" y="5897880"/>
            <a:ext cx="1280160" cy="27432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0" y="1005840"/>
            <a:ext cx="384048" cy="384048"/>
          </a:xfrm>
          <a:prstGeom prst="hexagon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0" y="1737360"/>
            <a:ext cx="274320" cy="274320"/>
          </a:xfrm>
          <a:prstGeom prst="hexagon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0" y="2194560"/>
            <a:ext cx="237744" cy="237744"/>
          </a:xfrm>
          <a:prstGeom prst="hexagon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81360" y="3017520"/>
            <a:ext cx="365760" cy="365760"/>
          </a:xfrm>
          <a:prstGeom prst="hexagon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0" y="3566160"/>
            <a:ext cx="274320" cy="274320"/>
          </a:xfrm>
          <a:prstGeom prst="hexagon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47120" y="4572000"/>
            <a:ext cx="310896" cy="310896"/>
          </a:xfrm>
          <a:prstGeom prst="hexagon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966960" y="5120640"/>
            <a:ext cx="219456" cy="219456"/>
          </a:xfrm>
          <a:prstGeom prst="hexagon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98480" y="5760720"/>
            <a:ext cx="274320" cy="274320"/>
          </a:xfrm>
          <a:prstGeom prst="hexagon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8320" y="6035040"/>
            <a:ext cx="201168" cy="201168"/>
          </a:xfrm>
          <a:prstGeom prst="hexagon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DOCUMENT  ·  V10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246888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Guide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structured, meaningful, and readable functional documentation from existing knowledge sources — written for people, not for documentation agents.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F. Vreys   · 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— and 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EAF3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457200" cy="457200"/>
          </a:xfrm>
          <a:prstGeom prst="hexagon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functional documentation after a feature ships is rarely done in practice. Developers move to the next ticket, product owners move to the next backlog item — and the knowledge embedded in tickets, code, wikis, and demos never becomes a functional, human-readable manual.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057400"/>
            <a:ext cx="457200" cy="457200"/>
          </a:xfrm>
          <a:prstGeom prst="hexagon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0" y="20299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29400" y="274320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Functional Guide Generator assembles and rephrases what is already known and documented — turning scattered sources into structured, meaningful, readable functional documentation, written for people rather than for documentation agents.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Restrictions &amp; prerequisite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new information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283464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assembles and rephrases what is already known — it does not invent content.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47872" y="233172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sync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47872" y="283464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isn't updated live; there's no automated interface for input.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82512" y="233172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English only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82512" y="283464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is generated in English for this iteration.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783080"/>
            <a:ext cx="2606040" cy="1965960"/>
          </a:xfrm>
          <a:prstGeom prst="roundRect">
            <a:avLst>
              <a:gd name="adj" fmla="val 3256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7152" y="1920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217152" y="233172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scope only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217152" y="2834640"/>
            <a:ext cx="22768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of technical documentation is explicitly excluded.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245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FOR IMPLEMENTATION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input data stream must contain enough quality information — otherwise the system risks a 'garbage in, garbage out' result.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restrictions may be lifted in future iterations.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logical layers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composed of logical components grouped into three layers.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68880"/>
            <a:ext cx="594360" cy="59436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preprocess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ingestion, preprocessing, embed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87368" y="365760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343400" y="21488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468880"/>
            <a:ext cx="594360" cy="59436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&amp; generate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63440" y="42976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store, prompt engine, LLM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82128" y="365760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6B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2468880"/>
            <a:ext cx="594360" cy="59436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58200" y="3291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&amp; serve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58200" y="429768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model, API layer, UI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SYSTEM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details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44368" y="1691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99248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/ Service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14884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Ingestion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44368" y="2148840"/>
            <a:ext cx="4553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raw artifacts (wiki, screenshots, board, code repo, …)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99248" y="2148840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import; REST / GitHub / Confluence API; screen capture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11064240" cy="566928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715768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44368" y="2715768"/>
            <a:ext cx="4553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chunks &amp; normalises text and images before indexing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99248" y="2715768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text splitters; SQL queries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282696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44368" y="3282696"/>
            <a:ext cx="4553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chunks into dense vectors / relational entries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99248" y="3282696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(OpenAI) — low cost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49624"/>
            <a:ext cx="11064240" cy="566928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849624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44368" y="3849624"/>
            <a:ext cx="4553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&amp; retrieves most relevant chunks, with metadata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99248" y="3849624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Qdrant, or Postgres &amp; PGVector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16552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416552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44368" y="4416552"/>
            <a:ext cx="4553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prompt &amp; document templates, per section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99248" y="4416552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LCEL chains, custom templates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11064240" cy="566928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9834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44368" y="4983480"/>
            <a:ext cx="4553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Synthesises retrieved context into structured docs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99248" y="4983480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strong summarisation — model TBD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550408"/>
            <a:ext cx="11064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5550408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Module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944368" y="5550408"/>
            <a:ext cx="45537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generated doc; ends with manual verification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699248" y="5550408"/>
            <a:ext cx="38221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LLM-as-judge; manual user feedback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83080" cy="594360"/>
          </a:xfrm>
          <a:prstGeom prst="roundRect">
            <a:avLst>
              <a:gd name="adj" fmla="val 9231"/>
            </a:avLst>
          </a:prstGeom>
          <a:solidFill>
            <a:srgbClr val="D9DE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737360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1783080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450592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1783080" cy="594360"/>
          </a:xfrm>
          <a:prstGeom prst="roundRect">
            <a:avLst>
              <a:gd name="adj" fmla="val 9231"/>
            </a:avLst>
          </a:prstGeom>
          <a:solidFill>
            <a:srgbClr val="D9DE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163824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877056"/>
            <a:ext cx="1783080" cy="594360"/>
          </a:xfrm>
          <a:prstGeom prst="roundRect">
            <a:avLst>
              <a:gd name="adj" fmla="val 9231"/>
            </a:avLst>
          </a:prstGeom>
          <a:solidFill>
            <a:srgbClr val="D9DE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877056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notes &amp;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4590288"/>
            <a:ext cx="1783080" cy="594360"/>
          </a:xfrm>
          <a:prstGeom prst="roundRect">
            <a:avLst>
              <a:gd name="adj" fmla="val 9231"/>
            </a:avLst>
          </a:prstGeom>
          <a:solidFill>
            <a:srgbClr val="D9DEE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590288"/>
            <a:ext cx="16367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4173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SOURCES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77440" y="3200400"/>
            <a:ext cx="411480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880360" y="1737360"/>
            <a:ext cx="2834640" cy="1051560"/>
          </a:xfrm>
          <a:prstGeom prst="roundRect">
            <a:avLst>
              <a:gd name="adj" fmla="val 5217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8105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17520" y="20574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  →   Preprocess   →   Embed &amp; store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42816" y="2788920"/>
            <a:ext cx="0" cy="18288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880360" y="2971800"/>
            <a:ext cx="2834640" cy="1051560"/>
          </a:xfrm>
          <a:prstGeom prst="roundRect">
            <a:avLst>
              <a:gd name="adj" fmla="val 5217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0449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17520" y="3291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  →   Generate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242816" y="4023360"/>
            <a:ext cx="0" cy="18288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880360" y="4206240"/>
            <a:ext cx="2834640" cy="1051560"/>
          </a:xfrm>
          <a:prstGeom prst="roundRect">
            <a:avLst>
              <a:gd name="adj" fmla="val 5217"/>
            </a:avLst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42793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4526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  →   Serve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60720" y="3200400"/>
            <a:ext cx="411480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17920" y="278892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78892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680960" y="3200400"/>
            <a:ext cx="411480" cy="0"/>
          </a:xfrm>
          <a:prstGeom prst="line">
            <a:avLst/>
          </a:prstGeom>
          <a:noFill/>
          <a:ln w="25400">
            <a:solidFill>
              <a:srgbClr val="5B6B75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092440" y="173736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EAF3DE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92440" y="1737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92440" y="233172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EAF3DE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92440" y="2331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92440" y="292608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EAF3DE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92440" y="352044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EAF3DE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9244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page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9244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 onward, the design focuses on one input source — the agile board with features and user stories — as it is expected to be the most consistently available, high-value source.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Inputs, output structure &amp; formats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SOURCES — IN PRACTICE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432304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86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specs from wiki — Confluence, Notion, documents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999232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852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board — features &amp; user stories (Jira, Azure DevOps)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566160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41985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screenshot folder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133088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98678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meeting notes &amp; recordings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4700016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5537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 (GitHub repo)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169164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74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DOCUMENT — CHAPTERS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46520" y="228600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38160" y="228600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829800" y="228600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9800" y="2286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28803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38160" y="28803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829800" y="288036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2980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72200" y="379476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977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46520" y="4370832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37083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(default)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66760" y="4370832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3708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966960" y="4370832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0" y="43708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366760" y="49377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6676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966960" y="493776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7BC6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66960" y="4937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page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46520" y="5440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 high-level overview in max. 2–7 pages, covering how the application works and what its functionality is.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&amp; preprocessing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95360" y="77724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777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ON-DEMAND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47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194560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input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13232" y="257860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from the agile board (Jira, Azure DevOps).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1847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62272" y="2194560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validate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62272" y="257860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 text; validates required fields are filled in; optionally validates item descriptions.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065A82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1312" y="18470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11312" y="2194560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11312" y="257860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400–600 tokens per chunk; one feature per chunk; a story is never split; one agile item type per chunk.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5204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630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" y="3977640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store fields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13232" y="436168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only title and free-text fields (description, acceptance criteria).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35204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3630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62272" y="3977640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462272" y="436168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type, date created, board ID, parent feature/epic ID, related stories with relation type.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46720" y="3520440"/>
            <a:ext cx="3566160" cy="16002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11312" y="363016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11312" y="3977640"/>
            <a:ext cx="32369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11312" y="4361688"/>
            <a:ext cx="32369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is encoded by the Embedding Model and stored alongside its metadata.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Retrieval, generation &amp; 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95360" y="77724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0" y="7772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/ PER REQUEST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18105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10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10424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configuration of the target output and its sections, each with a template.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40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313432"/>
            <a:ext cx="10424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 formulates a retrieval query per output section, with query improvements (decomposition, context scoring, category).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71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2843784"/>
            <a:ext cx="10424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relevant chunks fetched via semantic / similarity search.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015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01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374136"/>
            <a:ext cx="10424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+ structured prompt template forwarded to the LLM, which writes the section in plain language.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904488"/>
            <a:ext cx="10424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Module scores each section; sections below threshold are flagged for review.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622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62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434840"/>
            <a:ext cx="10424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pass checks every section fits the overall document structure before full generation.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926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992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965192"/>
            <a:ext cx="10424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is performed at the end.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5229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522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5495544"/>
            <a:ext cx="10424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assembled in Markdown; post-processing creates Word, PDF, HTML, or wiki page.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 &amp; TOOL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tool choices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91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78608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81728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96528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considered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106424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48840"/>
            <a:ext cx="171907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78608" y="2148840"/>
            <a:ext cx="19019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 be chosen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81728" y="2148840"/>
            <a:ext cx="391363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at the last moment, comparing cost &amp; quality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96528" y="2148840"/>
            <a:ext cx="272491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too costly, decent quality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11064240" cy="758952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907792"/>
            <a:ext cx="171907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78608" y="2907792"/>
            <a:ext cx="19019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1728" y="2907792"/>
            <a:ext cx="391363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semantic quality at low cost; 1536-dim vectors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796528" y="2907792"/>
            <a:ext cx="272491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Embed v3 — higher cost, multilingual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66744"/>
            <a:ext cx="1106424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666744"/>
            <a:ext cx="171907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78608" y="3666744"/>
            <a:ext cx="19019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81728" y="3666744"/>
            <a:ext cx="391363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similarity search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96528" y="3666744"/>
            <a:ext cx="272491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PGVector — relational data separately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25696"/>
            <a:ext cx="11064240" cy="758952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425696"/>
            <a:ext cx="171907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78608" y="4425696"/>
            <a:ext cx="19019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LCEL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81728" y="4425696"/>
            <a:ext cx="391363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chains; native Qdrant &amp; OpenAI integrations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796528" y="4425696"/>
            <a:ext cx="272491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— strong docs, heavier abstraction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184648"/>
            <a:ext cx="1106424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184648"/>
            <a:ext cx="171907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Monitoring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78608" y="5184648"/>
            <a:ext cx="190195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81728" y="5184648"/>
            <a:ext cx="391363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versioning, Ragas integration, logging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796528" y="5184648"/>
            <a:ext cx="2724912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LangSmith, Portkey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EVALUATION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assess quality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evaluation metric is sufficient — cost of each automated check must be weighed, and human review remains critical in early iterations.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LLM-as-a-judge, using standardised evaluation metrics run against generated sections.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74904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7490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374904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37490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4315968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3159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4315968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43159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4882896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88289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overlap*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37560" y="4882896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88289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Readability*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5440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*requires reference document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219456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28346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and post-publish user feedback close the loop on what automation can't fully judge.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92240" y="3794760"/>
            <a:ext cx="4846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8496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40965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reviewer classifies output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4572000"/>
            <a:ext cx="484632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626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Post-publish feedback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48737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Thumbs-up / thumbs-down via UI widget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5440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is especially important in first iterations, to fine-tune the automated evaluation.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EVALUATION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&amp; targets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916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35808" y="1691640"/>
            <a:ext cx="868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87368" y="16916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96528" y="1691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03120"/>
            <a:ext cx="21762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17520" y="2228850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222885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87368" y="2103120"/>
            <a:ext cx="450799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of required sections &amp; templates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96528" y="2103120"/>
            <a:ext cx="272491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sections / 80% templates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592324"/>
            <a:ext cx="11064240" cy="489204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592324"/>
            <a:ext cx="21762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017520" y="271805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0" y="271805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87368" y="2592324"/>
            <a:ext cx="450799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supported by retrieved context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96528" y="2592324"/>
            <a:ext cx="272491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081528"/>
            <a:ext cx="1106424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081528"/>
            <a:ext cx="21762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017520" y="320725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320725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87368" y="3081528"/>
            <a:ext cx="450799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facts retrieved vs. available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96528" y="3081528"/>
            <a:ext cx="272491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570732"/>
            <a:ext cx="11064240" cy="489204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570732"/>
            <a:ext cx="21762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017520" y="369646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0" y="3696462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087368" y="3570732"/>
            <a:ext cx="450799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areas from tickets reflected in output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96528" y="3570732"/>
            <a:ext cx="272491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059936"/>
            <a:ext cx="1106424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059936"/>
            <a:ext cx="21762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overlap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017520" y="4185666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0" y="4185666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doc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087368" y="4059936"/>
            <a:ext cx="450799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vs. human-written reference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96528" y="4059936"/>
            <a:ext cx="272491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 (caution: limited signal)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549140"/>
            <a:ext cx="11064240" cy="489204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4549140"/>
            <a:ext cx="21762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017520" y="4674870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4674870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doc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087368" y="4549140"/>
            <a:ext cx="450799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clarity score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796528" y="4549140"/>
            <a:ext cx="272491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 ≥ 80%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5038344"/>
            <a:ext cx="11064240" cy="4892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368" y="5038344"/>
            <a:ext cx="21762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017520" y="5164074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0" y="5164074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087368" y="5038344"/>
            <a:ext cx="450799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reviewer classification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796528" y="5038344"/>
            <a:ext cx="272491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5527548"/>
            <a:ext cx="11064240" cy="489204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" y="5527548"/>
            <a:ext cx="217627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Post-publish feedback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017520" y="5653278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5B6B7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0" y="5653278"/>
            <a:ext cx="868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087368" y="5527548"/>
            <a:ext cx="450799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Thumbs-up / thumbs-down on final doc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796528" y="5527548"/>
            <a:ext cx="2724912" cy="489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 thumbs-up, no major edits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EVALUATION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&amp; open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01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PIPELINE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2359152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precision, context recall &amp; coverage — sync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2359152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overlap &amp; readability — async, needs reference doc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889504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706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— manual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2889504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7706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Post-publish feedback — collected from UI, stored for fine-tuning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EVALUATION QUESTIONS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4069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06908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use consistent terminology for every concept? (embed &amp; cluster terms to check)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48056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glossary complete? A concept is added when first used and a definition exists.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89204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= documentation that is actually used/read — hard to measure before availability.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3035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530352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do with other agile item types (bug, task, etc.)?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22960" y="571500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571500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real cost to create a meaningful, genuinely-used result?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TRADE-OFFS &amp;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Trade-offs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58952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22860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quality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17520" y="173736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Garbage-in, garbage-out with poor tickets / vague specs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223760" y="1737360"/>
            <a:ext cx="42976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on low-quality data or low similarity scores; prompt better sources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6424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96312"/>
            <a:ext cx="22860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17520" y="2496312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may infer behaviour not present in sources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23760" y="2496312"/>
            <a:ext cx="42976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/ recall checks flag low-confidence text; human review required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11064240" cy="758952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55264"/>
            <a:ext cx="22860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17520" y="3255264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output is Markdown only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3255264"/>
            <a:ext cx="42976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is the most portable intermediate; converters export to target formats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1106424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014216"/>
            <a:ext cx="22860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17520" y="4014216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cost with quality of generation &amp; evaluation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0" y="4014216"/>
            <a:ext cx="42976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LLM calls; use smaller models for specific tasks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773168"/>
            <a:ext cx="11064240" cy="758952"/>
          </a:xfrm>
          <a:prstGeom prst="rect">
            <a:avLst/>
          </a:prstGeom>
          <a:solidFill>
            <a:srgbClr val="EAF3F8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773168"/>
            <a:ext cx="22860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17520" y="4773168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windows increase hallucination risk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4773168"/>
            <a:ext cx="42976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small; generate section-by-section with an outline pass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758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EA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532120"/>
            <a:ext cx="22860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sync, multilingual, access control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17520" y="5532120"/>
            <a:ext cx="41148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supported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5532120"/>
            <a:ext cx="429768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later iterations (v3–v4)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IDEAS TO IMPROVE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Raising overall quality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only works with at least one input source containing quality information. For agile board items specifically: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065A82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377440"/>
            <a:ext cx="457200" cy="457200"/>
          </a:xfrm>
          <a:prstGeom prst="hexagon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quality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detail varies widely — from one-liners to near pseudo-code. Use item templates, ensure descriptions are detailed enough (compare against reference examples), and identify all items relevant to the functionality being documented.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10312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377440"/>
            <a:ext cx="457200" cy="457200"/>
          </a:xfrm>
          <a:prstGeom prst="hexagon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definition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5661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related backlog items are correctly grouped together under the feature they belong to.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10312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377440"/>
            <a:ext cx="457200" cy="457200"/>
          </a:xfrm>
          <a:prstGeom prst="hexagon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2104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quality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56616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define what makes documentation 'good' — i.e. actually used and read — and validate this through human review and acceptance.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BIGGEST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biggest 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657600"/>
          </a:xfrm>
          <a:prstGeom prst="roundRect">
            <a:avLst>
              <a:gd name="adj" fmla="val 2338"/>
            </a:avLst>
          </a:prstGeom>
          <a:solidFill>
            <a:srgbClr val="1A23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342900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data quality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the input data source(s) fundamentally caps output quality.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3520440" cy="3657600"/>
          </a:xfrm>
          <a:prstGeom prst="roundRect">
            <a:avLst>
              <a:gd name="adj" fmla="val 2338"/>
            </a:avLst>
          </a:prstGeom>
          <a:solidFill>
            <a:srgbClr val="1A23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63440" y="342900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quality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41605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evaluation itself reliable enough to keep the result genuinely useful.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520440" cy="3657600"/>
          </a:xfrm>
          <a:prstGeom prst="roundRect">
            <a:avLst>
              <a:gd name="adj" fmla="val 2338"/>
            </a:avLst>
          </a:prstGeom>
          <a:solidFill>
            <a:srgbClr val="1A2350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458200" y="342900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Cost-benefit case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58200" y="41605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a rigorous cost-benefit analysis to justify a real, valid use case.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ANNEX —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v0 → v5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10515600" cy="0"/>
          </a:xfrm>
          <a:prstGeom prst="line">
            <a:avLst/>
          </a:prstGeom>
          <a:noFill/>
          <a:ln w="38100">
            <a:solidFill>
              <a:srgbClr val="DCEA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354787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3547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first steps to check quality; embed &amp; store; automate 1 evaluation metric.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0" cy="228600"/>
          </a:xfrm>
          <a:prstGeom prst="line">
            <a:avLst/>
          </a:prstGeom>
          <a:noFill/>
          <a:ln w="19050">
            <a:solidFill>
              <a:srgbClr val="DCEAF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724912" y="354787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3547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80260" y="39776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1700" y="40690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highest-quality input source (agile backlog items); add 1–2 more evaluation metrics.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0" y="3749040"/>
            <a:ext cx="0" cy="228600"/>
          </a:xfrm>
          <a:prstGeom prst="line">
            <a:avLst/>
          </a:prstGeom>
          <a:noFill/>
          <a:ln w="19050">
            <a:solidFill>
              <a:srgbClr val="DCEAF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828032" y="3547872"/>
            <a:ext cx="402336" cy="40233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3547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83380" y="21488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74820" y="22402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cost per component to identify the biggest cost drivers; add further automated evaluation.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0" y="3520440"/>
            <a:ext cx="0" cy="228600"/>
          </a:xfrm>
          <a:prstGeom prst="line">
            <a:avLst/>
          </a:prstGeom>
          <a:noFill/>
          <a:ln w="19050">
            <a:solidFill>
              <a:srgbClr val="DCEA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931152" y="3547872"/>
            <a:ext cx="402336" cy="402336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3547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86500" y="39776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7940" y="40690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toward real-time input &amp; generation; more dynamic UI and output API.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32320" y="3749040"/>
            <a:ext cx="0" cy="228600"/>
          </a:xfrm>
          <a:prstGeom prst="line">
            <a:avLst/>
          </a:prstGeom>
          <a:noFill/>
          <a:ln w="19050">
            <a:solidFill>
              <a:srgbClr val="DCEA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034272" y="3547872"/>
            <a:ext cx="402336" cy="402336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34272" y="3547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89620" y="21488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1060" y="22402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access control (per-user auth) and multi-language output support.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235440" y="3520440"/>
            <a:ext cx="0" cy="228600"/>
          </a:xfrm>
          <a:prstGeom prst="line">
            <a:avLst/>
          </a:prstGeom>
          <a:noFill/>
          <a:ln w="19050">
            <a:solidFill>
              <a:srgbClr val="DCEAF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1137392" y="3547872"/>
            <a:ext cx="402336" cy="402336"/>
          </a:xfrm>
          <a:prstGeom prst="ellipse">
            <a:avLst/>
          </a:prstGeom>
          <a:solidFill>
            <a:srgbClr val="2129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37392" y="35478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66960" y="397764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EAF3F8"/>
          </a:solidFill>
          <a:ln w="12700">
            <a:solidFill>
              <a:srgbClr val="DCEA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0" y="406908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0C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audience (end-users, documentation agents); support other document types.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1338560" y="3749040"/>
            <a:ext cx="0" cy="228600"/>
          </a:xfrm>
          <a:prstGeom prst="line">
            <a:avLst/>
          </a:prstGeom>
          <a:noFill/>
          <a:ln w="19050">
            <a:solidFill>
              <a:srgbClr val="DCEAF2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Guide Generator · System Design v10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320040" cy="320040"/>
          </a:xfrm>
          <a:prstGeom prst="hexagon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0" y="1463040"/>
            <a:ext cx="219456" cy="219456"/>
          </a:xfrm>
          <a:prstGeom prst="hexagon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920240"/>
            <a:ext cx="256032" cy="256032"/>
          </a:xfrm>
          <a:prstGeom prst="hexagon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5120640"/>
            <a:ext cx="274320" cy="274320"/>
          </a:xfrm>
          <a:prstGeom prst="hexagon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5577840"/>
            <a:ext cx="201168" cy="201168"/>
          </a:xfrm>
          <a:prstGeom prst="hexagon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6035040"/>
            <a:ext cx="237744" cy="237744"/>
          </a:xfrm>
          <a:prstGeom prst="hexagon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Guide Generator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98568" y="4297680"/>
            <a:ext cx="2194560" cy="0"/>
          </a:xfrm>
          <a:prstGeom prst="line">
            <a:avLst/>
          </a:prstGeom>
          <a:noFill/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5720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F. Vreys   ·   July 2026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0" y="4937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8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under CC BY 4.0 — creativecommons.org/licenses/by/4.0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Functional_guide_generator System_design v10.md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2026-07-15T21:42:07Z</dcterms:created>
  <dcterms:modified xsi:type="dcterms:W3CDTF">2026-07-15T21:42:07Z</dcterms:modified>
</cp:coreProperties>
</file>