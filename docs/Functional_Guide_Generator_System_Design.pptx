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presentation.xml" ContentType="application/vnd.openxmlformats-officedocument.presentationml.presentation.main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slideLayouts/slideLayout1.xml" ContentType="application/vnd.openxmlformats-officedocument.presentationml.slideLayout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nl-NL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Klik om de dia te verplaatsen</a:t>
            </a:r>
            <a:endParaRPr lang="nl-NL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nl-NL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Klik om de opmaak van de notities te bewerken</a:t>
            </a:r>
            <a:endParaRPr lang="nl-NL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nl-NL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nl-NL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nl-NL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nl-NL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nl-NL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nl-NL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nl-NL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nl-NL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nl-NL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F05C7BAC-5F3D-4BE5-955F-4AF7BE616740}" type="slidenum">
              <a:rPr lang="nl-NL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nl-NL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3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nl-N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4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1426B5BD-D16C-492D-A025-180D3D1FB9C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nl-NL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3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nl-N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7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1F0291C-E764-4A39-BAA7-D9631D0DA66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nl-NL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3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nl-N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0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C2C8220F-2185-4ED9-975B-22703259512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nl-NL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4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nl-N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3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F4E278B0-784D-4A3B-9176-CBB32F858C0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nl-NL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4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nl-N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6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F879D269-A0AB-4744-BD4C-6540F8387C0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nl-NL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4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nl-N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9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F30EF86-B977-4747-BF73-D6D8EEEAF2F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nl-NL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5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nl-N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2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9DE9704-EEA3-4FF5-8B71-963002624D4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nl-NL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5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nl-N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5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5E55D5D-5772-4784-9262-1707BF209F4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nl-NL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5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nl-N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8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C72FCFC-ADDE-43E9-B34B-5DA697C9EF7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nl-NL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6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nl-N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1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41E6423-C5CC-417F-87E3-EC83B0D6A83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nl-NL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6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nl-N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4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C0D8881F-5F22-41C1-BF73-C0E8084739A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nl-NL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6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nl-N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7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ACE2D15F-7CFE-4665-8D3C-603DBAA2648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nl-NL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6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nl-N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0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4636BCF-9CF3-492E-B0CE-43009131AB3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nl-NL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7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nl-N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3" name="PlaceHolder 3"/>
          <p:cNvSpPr>
            <a:spLocks noGrp="1"/>
          </p:cNvSpPr>
          <p:nvPr>
            <p:ph type="sldNum" idx="1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5687203-5FD2-4C48-9BF7-74AF4E91A28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nl-NL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7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nl-N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6" name="PlaceHolder 3"/>
          <p:cNvSpPr>
            <a:spLocks noGrp="1"/>
          </p:cNvSpPr>
          <p:nvPr>
            <p:ph type="sldNum" idx="1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45A51F9-EAC0-4CD4-911B-9633BFA8FD8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nl-NL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7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nl-N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9" name="PlaceHolder 3"/>
          <p:cNvSpPr>
            <a:spLocks noGrp="1"/>
          </p:cNvSpPr>
          <p:nvPr>
            <p:ph type="sldNum" idx="1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A1E083F-4479-42B7-A35A-2F9E11FDD9E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nl-NL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8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nl-N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2" name="PlaceHolder 3"/>
          <p:cNvSpPr>
            <a:spLocks noGrp="1"/>
          </p:cNvSpPr>
          <p:nvPr>
            <p:ph type="sldNum" idx="2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3D0D912-85C3-480D-9604-A706AF02A82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nl-NL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8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nl-N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5" name="PlaceHolder 3"/>
          <p:cNvSpPr>
            <a:spLocks noGrp="1"/>
          </p:cNvSpPr>
          <p:nvPr>
            <p:ph type="sldNum" idx="2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7B38CEE-B901-41D3-9B17-B6842F7CFD9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&lt;nummer&gt;</a:t>
            </a:fld>
            <a:endParaRPr lang="nl-NL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nl-NL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nl-NL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Klik om de opmaak van de titeltekst te bewerken</a:t>
            </a:r>
            <a:endParaRPr lang="nl-NL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nl-NL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nl-NL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nl-NL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nl-NL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nl-NL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nl-NL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nl-NL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nl-NL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Klik om de opmaak van de overzichtstekst te bewerken</a:t>
            </a:r>
            <a:endParaRPr lang="nl-NL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nl-NL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Tweede overzichtsniveau</a:t>
            </a:r>
            <a:endParaRPr lang="nl-NL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nl-NL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Derde overzichtsniveau</a:t>
            </a:r>
            <a:endParaRPr lang="nl-NL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nl-NL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Vierde overzichtsniveau</a:t>
            </a:r>
            <a:endParaRPr lang="nl-NL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nl-NL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Vijfde overzichtsniveau</a:t>
            </a:r>
            <a:endParaRPr lang="nl-NL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nl-NL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Zesde overzichtsniveau</a:t>
            </a:r>
            <a:endParaRPr lang="nl-NL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nl-NL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Zevende overzichtsniveau</a:t>
            </a:r>
            <a:endParaRPr lang="nl-NL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9884520" y="1197720"/>
            <a:ext cx="914400" cy="731520"/>
          </a:xfrm>
          <a:prstGeom prst="line">
            <a:avLst/>
          </a:prstGeom>
          <a:ln w="12700">
            <a:solidFill>
              <a:srgbClr val="1C7293">
                <a:alpha val="6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nl-NL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" name="Shape 1"/>
          <p:cNvSpPr/>
          <p:nvPr/>
        </p:nvSpPr>
        <p:spPr>
          <a:xfrm>
            <a:off x="10744200" y="1874520"/>
            <a:ext cx="274320" cy="1280160"/>
          </a:xfrm>
          <a:prstGeom prst="line">
            <a:avLst/>
          </a:prstGeom>
          <a:ln w="12700">
            <a:solidFill>
              <a:srgbClr val="1C7293">
                <a:alpha val="6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nl-NL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" name="Shape 2"/>
          <p:cNvSpPr/>
          <p:nvPr/>
        </p:nvSpPr>
        <p:spPr>
          <a:xfrm flipH="1">
            <a:off x="9518760" y="1197720"/>
            <a:ext cx="365760" cy="1188720"/>
          </a:xfrm>
          <a:prstGeom prst="line">
            <a:avLst/>
          </a:prstGeom>
          <a:ln w="12700">
            <a:solidFill>
              <a:srgbClr val="1C7293">
                <a:alpha val="6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nl-NL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" name="Shape 3"/>
          <p:cNvSpPr/>
          <p:nvPr/>
        </p:nvSpPr>
        <p:spPr>
          <a:xfrm flipH="1">
            <a:off x="9966960" y="3200400"/>
            <a:ext cx="1097280" cy="548640"/>
          </a:xfrm>
          <a:prstGeom prst="line">
            <a:avLst/>
          </a:prstGeom>
          <a:ln w="12700">
            <a:solidFill>
              <a:srgbClr val="1C7293">
                <a:alpha val="6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nl-NL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" name="Shape 4"/>
          <p:cNvSpPr/>
          <p:nvPr/>
        </p:nvSpPr>
        <p:spPr>
          <a:xfrm>
            <a:off x="11064240" y="3200400"/>
            <a:ext cx="365760" cy="1554480"/>
          </a:xfrm>
          <a:prstGeom prst="line">
            <a:avLst/>
          </a:prstGeom>
          <a:ln w="12700">
            <a:solidFill>
              <a:srgbClr val="1C7293">
                <a:alpha val="6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nl-NL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Shape 5"/>
          <p:cNvSpPr/>
          <p:nvPr/>
        </p:nvSpPr>
        <p:spPr>
          <a:xfrm flipH="1">
            <a:off x="10853640" y="4727160"/>
            <a:ext cx="548640" cy="1188720"/>
          </a:xfrm>
          <a:prstGeom prst="line">
            <a:avLst/>
          </a:prstGeom>
          <a:ln w="12700">
            <a:solidFill>
              <a:srgbClr val="1C7293">
                <a:alpha val="6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nl-NL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Shape 6"/>
          <p:cNvSpPr/>
          <p:nvPr/>
        </p:nvSpPr>
        <p:spPr>
          <a:xfrm>
            <a:off x="9921240" y="3703320"/>
            <a:ext cx="182880" cy="1554480"/>
          </a:xfrm>
          <a:prstGeom prst="line">
            <a:avLst/>
          </a:prstGeom>
          <a:ln w="12700">
            <a:solidFill>
              <a:srgbClr val="1C7293">
                <a:alpha val="6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nl-NL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Shape 7"/>
          <p:cNvSpPr/>
          <p:nvPr/>
        </p:nvSpPr>
        <p:spPr>
          <a:xfrm>
            <a:off x="10076400" y="5230080"/>
            <a:ext cx="731520" cy="640080"/>
          </a:xfrm>
          <a:prstGeom prst="line">
            <a:avLst/>
          </a:prstGeom>
          <a:ln w="12700">
            <a:solidFill>
              <a:srgbClr val="1C7293">
                <a:alpha val="6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nl-NL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" name="Shape 8"/>
          <p:cNvSpPr/>
          <p:nvPr/>
        </p:nvSpPr>
        <p:spPr>
          <a:xfrm flipH="1">
            <a:off x="9555480" y="5897880"/>
            <a:ext cx="1280160" cy="274320"/>
          </a:xfrm>
          <a:prstGeom prst="line">
            <a:avLst/>
          </a:prstGeom>
          <a:ln w="12700">
            <a:solidFill>
              <a:srgbClr val="1C7293">
                <a:alpha val="6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nl-NL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" name="Shape 9"/>
          <p:cNvSpPr/>
          <p:nvPr/>
        </p:nvSpPr>
        <p:spPr>
          <a:xfrm>
            <a:off x="9692640" y="1005840"/>
            <a:ext cx="383760" cy="383760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1C7293"/>
          </a:solidFill>
          <a:ln w="12700">
            <a:solidFill>
              <a:srgbClr val="2129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" name="Shape 10"/>
          <p:cNvSpPr/>
          <p:nvPr/>
        </p:nvSpPr>
        <p:spPr>
          <a:xfrm>
            <a:off x="10607040" y="1737360"/>
            <a:ext cx="273960" cy="273960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065A82"/>
          </a:solidFill>
          <a:ln w="12700">
            <a:solidFill>
              <a:srgbClr val="2129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Shape 11"/>
          <p:cNvSpPr/>
          <p:nvPr/>
        </p:nvSpPr>
        <p:spPr>
          <a:xfrm>
            <a:off x="9326880" y="2194560"/>
            <a:ext cx="237240" cy="237240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065A82"/>
          </a:solidFill>
          <a:ln w="12700">
            <a:solidFill>
              <a:srgbClr val="2129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" name="Shape 12"/>
          <p:cNvSpPr/>
          <p:nvPr/>
        </p:nvSpPr>
        <p:spPr>
          <a:xfrm>
            <a:off x="10881360" y="3017520"/>
            <a:ext cx="365400" cy="365400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1C7293"/>
          </a:solidFill>
          <a:ln w="12700">
            <a:solidFill>
              <a:srgbClr val="2129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" name="Shape 13"/>
          <p:cNvSpPr/>
          <p:nvPr/>
        </p:nvSpPr>
        <p:spPr>
          <a:xfrm>
            <a:off x="9784080" y="3566160"/>
            <a:ext cx="273960" cy="273960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065A82"/>
          </a:solidFill>
          <a:ln w="12700">
            <a:solidFill>
              <a:srgbClr val="2129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" name="Shape 14"/>
          <p:cNvSpPr/>
          <p:nvPr/>
        </p:nvSpPr>
        <p:spPr>
          <a:xfrm>
            <a:off x="11247120" y="4572000"/>
            <a:ext cx="310680" cy="310680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065A82"/>
          </a:solidFill>
          <a:ln w="12700">
            <a:solidFill>
              <a:srgbClr val="2129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" name="Shape 15"/>
          <p:cNvSpPr/>
          <p:nvPr/>
        </p:nvSpPr>
        <p:spPr>
          <a:xfrm>
            <a:off x="9966960" y="5120640"/>
            <a:ext cx="219240" cy="219240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1C7293"/>
          </a:solidFill>
          <a:ln w="12700">
            <a:solidFill>
              <a:srgbClr val="2129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" name="Shape 16"/>
          <p:cNvSpPr/>
          <p:nvPr/>
        </p:nvSpPr>
        <p:spPr>
          <a:xfrm>
            <a:off x="10698480" y="5760720"/>
            <a:ext cx="273960" cy="273960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065A82"/>
          </a:solidFill>
          <a:ln w="12700">
            <a:solidFill>
              <a:srgbClr val="2129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" name="Shape 17"/>
          <p:cNvSpPr/>
          <p:nvPr/>
        </p:nvSpPr>
        <p:spPr>
          <a:xfrm>
            <a:off x="9418320" y="6035040"/>
            <a:ext cx="200880" cy="200880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065A82"/>
          </a:solidFill>
          <a:ln w="12700">
            <a:solidFill>
              <a:srgbClr val="2129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18"/>
          <p:cNvSpPr/>
          <p:nvPr/>
        </p:nvSpPr>
        <p:spPr>
          <a:xfrm>
            <a:off x="731520" y="2103120"/>
            <a:ext cx="7314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pc="201" strike="noStrike">
                <a:solidFill>
                  <a:srgbClr val="E8A33D"/>
                </a:solidFill>
                <a:effectLst/>
                <a:uFillTx/>
                <a:latin typeface="Calibri"/>
                <a:ea typeface="Calibri"/>
              </a:rPr>
              <a:t>SYSTEM DESIGN DOCUMENT</a:t>
            </a:r>
            <a:endParaRPr lang="nl-NL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" name="Text 19"/>
          <p:cNvSpPr/>
          <p:nvPr/>
        </p:nvSpPr>
        <p:spPr>
          <a:xfrm>
            <a:off x="685800" y="2468880"/>
            <a:ext cx="8046360" cy="191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5199"/>
              </a:lnSpc>
              <a:tabLst>
                <a:tab pos="0" algn="l"/>
              </a:tabLst>
            </a:pPr>
            <a:r>
              <a:rPr lang="en-US" sz="48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Functional Guide</a:t>
            </a:r>
            <a:endParaRPr lang="nl-NL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5199"/>
              </a:lnSpc>
              <a:tabLst>
                <a:tab pos="0" algn="l"/>
              </a:tabLst>
            </a:pPr>
            <a:r>
              <a:rPr lang="en-US" sz="48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Generator</a:t>
            </a:r>
            <a:endParaRPr lang="nl-NL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20"/>
          <p:cNvSpPr/>
          <p:nvPr/>
        </p:nvSpPr>
        <p:spPr>
          <a:xfrm>
            <a:off x="731520" y="4434840"/>
            <a:ext cx="694908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2001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Generating structured, meaningful, and readable functional documentation from existing knowledge sources — written for people, not for documentation agents.</a:t>
            </a:r>
            <a:endParaRPr lang="nl-NL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21"/>
          <p:cNvSpPr/>
          <p:nvPr/>
        </p:nvSpPr>
        <p:spPr>
          <a:xfrm>
            <a:off x="731520" y="6126480"/>
            <a:ext cx="5486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8FB0C4"/>
                </a:solidFill>
                <a:effectLst/>
                <a:uFillTx/>
                <a:latin typeface="Calibri"/>
                <a:ea typeface="Calibri"/>
              </a:rPr>
              <a:t>Author: F. Vreys   ·   July 2026</a:t>
            </a:r>
            <a:endParaRPr lang="nl-NL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ext 0"/>
          <p:cNvSpPr/>
          <p:nvPr/>
        </p:nvSpPr>
        <p:spPr>
          <a:xfrm>
            <a:off x="548640" y="384120"/>
            <a:ext cx="73148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01 · MOTIVATION</a:t>
            </a:r>
            <a:endParaRPr lang="nl-NL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1"/>
          <p:cNvSpPr/>
          <p:nvPr/>
        </p:nvSpPr>
        <p:spPr>
          <a:xfrm>
            <a:off x="548640" y="685800"/>
            <a:ext cx="105152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21295C"/>
                </a:solidFill>
                <a:effectLst/>
                <a:uFillTx/>
                <a:latin typeface="Cambria"/>
                <a:ea typeface="Cambria"/>
              </a:rPr>
              <a:t>The problem — and the solution</a:t>
            </a:r>
            <a:endParaRPr lang="nl-NL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Shape 2"/>
          <p:cNvSpPr/>
          <p:nvPr/>
        </p:nvSpPr>
        <p:spPr>
          <a:xfrm>
            <a:off x="548640" y="1737360"/>
            <a:ext cx="5303160" cy="4205880"/>
          </a:xfrm>
          <a:prstGeom prst="roundRect">
            <a:avLst>
              <a:gd name="adj" fmla="val 1739"/>
            </a:avLst>
          </a:prstGeom>
          <a:solidFill>
            <a:srgbClr val="EAF3F8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Shape 3"/>
          <p:cNvSpPr/>
          <p:nvPr/>
        </p:nvSpPr>
        <p:spPr>
          <a:xfrm>
            <a:off x="868680" y="2057400"/>
            <a:ext cx="456840" cy="456840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065A82"/>
          </a:solidFill>
          <a:ln w="12700">
            <a:solidFill>
              <a:srgbClr val="065A8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" name="Text 4"/>
          <p:cNvSpPr/>
          <p:nvPr/>
        </p:nvSpPr>
        <p:spPr>
          <a:xfrm>
            <a:off x="868680" y="205740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!</a:t>
            </a:r>
            <a:endParaRPr lang="nl-NL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5"/>
          <p:cNvSpPr/>
          <p:nvPr/>
        </p:nvSpPr>
        <p:spPr>
          <a:xfrm>
            <a:off x="1554480" y="2030040"/>
            <a:ext cx="41144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21295C"/>
                </a:solidFill>
                <a:effectLst/>
                <a:uFillTx/>
                <a:latin typeface="Cambria"/>
                <a:ea typeface="Cambria"/>
              </a:rPr>
              <a:t>Problem statement</a:t>
            </a:r>
            <a:endParaRPr lang="nl-NL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6"/>
          <p:cNvSpPr/>
          <p:nvPr/>
        </p:nvSpPr>
        <p:spPr>
          <a:xfrm>
            <a:off x="868680" y="2743200"/>
            <a:ext cx="4663080" cy="30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22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0C2233"/>
                </a:solidFill>
                <a:effectLst/>
                <a:uFillTx/>
                <a:latin typeface="Calibri"/>
                <a:ea typeface="Calibri"/>
              </a:rPr>
              <a:t>Writing functional documentation after the implementation of a software feature is rarely done in practice. Developers start working on next tickets, product owners focus on acceptance or the next backlog item — the acquired knowledge embedded in tickets, code, wikis, and demos never makes it into a more functional-oriented manual.</a:t>
            </a:r>
            <a:endParaRPr lang="nl-NL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Shape 7"/>
          <p:cNvSpPr/>
          <p:nvPr/>
        </p:nvSpPr>
        <p:spPr>
          <a:xfrm>
            <a:off x="6309360" y="1737360"/>
            <a:ext cx="5348880" cy="4205880"/>
          </a:xfrm>
          <a:prstGeom prst="roundRect">
            <a:avLst>
              <a:gd name="adj" fmla="val 1739"/>
            </a:avLst>
          </a:prstGeom>
          <a:solidFill>
            <a:srgbClr val="065A82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" name="Shape 8"/>
          <p:cNvSpPr/>
          <p:nvPr/>
        </p:nvSpPr>
        <p:spPr>
          <a:xfrm>
            <a:off x="6629400" y="2057400"/>
            <a:ext cx="456840" cy="456840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E8A33D"/>
          </a:solidFill>
          <a:ln w="12700">
            <a:solidFill>
              <a:srgbClr val="E8A3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Text 9"/>
          <p:cNvSpPr/>
          <p:nvPr/>
        </p:nvSpPr>
        <p:spPr>
          <a:xfrm>
            <a:off x="6629400" y="205740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21295C"/>
                </a:solidFill>
                <a:effectLst/>
                <a:uFillTx/>
                <a:latin typeface="Cambria"/>
                <a:ea typeface="Cambria"/>
              </a:rPr>
              <a:t>✓</a:t>
            </a:r>
            <a:endParaRPr lang="nl-NL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10"/>
          <p:cNvSpPr/>
          <p:nvPr/>
        </p:nvSpPr>
        <p:spPr>
          <a:xfrm>
            <a:off x="7315200" y="2030040"/>
            <a:ext cx="41144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Solution</a:t>
            </a:r>
            <a:endParaRPr lang="nl-NL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Text 11"/>
          <p:cNvSpPr/>
          <p:nvPr/>
        </p:nvSpPr>
        <p:spPr>
          <a:xfrm>
            <a:off x="6629400" y="2743200"/>
            <a:ext cx="4754520" cy="30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22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EAF3F8"/>
                </a:solidFill>
                <a:effectLst/>
                <a:uFillTx/>
                <a:latin typeface="Calibri"/>
                <a:ea typeface="Calibri"/>
              </a:rPr>
              <a:t>The Functional Guide Generator aims to generate structured, meaningful, and readable functional documentation based on available information sources, written for persons (not for documentation agents).</a:t>
            </a:r>
            <a:endParaRPr lang="nl-NL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12"/>
          <p:cNvSpPr/>
          <p:nvPr/>
        </p:nvSpPr>
        <p:spPr>
          <a:xfrm>
            <a:off x="548640" y="640080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5B6B75"/>
                </a:solidFill>
                <a:effectLst/>
                <a:uFillTx/>
                <a:latin typeface="Calibri"/>
                <a:ea typeface="Calibri"/>
              </a:rPr>
              <a:t>Functional Guide Generator · System Design</a:t>
            </a:r>
            <a:endParaRPr lang="nl-NL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 12b"/>
          <p:cNvSpPr/>
          <p:nvPr/>
        </p:nvSpPr>
        <p:spPr>
          <a:xfrm>
            <a:off x="6096000" y="6400800"/>
            <a:ext cx="48006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5B6B75"/>
                </a:solidFill>
                <a:effectLst/>
                <a:uFillTx/>
                <a:latin typeface="Calibri"/>
                <a:ea typeface="Calibri"/>
              </a:rPr>
              <a:t>CC BY 4.0 — creativecommons.org/licenses/by/4.0</a:t>
            </a:r>
            <a:endParaRPr lang="nl-NL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13"/>
          <p:cNvSpPr/>
          <p:nvPr/>
        </p:nvSpPr>
        <p:spPr>
          <a:xfrm>
            <a:off x="11003040" y="6400800"/>
            <a:ext cx="914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5B6B75"/>
                </a:solidFill>
                <a:effectLst/>
                <a:uFillTx/>
                <a:latin typeface="Calibri"/>
                <a:ea typeface="Calibri"/>
              </a:rPr>
              <a:t>02 / 18</a:t>
            </a:r>
            <a:endParaRPr lang="nl-NL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ext 0"/>
          <p:cNvSpPr/>
          <p:nvPr/>
        </p:nvSpPr>
        <p:spPr>
          <a:xfrm>
            <a:off x="548640" y="384120"/>
            <a:ext cx="73148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01 · MOTIVATION</a:t>
            </a:r>
            <a:endParaRPr lang="nl-NL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1"/>
          <p:cNvSpPr/>
          <p:nvPr/>
        </p:nvSpPr>
        <p:spPr>
          <a:xfrm>
            <a:off x="548640" y="685800"/>
            <a:ext cx="105152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21295C"/>
                </a:solidFill>
                <a:effectLst/>
                <a:uFillTx/>
                <a:latin typeface="Cambria"/>
                <a:ea typeface="Cambria"/>
              </a:rPr>
              <a:t>Restrictions &amp; prerequisite</a:t>
            </a:r>
            <a:endParaRPr lang="nl-NL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Shape 2"/>
          <p:cNvSpPr/>
          <p:nvPr/>
        </p:nvSpPr>
        <p:spPr>
          <a:xfrm>
            <a:off x="548640" y="1783080"/>
            <a:ext cx="2605680" cy="1965600"/>
          </a:xfrm>
          <a:prstGeom prst="roundRect">
            <a:avLst>
              <a:gd name="adj" fmla="val 3256"/>
            </a:avLst>
          </a:prstGeom>
          <a:solidFill>
            <a:srgbClr val="EAF3F8"/>
          </a:solidFill>
          <a:ln w="12700">
            <a:solidFill>
              <a:srgbClr val="DCEAF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Text 3"/>
          <p:cNvSpPr/>
          <p:nvPr/>
        </p:nvSpPr>
        <p:spPr>
          <a:xfrm>
            <a:off x="713160" y="1920240"/>
            <a:ext cx="914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C7293"/>
                </a:solidFill>
                <a:effectLst/>
                <a:uFillTx/>
                <a:latin typeface="Cambria"/>
                <a:ea typeface="Cambria"/>
              </a:rPr>
              <a:t>01</a:t>
            </a:r>
            <a:endParaRPr lang="nl-NL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Text 4"/>
          <p:cNvSpPr/>
          <p:nvPr/>
        </p:nvSpPr>
        <p:spPr>
          <a:xfrm>
            <a:off x="713160" y="2331720"/>
            <a:ext cx="22766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1" u="none" strike="noStrike">
                <a:solidFill>
                  <a:srgbClr val="21295C"/>
                </a:solidFill>
                <a:effectLst/>
                <a:uFillTx/>
                <a:latin typeface="Cambria"/>
                <a:ea typeface="Cambria"/>
              </a:rPr>
              <a:t>No new information</a:t>
            </a:r>
            <a:endParaRPr lang="nl-NL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Text 5"/>
          <p:cNvSpPr/>
          <p:nvPr/>
        </p:nvSpPr>
        <p:spPr>
          <a:xfrm>
            <a:off x="713160" y="2834640"/>
            <a:ext cx="22766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5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C2233"/>
                </a:solidFill>
                <a:effectLst/>
                <a:uFillTx/>
                <a:latin typeface="Calibri"/>
                <a:ea typeface="Calibri"/>
              </a:rPr>
              <a:t>The system assembles and rephrases what is already known and documented; no new information is created.</a:t>
            </a:r>
            <a:endParaRPr lang="nl-NL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Shape 6"/>
          <p:cNvSpPr/>
          <p:nvPr/>
        </p:nvSpPr>
        <p:spPr>
          <a:xfrm>
            <a:off x="3383280" y="1783080"/>
            <a:ext cx="2605680" cy="1965600"/>
          </a:xfrm>
          <a:prstGeom prst="roundRect">
            <a:avLst>
              <a:gd name="adj" fmla="val 3256"/>
            </a:avLst>
          </a:prstGeom>
          <a:solidFill>
            <a:srgbClr val="EAF3F8"/>
          </a:solidFill>
          <a:ln w="12700">
            <a:solidFill>
              <a:srgbClr val="DCEAF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7"/>
          <p:cNvSpPr/>
          <p:nvPr/>
        </p:nvSpPr>
        <p:spPr>
          <a:xfrm>
            <a:off x="3547800" y="1920240"/>
            <a:ext cx="914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C7293"/>
                </a:solidFill>
                <a:effectLst/>
                <a:uFillTx/>
                <a:latin typeface="Cambria"/>
                <a:ea typeface="Cambria"/>
              </a:rPr>
              <a:t>02</a:t>
            </a:r>
            <a:endParaRPr lang="nl-NL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Text 8"/>
          <p:cNvSpPr/>
          <p:nvPr/>
        </p:nvSpPr>
        <p:spPr>
          <a:xfrm>
            <a:off x="3547800" y="2331720"/>
            <a:ext cx="22766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1" u="none" strike="noStrike">
                <a:solidFill>
                  <a:srgbClr val="21295C"/>
                </a:solidFill>
                <a:effectLst/>
                <a:uFillTx/>
                <a:latin typeface="Cambria"/>
                <a:ea typeface="Cambria"/>
              </a:rPr>
              <a:t>No real-time sync</a:t>
            </a:r>
            <a:endParaRPr lang="nl-NL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Text 9"/>
          <p:cNvSpPr/>
          <p:nvPr/>
        </p:nvSpPr>
        <p:spPr>
          <a:xfrm>
            <a:off x="3547800" y="2834640"/>
            <a:ext cx="22766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5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C2233"/>
                </a:solidFill>
                <a:effectLst/>
                <a:uFillTx/>
                <a:latin typeface="Calibri"/>
                <a:ea typeface="Calibri"/>
              </a:rPr>
              <a:t>Information will not be updated in real time, nor do we have automated interfaces for input.</a:t>
            </a:r>
            <a:endParaRPr lang="nl-NL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Shape 10"/>
          <p:cNvSpPr/>
          <p:nvPr/>
        </p:nvSpPr>
        <p:spPr>
          <a:xfrm>
            <a:off x="6217920" y="1783080"/>
            <a:ext cx="2605680" cy="1965600"/>
          </a:xfrm>
          <a:prstGeom prst="roundRect">
            <a:avLst>
              <a:gd name="adj" fmla="val 3256"/>
            </a:avLst>
          </a:prstGeom>
          <a:solidFill>
            <a:srgbClr val="EAF3F8"/>
          </a:solidFill>
          <a:ln w="12700">
            <a:solidFill>
              <a:srgbClr val="DCEAF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11"/>
          <p:cNvSpPr/>
          <p:nvPr/>
        </p:nvSpPr>
        <p:spPr>
          <a:xfrm>
            <a:off x="6382440" y="1920240"/>
            <a:ext cx="914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C7293"/>
                </a:solidFill>
                <a:effectLst/>
                <a:uFillTx/>
                <a:latin typeface="Cambria"/>
                <a:ea typeface="Cambria"/>
              </a:rPr>
              <a:t>03</a:t>
            </a:r>
            <a:endParaRPr lang="nl-NL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Text 12"/>
          <p:cNvSpPr/>
          <p:nvPr/>
        </p:nvSpPr>
        <p:spPr>
          <a:xfrm>
            <a:off x="6382440" y="2331720"/>
            <a:ext cx="22766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1" u="none" strike="noStrike">
                <a:solidFill>
                  <a:srgbClr val="21295C"/>
                </a:solidFill>
                <a:effectLst/>
                <a:uFillTx/>
                <a:latin typeface="Cambria"/>
                <a:ea typeface="Cambria"/>
              </a:rPr>
              <a:t>English only</a:t>
            </a:r>
            <a:endParaRPr lang="nl-NL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13"/>
          <p:cNvSpPr/>
          <p:nvPr/>
        </p:nvSpPr>
        <p:spPr>
          <a:xfrm>
            <a:off x="6382440" y="2834640"/>
            <a:ext cx="22766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5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C2233"/>
                </a:solidFill>
                <a:effectLst/>
                <a:uFillTx/>
                <a:latin typeface="Calibri"/>
                <a:ea typeface="Calibri"/>
              </a:rPr>
              <a:t>Documentation is only in English.</a:t>
            </a:r>
            <a:endParaRPr lang="nl-NL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Shape 14"/>
          <p:cNvSpPr/>
          <p:nvPr/>
        </p:nvSpPr>
        <p:spPr>
          <a:xfrm>
            <a:off x="9052560" y="1783080"/>
            <a:ext cx="2605680" cy="1965600"/>
          </a:xfrm>
          <a:prstGeom prst="roundRect">
            <a:avLst>
              <a:gd name="adj" fmla="val 3256"/>
            </a:avLst>
          </a:prstGeom>
          <a:solidFill>
            <a:srgbClr val="EAF3F8"/>
          </a:solidFill>
          <a:ln w="12700">
            <a:solidFill>
              <a:srgbClr val="DCEAF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15"/>
          <p:cNvSpPr/>
          <p:nvPr/>
        </p:nvSpPr>
        <p:spPr>
          <a:xfrm>
            <a:off x="9217080" y="1920240"/>
            <a:ext cx="914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C7293"/>
                </a:solidFill>
                <a:effectLst/>
                <a:uFillTx/>
                <a:latin typeface="Cambria"/>
                <a:ea typeface="Cambria"/>
              </a:rPr>
              <a:t>04</a:t>
            </a:r>
            <a:endParaRPr lang="nl-NL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16"/>
          <p:cNvSpPr/>
          <p:nvPr/>
        </p:nvSpPr>
        <p:spPr>
          <a:xfrm>
            <a:off x="9217080" y="2331720"/>
            <a:ext cx="22766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1" u="none" strike="noStrike">
                <a:solidFill>
                  <a:srgbClr val="21295C"/>
                </a:solidFill>
                <a:effectLst/>
                <a:uFillTx/>
                <a:latin typeface="Cambria"/>
                <a:ea typeface="Cambria"/>
              </a:rPr>
              <a:t>Functional scope only</a:t>
            </a:r>
            <a:endParaRPr lang="nl-NL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17"/>
          <p:cNvSpPr/>
          <p:nvPr/>
        </p:nvSpPr>
        <p:spPr>
          <a:xfrm>
            <a:off x="9217080" y="2834640"/>
            <a:ext cx="22766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5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C2233"/>
                </a:solidFill>
                <a:effectLst/>
                <a:uFillTx/>
                <a:latin typeface="Calibri"/>
                <a:ea typeface="Calibri"/>
              </a:rPr>
              <a:t>We exclude creation of technical documentation.</a:t>
            </a:r>
            <a:endParaRPr lang="nl-NL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Shape 18"/>
          <p:cNvSpPr/>
          <p:nvPr/>
        </p:nvSpPr>
        <p:spPr>
          <a:xfrm>
            <a:off x="548640" y="4023360"/>
            <a:ext cx="11063880" cy="1416960"/>
          </a:xfrm>
          <a:prstGeom prst="roundRect">
            <a:avLst>
              <a:gd name="adj" fmla="val 5161"/>
            </a:avLst>
          </a:prstGeom>
          <a:solidFill>
            <a:srgbClr val="21295C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" name="Text 19"/>
          <p:cNvSpPr/>
          <p:nvPr/>
        </p:nvSpPr>
        <p:spPr>
          <a:xfrm>
            <a:off x="914400" y="4224600"/>
            <a:ext cx="5486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150" strike="noStrike">
                <a:solidFill>
                  <a:srgbClr val="E8A33D"/>
                </a:solidFill>
                <a:effectLst/>
                <a:uFillTx/>
                <a:latin typeface="Calibri"/>
                <a:ea typeface="Calibri"/>
              </a:rPr>
              <a:t>PREREQUISITE FOR IMPLEMENTATION</a:t>
            </a:r>
            <a:endParaRPr lang="nl-NL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 20"/>
          <p:cNvSpPr/>
          <p:nvPr/>
        </p:nvSpPr>
        <p:spPr>
          <a:xfrm>
            <a:off x="914400" y="4572000"/>
            <a:ext cx="1033236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2001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Minimal one of the input data streams should contain enough quality information to avoid creating a 'garbage in, garbage out' solution.</a:t>
            </a:r>
            <a:endParaRPr lang="nl-NL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21"/>
          <p:cNvSpPr/>
          <p:nvPr/>
        </p:nvSpPr>
        <p:spPr>
          <a:xfrm>
            <a:off x="548640" y="5623560"/>
            <a:ext cx="73148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i="1" u="none" strike="noStrike">
                <a:solidFill>
                  <a:srgbClr val="5B6B75"/>
                </a:solidFill>
                <a:effectLst/>
                <a:uFillTx/>
                <a:latin typeface="Calibri"/>
                <a:ea typeface="Calibri"/>
              </a:rPr>
              <a:t>These restrictions may be lifted in future iterations.</a:t>
            </a:r>
            <a:endParaRPr lang="nl-NL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22"/>
          <p:cNvSpPr/>
          <p:nvPr/>
        </p:nvSpPr>
        <p:spPr>
          <a:xfrm>
            <a:off x="548640" y="640080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5B6B75"/>
                </a:solidFill>
                <a:effectLst/>
                <a:uFillTx/>
                <a:latin typeface="Calibri"/>
                <a:ea typeface="Calibri"/>
              </a:rPr>
              <a:t>Functional Guide Generator · System Design</a:t>
            </a:r>
            <a:endParaRPr lang="nl-NL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 23"/>
          <p:cNvSpPr/>
          <p:nvPr/>
        </p:nvSpPr>
        <p:spPr>
          <a:xfrm>
            <a:off x="11003040" y="6400800"/>
            <a:ext cx="914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5B6B75"/>
                </a:solidFill>
                <a:effectLst/>
                <a:uFillTx/>
                <a:latin typeface="Calibri"/>
                <a:ea typeface="Calibri"/>
              </a:rPr>
              <a:t>03 / 18</a:t>
            </a:r>
            <a:endParaRPr lang="nl-NL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Text 0"/>
          <p:cNvSpPr/>
          <p:nvPr/>
        </p:nvSpPr>
        <p:spPr>
          <a:xfrm>
            <a:off x="548640" y="384120"/>
            <a:ext cx="73148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02 · SYSTEM COMPONENTS</a:t>
            </a:r>
            <a:endParaRPr lang="nl-NL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1"/>
          <p:cNvSpPr/>
          <p:nvPr/>
        </p:nvSpPr>
        <p:spPr>
          <a:xfrm>
            <a:off x="548640" y="685800"/>
            <a:ext cx="105152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21295C"/>
                </a:solidFill>
                <a:effectLst/>
                <a:uFillTx/>
                <a:latin typeface="Cambria"/>
                <a:ea typeface="Cambria"/>
              </a:rPr>
              <a:t>Three logical layers</a:t>
            </a:r>
            <a:endParaRPr lang="nl-NL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 2"/>
          <p:cNvSpPr/>
          <p:nvPr/>
        </p:nvSpPr>
        <p:spPr>
          <a:xfrm>
            <a:off x="548640" y="1481400"/>
            <a:ext cx="9143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5B6B75"/>
                </a:solidFill>
                <a:effectLst/>
                <a:uFillTx/>
                <a:latin typeface="Calibri"/>
                <a:ea typeface="Calibri"/>
              </a:rPr>
              <a:t>The system is composed of the following possible logical components, grouped into three layers.</a:t>
            </a:r>
            <a:endParaRPr lang="nl-NL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Shape 3"/>
          <p:cNvSpPr/>
          <p:nvPr/>
        </p:nvSpPr>
        <p:spPr>
          <a:xfrm>
            <a:off x="548640" y="2148840"/>
            <a:ext cx="3520080" cy="3565800"/>
          </a:xfrm>
          <a:prstGeom prst="roundRect">
            <a:avLst>
              <a:gd name="adj" fmla="val 2338"/>
            </a:avLst>
          </a:prstGeom>
          <a:solidFill>
            <a:srgbClr val="065A82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" name="Shape 4"/>
          <p:cNvSpPr/>
          <p:nvPr/>
        </p:nvSpPr>
        <p:spPr>
          <a:xfrm>
            <a:off x="868680" y="2468880"/>
            <a:ext cx="594000" cy="594000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FFFFFF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5"/>
          <p:cNvSpPr/>
          <p:nvPr/>
        </p:nvSpPr>
        <p:spPr>
          <a:xfrm>
            <a:off x="868680" y="2468880"/>
            <a:ext cx="59400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065A82"/>
                </a:solidFill>
                <a:effectLst/>
                <a:uFillTx/>
                <a:latin typeface="Cambria"/>
                <a:ea typeface="Cambria"/>
              </a:rPr>
              <a:t>01</a:t>
            </a:r>
            <a:endParaRPr lang="nl-NL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 6"/>
          <p:cNvSpPr/>
          <p:nvPr/>
        </p:nvSpPr>
        <p:spPr>
          <a:xfrm>
            <a:off x="868680" y="3291840"/>
            <a:ext cx="288000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22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Ingest &amp; preprocess</a:t>
            </a:r>
            <a:endParaRPr lang="nl-NL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7"/>
          <p:cNvSpPr/>
          <p:nvPr/>
        </p:nvSpPr>
        <p:spPr>
          <a:xfrm>
            <a:off x="868680" y="4297680"/>
            <a:ext cx="288000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8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EAF3F8"/>
                </a:solidFill>
                <a:effectLst/>
                <a:uFillTx/>
                <a:latin typeface="Calibri"/>
                <a:ea typeface="Calibri"/>
              </a:rPr>
              <a:t>Input ingestion, preprocessing, embed</a:t>
            </a:r>
            <a:endParaRPr lang="nl-NL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8"/>
          <p:cNvSpPr/>
          <p:nvPr/>
        </p:nvSpPr>
        <p:spPr>
          <a:xfrm>
            <a:off x="4087440" y="3657600"/>
            <a:ext cx="237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5B6B75"/>
                </a:solidFill>
                <a:effectLst/>
                <a:uFillTx/>
                <a:latin typeface="Cambria"/>
                <a:ea typeface="Cambria"/>
              </a:rPr>
              <a:t>→</a:t>
            </a:r>
            <a:endParaRPr lang="nl-NL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Shape 9"/>
          <p:cNvSpPr/>
          <p:nvPr/>
        </p:nvSpPr>
        <p:spPr>
          <a:xfrm>
            <a:off x="4343400" y="2148840"/>
            <a:ext cx="3520080" cy="3565800"/>
          </a:xfrm>
          <a:prstGeom prst="roundRect">
            <a:avLst>
              <a:gd name="adj" fmla="val 2338"/>
            </a:avLst>
          </a:prstGeom>
          <a:solidFill>
            <a:srgbClr val="1C7293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" name="Shape 10"/>
          <p:cNvSpPr/>
          <p:nvPr/>
        </p:nvSpPr>
        <p:spPr>
          <a:xfrm>
            <a:off x="4663440" y="2468880"/>
            <a:ext cx="594000" cy="594000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FFFFFF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11"/>
          <p:cNvSpPr/>
          <p:nvPr/>
        </p:nvSpPr>
        <p:spPr>
          <a:xfrm>
            <a:off x="4663440" y="2468880"/>
            <a:ext cx="59400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C7293"/>
                </a:solidFill>
                <a:effectLst/>
                <a:uFillTx/>
                <a:latin typeface="Cambria"/>
                <a:ea typeface="Cambria"/>
              </a:rPr>
              <a:t>02</a:t>
            </a:r>
            <a:endParaRPr lang="nl-NL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12"/>
          <p:cNvSpPr/>
          <p:nvPr/>
        </p:nvSpPr>
        <p:spPr>
          <a:xfrm>
            <a:off x="4663440" y="3291840"/>
            <a:ext cx="288000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22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Retrieve &amp; generate</a:t>
            </a:r>
            <a:endParaRPr lang="nl-NL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13"/>
          <p:cNvSpPr/>
          <p:nvPr/>
        </p:nvSpPr>
        <p:spPr>
          <a:xfrm>
            <a:off x="4663440" y="4297680"/>
            <a:ext cx="288000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8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EAF3F8"/>
                </a:solidFill>
                <a:effectLst/>
                <a:uFillTx/>
                <a:latin typeface="Calibri"/>
                <a:ea typeface="Calibri"/>
              </a:rPr>
              <a:t>Data store, prompt engine, LLM</a:t>
            </a:r>
            <a:endParaRPr lang="nl-NL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 14"/>
          <p:cNvSpPr/>
          <p:nvPr/>
        </p:nvSpPr>
        <p:spPr>
          <a:xfrm>
            <a:off x="7882200" y="3657600"/>
            <a:ext cx="237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5B6B75"/>
                </a:solidFill>
                <a:effectLst/>
                <a:uFillTx/>
                <a:latin typeface="Cambria"/>
                <a:ea typeface="Cambria"/>
              </a:rPr>
              <a:t>→</a:t>
            </a:r>
            <a:endParaRPr lang="nl-NL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Shape 15"/>
          <p:cNvSpPr/>
          <p:nvPr/>
        </p:nvSpPr>
        <p:spPr>
          <a:xfrm>
            <a:off x="8138160" y="2148840"/>
            <a:ext cx="3520080" cy="3565800"/>
          </a:xfrm>
          <a:prstGeom prst="roundRect">
            <a:avLst>
              <a:gd name="adj" fmla="val 2338"/>
            </a:avLst>
          </a:prstGeom>
          <a:solidFill>
            <a:srgbClr val="21295C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lang="nl-NL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endParaRPr lang="nl-NL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" name="Shape 16"/>
          <p:cNvSpPr/>
          <p:nvPr/>
        </p:nvSpPr>
        <p:spPr>
          <a:xfrm>
            <a:off x="8458200" y="2468880"/>
            <a:ext cx="594000" cy="594000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FFFFFF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17"/>
          <p:cNvSpPr/>
          <p:nvPr/>
        </p:nvSpPr>
        <p:spPr>
          <a:xfrm>
            <a:off x="8458200" y="2468880"/>
            <a:ext cx="59400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21295C"/>
                </a:solidFill>
                <a:effectLst/>
                <a:uFillTx/>
                <a:latin typeface="Cambria"/>
                <a:ea typeface="Cambria"/>
              </a:rPr>
              <a:t>03</a:t>
            </a:r>
            <a:endParaRPr lang="nl-NL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18"/>
          <p:cNvSpPr/>
          <p:nvPr/>
        </p:nvSpPr>
        <p:spPr>
          <a:xfrm>
            <a:off x="8458200" y="3291840"/>
            <a:ext cx="288000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22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Evaluate &amp; serve</a:t>
            </a:r>
            <a:endParaRPr lang="nl-NL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 19"/>
          <p:cNvSpPr/>
          <p:nvPr/>
        </p:nvSpPr>
        <p:spPr>
          <a:xfrm>
            <a:off x="8458200" y="4297680"/>
            <a:ext cx="288000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8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EAF3F8"/>
                </a:solidFill>
                <a:effectLst/>
                <a:uFillTx/>
                <a:latin typeface="Calibri"/>
                <a:ea typeface="Calibri"/>
              </a:rPr>
              <a:t>Evaluation model, API layer, UI</a:t>
            </a:r>
            <a:endParaRPr lang="nl-NL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 20"/>
          <p:cNvSpPr/>
          <p:nvPr/>
        </p:nvSpPr>
        <p:spPr>
          <a:xfrm>
            <a:off x="548640" y="640080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5B6B75"/>
                </a:solidFill>
                <a:effectLst/>
                <a:uFillTx/>
                <a:latin typeface="Calibri"/>
                <a:ea typeface="Calibri"/>
              </a:rPr>
              <a:t>Functional Guide Generator · System Design</a:t>
            </a:r>
            <a:endParaRPr lang="nl-NL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21"/>
          <p:cNvSpPr/>
          <p:nvPr/>
        </p:nvSpPr>
        <p:spPr>
          <a:xfrm>
            <a:off x="11003040" y="6400800"/>
            <a:ext cx="914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5B6B75"/>
                </a:solidFill>
                <a:effectLst/>
                <a:uFillTx/>
                <a:latin typeface="Calibri"/>
                <a:ea typeface="Calibri"/>
              </a:rPr>
              <a:t>04 / 18</a:t>
            </a:r>
            <a:endParaRPr lang="nl-NL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Text 0"/>
          <p:cNvSpPr/>
          <p:nvPr/>
        </p:nvSpPr>
        <p:spPr>
          <a:xfrm>
            <a:off x="548640" y="384120"/>
            <a:ext cx="73148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02 · SYSTEM COMPONENTS</a:t>
            </a:r>
            <a:endParaRPr lang="nl-NL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1"/>
          <p:cNvSpPr/>
          <p:nvPr/>
        </p:nvSpPr>
        <p:spPr>
          <a:xfrm>
            <a:off x="548640" y="685800"/>
            <a:ext cx="105152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21295C"/>
                </a:solidFill>
                <a:effectLst/>
                <a:uFillTx/>
                <a:latin typeface="Cambria"/>
                <a:ea typeface="Cambria"/>
              </a:rPr>
              <a:t>Component details</a:t>
            </a:r>
            <a:endParaRPr lang="nl-NL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Shape 2"/>
          <p:cNvSpPr/>
          <p:nvPr/>
        </p:nvSpPr>
        <p:spPr>
          <a:xfrm>
            <a:off x="548640" y="1691640"/>
            <a:ext cx="11063880" cy="456840"/>
          </a:xfrm>
          <a:prstGeom prst="rect">
            <a:avLst/>
          </a:prstGeom>
          <a:solidFill>
            <a:srgbClr val="21295C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3"/>
          <p:cNvSpPr/>
          <p:nvPr/>
        </p:nvSpPr>
        <p:spPr>
          <a:xfrm>
            <a:off x="658440" y="1691640"/>
            <a:ext cx="17000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Component</a:t>
            </a:r>
            <a:endParaRPr lang="nl-NL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00" name="Text TypeHdr"/>
          <p:cNvSpPr/>
          <p:nvPr/>
        </p:nvSpPr>
        <p:spPr>
          <a:xfrm>
            <a:off x="2560040" y="1691640"/>
            <a:ext cx="15000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Type</a:t>
            </a:r>
            <a:endParaRPr lang="nl-NL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 4"/>
          <p:cNvSpPr/>
          <p:nvPr/>
        </p:nvSpPr>
        <p:spPr>
          <a:xfrm>
            <a:off x="4261640" y="1691640"/>
            <a:ext cx="39000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Role</a:t>
            </a:r>
            <a:endParaRPr lang="nl-NL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5"/>
          <p:cNvSpPr/>
          <p:nvPr/>
        </p:nvSpPr>
        <p:spPr>
          <a:xfrm>
            <a:off x="8363240" y="1691640"/>
            <a:ext cx="3157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Technology / Service</a:t>
            </a:r>
            <a:endParaRPr lang="nl-NL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Shape 6"/>
          <p:cNvSpPr/>
          <p:nvPr/>
        </p:nvSpPr>
        <p:spPr>
          <a:xfrm>
            <a:off x="548640" y="2148840"/>
            <a:ext cx="11063880" cy="566640"/>
          </a:xfrm>
          <a:prstGeom prst="rect">
            <a:avLst/>
          </a:prstGeom>
          <a:solidFill>
            <a:srgbClr val="FFFFFF"/>
          </a:solidFill>
          <a:ln w="9525">
            <a:solidFill>
              <a:srgbClr val="DCEAF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7"/>
          <p:cNvSpPr/>
          <p:nvPr/>
        </p:nvSpPr>
        <p:spPr>
          <a:xfrm>
            <a:off x="658440" y="2148840"/>
            <a:ext cx="170000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25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0C2233"/>
                </a:solidFill>
                <a:effectLst/>
                <a:uFillTx/>
                <a:latin typeface="Calibri"/>
                <a:ea typeface="Calibri"/>
              </a:rPr>
              <a:t>Input Ingestion</a:t>
            </a:r>
            <a:endParaRPr lang="nl-NL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00" name="Text TypeRow"/>
          <p:cNvSpPr/>
          <p:nvPr/>
        </p:nvSpPr>
        <p:spPr>
          <a:xfrm>
            <a:off x="2560040" y="2148840"/>
            <a:ext cx="150000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25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C2233"/>
                </a:solidFill>
                <a:effectLst/>
                <a:uFillTx/>
                <a:latin typeface="Calibri"/>
                <a:ea typeface="Calibri"/>
              </a:rPr>
              <a:t>Connector layer</a:t>
            </a:r>
            <a:endParaRPr lang="nl-NL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8"/>
          <p:cNvSpPr/>
          <p:nvPr/>
        </p:nvSpPr>
        <p:spPr>
          <a:xfrm>
            <a:off x="4261640" y="2148840"/>
            <a:ext cx="390000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25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C2233"/>
                </a:solidFill>
                <a:effectLst/>
                <a:uFillTx/>
                <a:latin typeface="Calibri"/>
                <a:ea typeface="Calibri"/>
              </a:rPr>
              <a:t>Fetches raw artifacts from source systems (wiki, screenshots, board, code repo, ..)</a:t>
            </a:r>
            <a:endParaRPr lang="nl-NL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9"/>
          <p:cNvSpPr/>
          <p:nvPr/>
        </p:nvSpPr>
        <p:spPr>
          <a:xfrm>
            <a:off x="8363240" y="2148840"/>
            <a:ext cx="31578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25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C2233"/>
                </a:solidFill>
                <a:effectLst/>
                <a:uFillTx/>
                <a:latin typeface="Calibri"/>
                <a:ea typeface="Calibri"/>
              </a:rPr>
              <a:t>1) import CSV data file 2) REST / GitHub / Confluence API, screen capture library</a:t>
            </a:r>
            <a:endParaRPr lang="nl-NL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Shape 10"/>
          <p:cNvSpPr/>
          <p:nvPr/>
        </p:nvSpPr>
        <p:spPr>
          <a:xfrm>
            <a:off x="548640" y="2715840"/>
            <a:ext cx="11063880" cy="566640"/>
          </a:xfrm>
          <a:prstGeom prst="rect">
            <a:avLst/>
          </a:prstGeom>
          <a:solidFill>
            <a:srgbClr val="EAF3F8"/>
          </a:solidFill>
          <a:ln w="9525">
            <a:solidFill>
              <a:srgbClr val="DCEAF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 11"/>
          <p:cNvSpPr/>
          <p:nvPr/>
        </p:nvSpPr>
        <p:spPr>
          <a:xfrm>
            <a:off x="658440" y="2715840"/>
            <a:ext cx="170000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25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0C2233"/>
                </a:solidFill>
                <a:effectLst/>
                <a:uFillTx/>
                <a:latin typeface="Calibri"/>
                <a:ea typeface="Calibri"/>
              </a:rPr>
              <a:t>Preprocessing</a:t>
            </a:r>
            <a:endParaRPr lang="nl-NL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01" name="Text TypeRow"/>
          <p:cNvSpPr/>
          <p:nvPr/>
        </p:nvSpPr>
        <p:spPr>
          <a:xfrm>
            <a:off x="2560040" y="2715840"/>
            <a:ext cx="150000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25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C2233"/>
                </a:solidFill>
                <a:effectLst/>
                <a:uFillTx/>
                <a:latin typeface="Calibri"/>
                <a:ea typeface="Calibri"/>
              </a:rPr>
              <a:t>Data pipeline</a:t>
            </a:r>
            <a:endParaRPr lang="nl-NL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 12"/>
          <p:cNvSpPr/>
          <p:nvPr/>
        </p:nvSpPr>
        <p:spPr>
          <a:xfrm>
            <a:off x="4261640" y="2715840"/>
            <a:ext cx="390000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25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C2233"/>
                </a:solidFill>
                <a:effectLst/>
                <a:uFillTx/>
                <a:latin typeface="Calibri"/>
                <a:ea typeface="Calibri"/>
              </a:rPr>
              <a:t>Cleans, chunks, and normalises text and images before indexing</a:t>
            </a:r>
            <a:endParaRPr lang="nl-NL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13"/>
          <p:cNvSpPr/>
          <p:nvPr/>
        </p:nvSpPr>
        <p:spPr>
          <a:xfrm>
            <a:off x="8363240" y="2715840"/>
            <a:ext cx="31578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25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C2233"/>
                </a:solidFill>
                <a:effectLst/>
                <a:uFillTx/>
                <a:latin typeface="Calibri"/>
                <a:ea typeface="Calibri"/>
              </a:rPr>
              <a:t>LangChain text splitters; SQL queries</a:t>
            </a:r>
            <a:endParaRPr lang="nl-NL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Shape 14"/>
          <p:cNvSpPr/>
          <p:nvPr/>
        </p:nvSpPr>
        <p:spPr>
          <a:xfrm>
            <a:off x="548640" y="3282840"/>
            <a:ext cx="11063880" cy="566640"/>
          </a:xfrm>
          <a:prstGeom prst="rect">
            <a:avLst/>
          </a:prstGeom>
          <a:solidFill>
            <a:srgbClr val="FFFFFF"/>
          </a:solidFill>
          <a:ln w="9525">
            <a:solidFill>
              <a:srgbClr val="DCEAF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15"/>
          <p:cNvSpPr/>
          <p:nvPr/>
        </p:nvSpPr>
        <p:spPr>
          <a:xfrm>
            <a:off x="658440" y="3282840"/>
            <a:ext cx="170000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25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0C2233"/>
                </a:solidFill>
                <a:effectLst/>
                <a:uFillTx/>
                <a:latin typeface="Calibri"/>
                <a:ea typeface="Calibri"/>
              </a:rPr>
              <a:t>Embedding Model</a:t>
            </a:r>
            <a:endParaRPr lang="nl-NL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02" name="Text TypeRow"/>
          <p:cNvSpPr/>
          <p:nvPr/>
        </p:nvSpPr>
        <p:spPr>
          <a:xfrm>
            <a:off x="2560040" y="3282840"/>
            <a:ext cx="150000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25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C2233"/>
                </a:solidFill>
                <a:effectLst/>
                <a:uFillTx/>
                <a:latin typeface="Calibri"/>
                <a:ea typeface="Calibri"/>
              </a:rPr>
              <a:t>ML model</a:t>
            </a:r>
            <a:endParaRPr lang="nl-NL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 16"/>
          <p:cNvSpPr/>
          <p:nvPr/>
        </p:nvSpPr>
        <p:spPr>
          <a:xfrm>
            <a:off x="4261640" y="3282840"/>
            <a:ext cx="390000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25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C2233"/>
                </a:solidFill>
                <a:effectLst/>
                <a:uFillTx/>
                <a:latin typeface="Calibri"/>
                <a:ea typeface="Calibri"/>
              </a:rPr>
              <a:t>Converts chunks into dense vectors for semantic search or into relational DB entries</a:t>
            </a:r>
            <a:endParaRPr lang="nl-NL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17"/>
          <p:cNvSpPr/>
          <p:nvPr/>
        </p:nvSpPr>
        <p:spPr>
          <a:xfrm>
            <a:off x="8363240" y="3282840"/>
            <a:ext cx="31578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25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C2233"/>
                </a:solidFill>
                <a:effectLst/>
                <a:uFillTx/>
                <a:latin typeface="Calibri"/>
                <a:ea typeface="Calibri"/>
              </a:rPr>
              <a:t>text-embedding-3-small (OpenAI) — low cost</a:t>
            </a:r>
            <a:endParaRPr lang="nl-NL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Shape 18"/>
          <p:cNvSpPr/>
          <p:nvPr/>
        </p:nvSpPr>
        <p:spPr>
          <a:xfrm>
            <a:off x="548640" y="3849480"/>
            <a:ext cx="11063880" cy="566640"/>
          </a:xfrm>
          <a:prstGeom prst="rect">
            <a:avLst/>
          </a:prstGeom>
          <a:solidFill>
            <a:srgbClr val="EAF3F8"/>
          </a:solidFill>
          <a:ln w="9525">
            <a:solidFill>
              <a:srgbClr val="DCEAF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19"/>
          <p:cNvSpPr/>
          <p:nvPr/>
        </p:nvSpPr>
        <p:spPr>
          <a:xfrm>
            <a:off x="658440" y="3849480"/>
            <a:ext cx="170000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25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0C2233"/>
                </a:solidFill>
                <a:effectLst/>
                <a:uFillTx/>
                <a:latin typeface="Calibri"/>
                <a:ea typeface="Calibri"/>
              </a:rPr>
              <a:t>Data Store</a:t>
            </a:r>
            <a:endParaRPr lang="nl-NL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03" name="Text TypeRow"/>
          <p:cNvSpPr/>
          <p:nvPr/>
        </p:nvSpPr>
        <p:spPr>
          <a:xfrm>
            <a:off x="2560040" y="3849480"/>
            <a:ext cx="150000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25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C2233"/>
                </a:solidFill>
                <a:effectLst/>
                <a:uFillTx/>
                <a:latin typeface="Calibri"/>
                <a:ea typeface="Calibri"/>
              </a:rPr>
              <a:t>Retrieval layer</a:t>
            </a:r>
            <a:endParaRPr lang="nl-NL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20"/>
          <p:cNvSpPr/>
          <p:nvPr/>
        </p:nvSpPr>
        <p:spPr>
          <a:xfrm>
            <a:off x="4261640" y="3849480"/>
            <a:ext cx="390000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25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C2233"/>
                </a:solidFill>
                <a:effectLst/>
                <a:uFillTx/>
                <a:latin typeface="Calibri"/>
                <a:ea typeface="Calibri"/>
              </a:rPr>
              <a:t>Stores and retrieves most relevant chunks for semantic search, with additional info in metadata</a:t>
            </a:r>
            <a:endParaRPr lang="nl-NL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21"/>
          <p:cNvSpPr/>
          <p:nvPr/>
        </p:nvSpPr>
        <p:spPr>
          <a:xfrm>
            <a:off x="8363240" y="3849480"/>
            <a:ext cx="31578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25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C2233"/>
                </a:solidFill>
                <a:effectLst/>
                <a:uFillTx/>
                <a:latin typeface="Calibri"/>
                <a:ea typeface="Calibri"/>
              </a:rPr>
              <a:t>Qdrant or: Postgres &amp; PGVector</a:t>
            </a:r>
            <a:endParaRPr lang="nl-NL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Shape 22"/>
          <p:cNvSpPr/>
          <p:nvPr/>
        </p:nvSpPr>
        <p:spPr>
          <a:xfrm>
            <a:off x="548640" y="4416480"/>
            <a:ext cx="11063880" cy="566640"/>
          </a:xfrm>
          <a:prstGeom prst="rect">
            <a:avLst/>
          </a:prstGeom>
          <a:solidFill>
            <a:srgbClr val="FFFFFF"/>
          </a:solidFill>
          <a:ln w="9525">
            <a:solidFill>
              <a:srgbClr val="DCEAF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23"/>
          <p:cNvSpPr/>
          <p:nvPr/>
        </p:nvSpPr>
        <p:spPr>
          <a:xfrm>
            <a:off x="658440" y="4416480"/>
            <a:ext cx="170000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25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0C2233"/>
                </a:solidFill>
                <a:effectLst/>
                <a:uFillTx/>
                <a:latin typeface="Calibri"/>
                <a:ea typeface="Calibri"/>
              </a:rPr>
              <a:t>Prompt Engine</a:t>
            </a:r>
            <a:endParaRPr lang="nl-NL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04" name="Text TypeRow"/>
          <p:cNvSpPr/>
          <p:nvPr/>
        </p:nvSpPr>
        <p:spPr>
          <a:xfrm>
            <a:off x="2560040" y="4416480"/>
            <a:ext cx="150000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25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C2233"/>
                </a:solidFill>
                <a:effectLst/>
                <a:uFillTx/>
                <a:latin typeface="Calibri"/>
                <a:ea typeface="Calibri"/>
              </a:rPr>
              <a:t>Orchestration</a:t>
            </a:r>
            <a:endParaRPr lang="nl-NL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 24"/>
          <p:cNvSpPr/>
          <p:nvPr/>
        </p:nvSpPr>
        <p:spPr>
          <a:xfrm>
            <a:off x="4261640" y="4416480"/>
            <a:ext cx="390000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25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C2233"/>
                </a:solidFill>
                <a:effectLst/>
                <a:uFillTx/>
                <a:latin typeface="Calibri"/>
                <a:ea typeface="Calibri"/>
              </a:rPr>
              <a:t>Manages prompt templates, document template with sections &amp; a template per section (also used during evaluation)</a:t>
            </a:r>
            <a:endParaRPr lang="nl-NL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25"/>
          <p:cNvSpPr/>
          <p:nvPr/>
        </p:nvSpPr>
        <p:spPr>
          <a:xfrm>
            <a:off x="8363240" y="4416480"/>
            <a:ext cx="31578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25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C2233"/>
                </a:solidFill>
                <a:effectLst/>
                <a:uFillTx/>
                <a:latin typeface="Calibri"/>
                <a:ea typeface="Calibri"/>
              </a:rPr>
              <a:t>LangChain LCEL chains with custom prompt templates</a:t>
            </a:r>
            <a:endParaRPr lang="nl-NL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Shape 26"/>
          <p:cNvSpPr/>
          <p:nvPr/>
        </p:nvSpPr>
        <p:spPr>
          <a:xfrm>
            <a:off x="548640" y="4983480"/>
            <a:ext cx="11063880" cy="566640"/>
          </a:xfrm>
          <a:prstGeom prst="rect">
            <a:avLst/>
          </a:prstGeom>
          <a:solidFill>
            <a:srgbClr val="EAF3F8"/>
          </a:solidFill>
          <a:ln w="9525">
            <a:solidFill>
              <a:srgbClr val="DCEAF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 27"/>
          <p:cNvSpPr/>
          <p:nvPr/>
        </p:nvSpPr>
        <p:spPr>
          <a:xfrm>
            <a:off x="658440" y="4983480"/>
            <a:ext cx="170000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25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0C2233"/>
                </a:solidFill>
                <a:effectLst/>
                <a:uFillTx/>
                <a:latin typeface="Calibri"/>
                <a:ea typeface="Calibri"/>
              </a:rPr>
              <a:t>LLM</a:t>
            </a:r>
            <a:endParaRPr lang="nl-NL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05" name="Text TypeRow"/>
          <p:cNvSpPr/>
          <p:nvPr/>
        </p:nvSpPr>
        <p:spPr>
          <a:xfrm>
            <a:off x="2560040" y="4983480"/>
            <a:ext cx="150000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25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C2233"/>
                </a:solidFill>
                <a:effectLst/>
                <a:uFillTx/>
                <a:latin typeface="Calibri"/>
                <a:ea typeface="Calibri"/>
              </a:rPr>
              <a:t>Generation model</a:t>
            </a:r>
            <a:endParaRPr lang="nl-NL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 28"/>
          <p:cNvSpPr/>
          <p:nvPr/>
        </p:nvSpPr>
        <p:spPr>
          <a:xfrm>
            <a:off x="4261640" y="4983480"/>
            <a:ext cx="390000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25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C2233"/>
                </a:solidFill>
                <a:effectLst/>
                <a:uFillTx/>
                <a:latin typeface="Calibri"/>
                <a:ea typeface="Calibri"/>
              </a:rPr>
              <a:t>Synthesis of retrieved context into structured functional documentation</a:t>
            </a:r>
            <a:endParaRPr lang="nl-NL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29"/>
          <p:cNvSpPr/>
          <p:nvPr/>
        </p:nvSpPr>
        <p:spPr>
          <a:xfrm>
            <a:off x="8363240" y="4983480"/>
            <a:ext cx="31578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25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C2233"/>
                </a:solidFill>
                <a:effectLst/>
                <a:uFillTx/>
                <a:latin typeface="Calibri"/>
                <a:ea typeface="Calibri"/>
              </a:rPr>
              <a:t>Aim for: open source, strong summarization — compare and select model at last moment</a:t>
            </a:r>
            <a:endParaRPr lang="nl-NL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Shape 30"/>
          <p:cNvSpPr/>
          <p:nvPr/>
        </p:nvSpPr>
        <p:spPr>
          <a:xfrm>
            <a:off x="548640" y="5550480"/>
            <a:ext cx="11063880" cy="566640"/>
          </a:xfrm>
          <a:prstGeom prst="rect">
            <a:avLst/>
          </a:prstGeom>
          <a:solidFill>
            <a:srgbClr val="FFFFFF"/>
          </a:solidFill>
          <a:ln w="9525">
            <a:solidFill>
              <a:srgbClr val="DCEAF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 31"/>
          <p:cNvSpPr/>
          <p:nvPr/>
        </p:nvSpPr>
        <p:spPr>
          <a:xfrm>
            <a:off x="658440" y="5550480"/>
            <a:ext cx="170000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25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0C2233"/>
                </a:solidFill>
                <a:effectLst/>
                <a:uFillTx/>
                <a:latin typeface="Calibri"/>
                <a:ea typeface="Calibri"/>
              </a:rPr>
              <a:t>Evaluation Module</a:t>
            </a:r>
            <a:endParaRPr lang="nl-NL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06" name="Text TypeRow"/>
          <p:cNvSpPr/>
          <p:nvPr/>
        </p:nvSpPr>
        <p:spPr>
          <a:xfrm>
            <a:off x="2560040" y="5550480"/>
            <a:ext cx="150000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25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C2233"/>
                </a:solidFill>
                <a:effectLst/>
                <a:uFillTx/>
                <a:latin typeface="Calibri"/>
                <a:ea typeface="Calibri"/>
              </a:rPr>
              <a:t>Quality gate</a:t>
            </a:r>
            <a:endParaRPr lang="nl-NL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 32"/>
          <p:cNvSpPr/>
          <p:nvPr/>
        </p:nvSpPr>
        <p:spPr>
          <a:xfrm>
            <a:off x="4261640" y="5550480"/>
            <a:ext cx="390000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25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C2233"/>
                </a:solidFill>
                <a:effectLst/>
                <a:uFillTx/>
                <a:latin typeface="Calibri"/>
                <a:ea typeface="Calibri"/>
              </a:rPr>
              <a:t>Scores generated doc, if possible using a reference document; ends with manual verification</a:t>
            </a:r>
            <a:endParaRPr lang="nl-NL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33"/>
          <p:cNvSpPr/>
          <p:nvPr/>
        </p:nvSpPr>
        <p:spPr>
          <a:xfrm>
            <a:off x="8363240" y="5550480"/>
            <a:ext cx="31578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25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C2233"/>
                </a:solidFill>
                <a:effectLst/>
                <a:uFillTx/>
                <a:latin typeface="Calibri"/>
                <a:ea typeface="Calibri"/>
              </a:rPr>
              <a:t>LLM-as-judge for different criteria; manual user feedback</a:t>
            </a:r>
            <a:endParaRPr lang="nl-NL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34"/>
          <p:cNvSpPr/>
          <p:nvPr/>
        </p:nvSpPr>
        <p:spPr>
          <a:xfrm>
            <a:off x="548640" y="640080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5B6B75"/>
                </a:solidFill>
                <a:effectLst/>
                <a:uFillTx/>
                <a:latin typeface="Calibri"/>
                <a:ea typeface="Calibri"/>
              </a:rPr>
              <a:t>Functional Guide Generator · System Design</a:t>
            </a:r>
            <a:endParaRPr lang="nl-NL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35"/>
          <p:cNvSpPr/>
          <p:nvPr/>
        </p:nvSpPr>
        <p:spPr>
          <a:xfrm>
            <a:off x="11003040" y="6400800"/>
            <a:ext cx="914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5B6B75"/>
                </a:solidFill>
                <a:effectLst/>
                <a:uFillTx/>
                <a:latin typeface="Calibri"/>
                <a:ea typeface="Calibri"/>
              </a:rPr>
              <a:t>05 / 18</a:t>
            </a:r>
            <a:endParaRPr lang="nl-NL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Text 0"/>
          <p:cNvSpPr/>
          <p:nvPr/>
        </p:nvSpPr>
        <p:spPr>
          <a:xfrm>
            <a:off x="548640" y="384120"/>
            <a:ext cx="73148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03 · DATA FLOW</a:t>
            </a:r>
            <a:endParaRPr lang="nl-NL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1"/>
          <p:cNvSpPr/>
          <p:nvPr/>
        </p:nvSpPr>
        <p:spPr>
          <a:xfrm>
            <a:off x="548640" y="685800"/>
            <a:ext cx="105152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21295C"/>
                </a:solidFill>
                <a:effectLst/>
                <a:uFillTx/>
                <a:latin typeface="Cambria"/>
                <a:ea typeface="Cambria"/>
              </a:rPr>
              <a:t>Architecture at a glance</a:t>
            </a:r>
            <a:endParaRPr lang="nl-NL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Shape 2"/>
          <p:cNvSpPr/>
          <p:nvPr/>
        </p:nvSpPr>
        <p:spPr>
          <a:xfrm>
            <a:off x="548640" y="1737360"/>
            <a:ext cx="1782720" cy="594000"/>
          </a:xfrm>
          <a:prstGeom prst="roundRect">
            <a:avLst>
              <a:gd name="adj" fmla="val 9231"/>
            </a:avLst>
          </a:prstGeom>
          <a:solidFill>
            <a:srgbClr val="D9DEE2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3"/>
          <p:cNvSpPr/>
          <p:nvPr/>
        </p:nvSpPr>
        <p:spPr>
          <a:xfrm>
            <a:off x="621720" y="1737360"/>
            <a:ext cx="163656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ts val="1049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C2233"/>
                </a:solidFill>
                <a:effectLst/>
                <a:uFillTx/>
                <a:latin typeface="Calibri"/>
                <a:ea typeface="Calibri"/>
              </a:rPr>
              <a:t>Requirements &amp;</a:t>
            </a:r>
            <a:endParaRPr lang="nl-NL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1049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C2233"/>
                </a:solidFill>
                <a:effectLst/>
                <a:uFillTx/>
                <a:latin typeface="Calibri"/>
                <a:ea typeface="Calibri"/>
              </a:rPr>
              <a:t>specifications</a:t>
            </a:r>
            <a:endParaRPr lang="nl-NL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Shape 4"/>
          <p:cNvSpPr/>
          <p:nvPr/>
        </p:nvSpPr>
        <p:spPr>
          <a:xfrm>
            <a:off x="548640" y="2450520"/>
            <a:ext cx="1782720" cy="594000"/>
          </a:xfrm>
          <a:prstGeom prst="roundRect">
            <a:avLst>
              <a:gd name="adj" fmla="val 9231"/>
            </a:avLst>
          </a:prstGeom>
          <a:solidFill>
            <a:srgbClr val="065A82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5"/>
          <p:cNvSpPr/>
          <p:nvPr/>
        </p:nvSpPr>
        <p:spPr>
          <a:xfrm>
            <a:off x="621720" y="2450520"/>
            <a:ext cx="163656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ts val="1049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Features &amp;</a:t>
            </a:r>
            <a:endParaRPr lang="nl-NL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1049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 stories</a:t>
            </a:r>
            <a:endParaRPr lang="nl-NL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Shape 6"/>
          <p:cNvSpPr/>
          <p:nvPr/>
        </p:nvSpPr>
        <p:spPr>
          <a:xfrm>
            <a:off x="548640" y="3163680"/>
            <a:ext cx="1782720" cy="594000"/>
          </a:xfrm>
          <a:prstGeom prst="roundRect">
            <a:avLst>
              <a:gd name="adj" fmla="val 9231"/>
            </a:avLst>
          </a:prstGeom>
          <a:solidFill>
            <a:srgbClr val="D9DEE2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 7"/>
          <p:cNvSpPr/>
          <p:nvPr/>
        </p:nvSpPr>
        <p:spPr>
          <a:xfrm>
            <a:off x="621720" y="3163680"/>
            <a:ext cx="163656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ts val="1049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C2233"/>
                </a:solidFill>
                <a:effectLst/>
                <a:uFillTx/>
                <a:latin typeface="Calibri"/>
                <a:ea typeface="Calibri"/>
              </a:rPr>
              <a:t>Application</a:t>
            </a:r>
            <a:endParaRPr lang="nl-NL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1049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C2233"/>
                </a:solidFill>
                <a:effectLst/>
                <a:uFillTx/>
                <a:latin typeface="Calibri"/>
                <a:ea typeface="Calibri"/>
              </a:rPr>
              <a:t>screenshots</a:t>
            </a:r>
            <a:endParaRPr lang="nl-NL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Shape 8"/>
          <p:cNvSpPr/>
          <p:nvPr/>
        </p:nvSpPr>
        <p:spPr>
          <a:xfrm>
            <a:off x="548640" y="3877200"/>
            <a:ext cx="1782720" cy="594000"/>
          </a:xfrm>
          <a:prstGeom prst="roundRect">
            <a:avLst>
              <a:gd name="adj" fmla="val 9231"/>
            </a:avLst>
          </a:prstGeom>
          <a:solidFill>
            <a:srgbClr val="D9DEE2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9"/>
          <p:cNvSpPr/>
          <p:nvPr/>
        </p:nvSpPr>
        <p:spPr>
          <a:xfrm>
            <a:off x="621720" y="3877200"/>
            <a:ext cx="163656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ts val="1049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C2233"/>
                </a:solidFill>
                <a:effectLst/>
                <a:uFillTx/>
                <a:latin typeface="Calibri"/>
                <a:ea typeface="Calibri"/>
              </a:rPr>
              <a:t>Demo meeting notes</a:t>
            </a:r>
            <a:endParaRPr lang="nl-NL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1049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C2233"/>
                </a:solidFill>
                <a:effectLst/>
                <a:uFillTx/>
                <a:latin typeface="Calibri"/>
                <a:ea typeface="Calibri"/>
              </a:rPr>
              <a:t>&amp; recordings</a:t>
            </a:r>
            <a:endParaRPr lang="nl-NL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Shape 10"/>
          <p:cNvSpPr/>
          <p:nvPr/>
        </p:nvSpPr>
        <p:spPr>
          <a:xfrm>
            <a:off x="548640" y="4590360"/>
            <a:ext cx="1782720" cy="594000"/>
          </a:xfrm>
          <a:prstGeom prst="roundRect">
            <a:avLst>
              <a:gd name="adj" fmla="val 9231"/>
            </a:avLst>
          </a:prstGeom>
          <a:solidFill>
            <a:srgbClr val="D9DEE2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 11"/>
          <p:cNvSpPr/>
          <p:nvPr/>
        </p:nvSpPr>
        <p:spPr>
          <a:xfrm>
            <a:off x="621720" y="4590360"/>
            <a:ext cx="163656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ts val="1049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C2233"/>
                </a:solidFill>
                <a:effectLst/>
                <a:uFillTx/>
                <a:latin typeface="Calibri"/>
                <a:ea typeface="Calibri"/>
              </a:rPr>
              <a:t>Code</a:t>
            </a:r>
            <a:endParaRPr lang="nl-NL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1049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C2233"/>
                </a:solidFill>
                <a:effectLst/>
                <a:uFillTx/>
                <a:latin typeface="Calibri"/>
                <a:ea typeface="Calibri"/>
              </a:rPr>
              <a:t>repository</a:t>
            </a:r>
            <a:endParaRPr lang="nl-NL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 12"/>
          <p:cNvSpPr/>
          <p:nvPr/>
        </p:nvSpPr>
        <p:spPr>
          <a:xfrm>
            <a:off x="548640" y="1417320"/>
            <a:ext cx="17827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pc="99" strike="noStrike">
                <a:solidFill>
                  <a:srgbClr val="5B6B75"/>
                </a:solidFill>
                <a:effectLst/>
                <a:uFillTx/>
                <a:latin typeface="Calibri"/>
                <a:ea typeface="Calibri"/>
              </a:rPr>
              <a:t>INPUT SOURCES</a:t>
            </a:r>
            <a:endParaRPr lang="nl-NL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Shape 13"/>
          <p:cNvSpPr/>
          <p:nvPr/>
        </p:nvSpPr>
        <p:spPr>
          <a:xfrm>
            <a:off x="2377440" y="3200400"/>
            <a:ext cx="411480" cy="360"/>
          </a:xfrm>
          <a:prstGeom prst="line">
            <a:avLst/>
          </a:prstGeom>
          <a:ln w="25400">
            <a:solidFill>
              <a:srgbClr val="5B6B75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nl-N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Shape 14"/>
          <p:cNvSpPr/>
          <p:nvPr/>
        </p:nvSpPr>
        <p:spPr>
          <a:xfrm>
            <a:off x="2880360" y="1737360"/>
            <a:ext cx="2834280" cy="1051200"/>
          </a:xfrm>
          <a:prstGeom prst="roundRect">
            <a:avLst>
              <a:gd name="adj" fmla="val 5217"/>
            </a:avLst>
          </a:prstGeom>
          <a:solidFill>
            <a:srgbClr val="065A82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15"/>
          <p:cNvSpPr/>
          <p:nvPr/>
        </p:nvSpPr>
        <p:spPr>
          <a:xfrm>
            <a:off x="3017520" y="1810440"/>
            <a:ext cx="25599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99" strike="noStrike">
                <a:solidFill>
                  <a:srgbClr val="E8A33D"/>
                </a:solidFill>
                <a:effectLst/>
                <a:uFillTx/>
                <a:latin typeface="Calibri"/>
                <a:ea typeface="Calibri"/>
              </a:rPr>
              <a:t>LAYER 1</a:t>
            </a:r>
            <a:endParaRPr lang="nl-NL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 16"/>
          <p:cNvSpPr/>
          <p:nvPr/>
        </p:nvSpPr>
        <p:spPr>
          <a:xfrm>
            <a:off x="3017520" y="2057400"/>
            <a:ext cx="255996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Ingest   →   Preprocess   →   Embed &amp; store</a:t>
            </a:r>
            <a:endParaRPr lang="nl-NL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Shape 17"/>
          <p:cNvSpPr/>
          <p:nvPr/>
        </p:nvSpPr>
        <p:spPr>
          <a:xfrm>
            <a:off x="4242600" y="2788920"/>
            <a:ext cx="360" cy="182880"/>
          </a:xfrm>
          <a:prstGeom prst="line">
            <a:avLst/>
          </a:prstGeom>
          <a:ln w="25400">
            <a:solidFill>
              <a:srgbClr val="5B6B75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nl-N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Shape 18"/>
          <p:cNvSpPr/>
          <p:nvPr/>
        </p:nvSpPr>
        <p:spPr>
          <a:xfrm>
            <a:off x="2880360" y="2971800"/>
            <a:ext cx="2834280" cy="1051200"/>
          </a:xfrm>
          <a:prstGeom prst="roundRect">
            <a:avLst>
              <a:gd name="adj" fmla="val 5217"/>
            </a:avLst>
          </a:prstGeom>
          <a:solidFill>
            <a:srgbClr val="1C7293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19"/>
          <p:cNvSpPr/>
          <p:nvPr/>
        </p:nvSpPr>
        <p:spPr>
          <a:xfrm>
            <a:off x="3017520" y="3044880"/>
            <a:ext cx="25599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99" strike="noStrike">
                <a:solidFill>
                  <a:srgbClr val="E8A33D"/>
                </a:solidFill>
                <a:effectLst/>
                <a:uFillTx/>
                <a:latin typeface="Calibri"/>
                <a:ea typeface="Calibri"/>
              </a:rPr>
              <a:t>LAYER 2</a:t>
            </a:r>
            <a:endParaRPr lang="nl-NL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 20"/>
          <p:cNvSpPr/>
          <p:nvPr/>
        </p:nvSpPr>
        <p:spPr>
          <a:xfrm>
            <a:off x="3017520" y="3291840"/>
            <a:ext cx="255996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Retrieve   →   Generate</a:t>
            </a:r>
            <a:endParaRPr lang="nl-NL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Shape 21"/>
          <p:cNvSpPr/>
          <p:nvPr/>
        </p:nvSpPr>
        <p:spPr>
          <a:xfrm>
            <a:off x="4242600" y="4023360"/>
            <a:ext cx="360" cy="182880"/>
          </a:xfrm>
          <a:prstGeom prst="line">
            <a:avLst/>
          </a:prstGeom>
          <a:ln w="25400">
            <a:solidFill>
              <a:srgbClr val="5B6B75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nl-N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Shape 22"/>
          <p:cNvSpPr/>
          <p:nvPr/>
        </p:nvSpPr>
        <p:spPr>
          <a:xfrm>
            <a:off x="2880360" y="4206240"/>
            <a:ext cx="2834280" cy="1051200"/>
          </a:xfrm>
          <a:prstGeom prst="roundRect">
            <a:avLst>
              <a:gd name="adj" fmla="val 5217"/>
            </a:avLst>
          </a:prstGeom>
          <a:solidFill>
            <a:srgbClr val="21295C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 23"/>
          <p:cNvSpPr/>
          <p:nvPr/>
        </p:nvSpPr>
        <p:spPr>
          <a:xfrm>
            <a:off x="3017520" y="4279320"/>
            <a:ext cx="25599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99" strike="noStrike">
                <a:solidFill>
                  <a:srgbClr val="E8A33D"/>
                </a:solidFill>
                <a:effectLst/>
                <a:uFillTx/>
                <a:latin typeface="Calibri"/>
                <a:ea typeface="Calibri"/>
              </a:rPr>
              <a:t>LAYER 3</a:t>
            </a:r>
            <a:endParaRPr lang="nl-NL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 24"/>
          <p:cNvSpPr/>
          <p:nvPr/>
        </p:nvSpPr>
        <p:spPr>
          <a:xfrm>
            <a:off x="3017520" y="4526280"/>
            <a:ext cx="255996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Evaluate   →   Serve</a:t>
            </a:r>
            <a:endParaRPr lang="nl-NL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Shape 25"/>
          <p:cNvSpPr/>
          <p:nvPr/>
        </p:nvSpPr>
        <p:spPr>
          <a:xfrm>
            <a:off x="5760720" y="3200400"/>
            <a:ext cx="411480" cy="360"/>
          </a:xfrm>
          <a:prstGeom prst="line">
            <a:avLst/>
          </a:prstGeom>
          <a:ln w="25400">
            <a:solidFill>
              <a:srgbClr val="5B6B75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nl-N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Shape 26"/>
          <p:cNvSpPr/>
          <p:nvPr/>
        </p:nvSpPr>
        <p:spPr>
          <a:xfrm>
            <a:off x="6217920" y="2788920"/>
            <a:ext cx="1416960" cy="822600"/>
          </a:xfrm>
          <a:prstGeom prst="roundRect">
            <a:avLst>
              <a:gd name="adj" fmla="val 6667"/>
            </a:avLst>
          </a:prstGeom>
          <a:solidFill>
            <a:srgbClr val="97BC62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27"/>
          <p:cNvSpPr/>
          <p:nvPr/>
        </p:nvSpPr>
        <p:spPr>
          <a:xfrm>
            <a:off x="6263640" y="2788920"/>
            <a:ext cx="132552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ts val="1301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27500A"/>
                </a:solidFill>
                <a:effectLst/>
                <a:uFillTx/>
                <a:latin typeface="Calibri"/>
                <a:ea typeface="Calibri"/>
              </a:rPr>
              <a:t>Markdown</a:t>
            </a:r>
            <a:endParaRPr lang="nl-NL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1301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27500A"/>
                </a:solidFill>
                <a:effectLst/>
                <a:uFillTx/>
                <a:latin typeface="Calibri"/>
                <a:ea typeface="Calibri"/>
              </a:rPr>
              <a:t>(default)</a:t>
            </a:r>
            <a:endParaRPr lang="nl-NL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Shape 28"/>
          <p:cNvSpPr/>
          <p:nvPr/>
        </p:nvSpPr>
        <p:spPr>
          <a:xfrm>
            <a:off x="7680960" y="3200400"/>
            <a:ext cx="411480" cy="360"/>
          </a:xfrm>
          <a:prstGeom prst="line">
            <a:avLst/>
          </a:prstGeom>
          <a:ln w="25400">
            <a:solidFill>
              <a:srgbClr val="5B6B75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nl-N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Shape 29"/>
          <p:cNvSpPr/>
          <p:nvPr/>
        </p:nvSpPr>
        <p:spPr>
          <a:xfrm>
            <a:off x="8092440" y="1737360"/>
            <a:ext cx="1371240" cy="456840"/>
          </a:xfrm>
          <a:prstGeom prst="roundRect">
            <a:avLst>
              <a:gd name="adj" fmla="val 10000"/>
            </a:avLst>
          </a:prstGeom>
          <a:solidFill>
            <a:srgbClr val="EAF3DE"/>
          </a:solidFill>
          <a:ln w="12700">
            <a:solidFill>
              <a:srgbClr val="97BC6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 30"/>
          <p:cNvSpPr/>
          <p:nvPr/>
        </p:nvSpPr>
        <p:spPr>
          <a:xfrm>
            <a:off x="8092440" y="1737360"/>
            <a:ext cx="1371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27500A"/>
                </a:solidFill>
                <a:effectLst/>
                <a:uFillTx/>
                <a:latin typeface="Calibri"/>
                <a:ea typeface="Calibri"/>
              </a:rPr>
              <a:t>Word</a:t>
            </a:r>
            <a:endParaRPr lang="nl-NL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Shape 31"/>
          <p:cNvSpPr/>
          <p:nvPr/>
        </p:nvSpPr>
        <p:spPr>
          <a:xfrm>
            <a:off x="8092440" y="2331720"/>
            <a:ext cx="1371240" cy="456840"/>
          </a:xfrm>
          <a:prstGeom prst="roundRect">
            <a:avLst>
              <a:gd name="adj" fmla="val 10000"/>
            </a:avLst>
          </a:prstGeom>
          <a:solidFill>
            <a:srgbClr val="EAF3DE"/>
          </a:solidFill>
          <a:ln w="12700">
            <a:solidFill>
              <a:srgbClr val="97BC6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32"/>
          <p:cNvSpPr/>
          <p:nvPr/>
        </p:nvSpPr>
        <p:spPr>
          <a:xfrm>
            <a:off x="8092440" y="2331720"/>
            <a:ext cx="1371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27500A"/>
                </a:solidFill>
                <a:effectLst/>
                <a:uFillTx/>
                <a:latin typeface="Calibri"/>
                <a:ea typeface="Calibri"/>
              </a:rPr>
              <a:t>PDF</a:t>
            </a:r>
            <a:endParaRPr lang="nl-NL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Shape 33"/>
          <p:cNvSpPr/>
          <p:nvPr/>
        </p:nvSpPr>
        <p:spPr>
          <a:xfrm>
            <a:off x="8092440" y="2926080"/>
            <a:ext cx="1371240" cy="456840"/>
          </a:xfrm>
          <a:prstGeom prst="roundRect">
            <a:avLst>
              <a:gd name="adj" fmla="val 10000"/>
            </a:avLst>
          </a:prstGeom>
          <a:solidFill>
            <a:srgbClr val="EAF3DE"/>
          </a:solidFill>
          <a:ln w="12700">
            <a:solidFill>
              <a:srgbClr val="97BC6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34"/>
          <p:cNvSpPr/>
          <p:nvPr/>
        </p:nvSpPr>
        <p:spPr>
          <a:xfrm>
            <a:off x="8092440" y="2926080"/>
            <a:ext cx="1371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27500A"/>
                </a:solidFill>
                <a:effectLst/>
                <a:uFillTx/>
                <a:latin typeface="Calibri"/>
                <a:ea typeface="Calibri"/>
              </a:rPr>
              <a:t>HTML</a:t>
            </a:r>
            <a:endParaRPr lang="nl-NL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Shape 35"/>
          <p:cNvSpPr/>
          <p:nvPr/>
        </p:nvSpPr>
        <p:spPr>
          <a:xfrm>
            <a:off x="8092440" y="3520440"/>
            <a:ext cx="1371240" cy="456840"/>
          </a:xfrm>
          <a:prstGeom prst="roundRect">
            <a:avLst>
              <a:gd name="adj" fmla="val 10000"/>
            </a:avLst>
          </a:prstGeom>
          <a:solidFill>
            <a:srgbClr val="EAF3DE"/>
          </a:solidFill>
          <a:ln w="12700">
            <a:solidFill>
              <a:srgbClr val="97BC6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 36"/>
          <p:cNvSpPr/>
          <p:nvPr/>
        </p:nvSpPr>
        <p:spPr>
          <a:xfrm>
            <a:off x="8092440" y="3520440"/>
            <a:ext cx="1371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27500A"/>
                </a:solidFill>
                <a:effectLst/>
                <a:uFillTx/>
                <a:latin typeface="Calibri"/>
                <a:ea typeface="Calibri"/>
              </a:rPr>
              <a:t>Wiki page</a:t>
            </a:r>
            <a:endParaRPr lang="nl-NL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 37"/>
          <p:cNvSpPr/>
          <p:nvPr/>
        </p:nvSpPr>
        <p:spPr>
          <a:xfrm>
            <a:off x="8092440" y="1417320"/>
            <a:ext cx="1371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1" u="none" spc="99" strike="noStrike">
                <a:solidFill>
                  <a:srgbClr val="5B6B75"/>
                </a:solidFill>
                <a:effectLst/>
                <a:uFillTx/>
                <a:latin typeface="Calibri"/>
                <a:ea typeface="Calibri"/>
              </a:rPr>
              <a:t>POST-PROCESSING</a:t>
            </a:r>
            <a:endParaRPr lang="nl-NL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 38"/>
          <p:cNvSpPr/>
          <p:nvPr/>
        </p:nvSpPr>
        <p:spPr>
          <a:xfrm>
            <a:off x="548640" y="5989320"/>
            <a:ext cx="110638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400"/>
              </a:lnSpc>
              <a:tabLst>
                <a:tab pos="0" algn="l"/>
              </a:tabLst>
            </a:pPr>
            <a:r>
              <a:rPr lang="en-US" sz="1100" b="0" i="1" u="none" strike="noStrike">
                <a:solidFill>
                  <a:srgbClr val="5B6B75"/>
                </a:solidFill>
                <a:effectLst/>
                <a:uFillTx/>
                <a:latin typeface="Calibri"/>
                <a:ea typeface="Calibri"/>
              </a:rPr>
              <a:t>From here onward, the design focuses on one input source — the agile board with features and user stories — as every implementation works with one, and it is expected to be the most high-value source.</a:t>
            </a:r>
            <a:endParaRPr lang="nl-NL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39"/>
          <p:cNvSpPr/>
          <p:nvPr/>
        </p:nvSpPr>
        <p:spPr>
          <a:xfrm>
            <a:off x="548640" y="640080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5B6B75"/>
                </a:solidFill>
                <a:effectLst/>
                <a:uFillTx/>
                <a:latin typeface="Calibri"/>
                <a:ea typeface="Calibri"/>
              </a:rPr>
              <a:t>Functional Guide Generator · System Design</a:t>
            </a:r>
            <a:endParaRPr lang="nl-NL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 40"/>
          <p:cNvSpPr/>
          <p:nvPr/>
        </p:nvSpPr>
        <p:spPr>
          <a:xfrm>
            <a:off x="11003040" y="6400800"/>
            <a:ext cx="914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5B6B75"/>
                </a:solidFill>
                <a:effectLst/>
                <a:uFillTx/>
                <a:latin typeface="Calibri"/>
                <a:ea typeface="Calibri"/>
              </a:rPr>
              <a:t>06 / 18</a:t>
            </a:r>
            <a:endParaRPr lang="nl-NL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Text 0"/>
          <p:cNvSpPr/>
          <p:nvPr/>
        </p:nvSpPr>
        <p:spPr>
          <a:xfrm>
            <a:off x="548640" y="384120"/>
            <a:ext cx="73148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03 · DATA FLOW</a:t>
            </a:r>
            <a:endParaRPr lang="nl-NL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 1"/>
          <p:cNvSpPr/>
          <p:nvPr/>
        </p:nvSpPr>
        <p:spPr>
          <a:xfrm>
            <a:off x="548640" y="685800"/>
            <a:ext cx="105152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21295C"/>
                </a:solidFill>
                <a:effectLst/>
                <a:uFillTx/>
                <a:latin typeface="Cambria"/>
                <a:ea typeface="Cambria"/>
              </a:rPr>
              <a:t>Inputs, output structure &amp; formats</a:t>
            </a:r>
            <a:endParaRPr lang="nl-NL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Shape 2"/>
          <p:cNvSpPr/>
          <p:nvPr/>
        </p:nvSpPr>
        <p:spPr>
          <a:xfrm>
            <a:off x="548640" y="1691640"/>
            <a:ext cx="5394600" cy="4114440"/>
          </a:xfrm>
          <a:prstGeom prst="roundRect">
            <a:avLst>
              <a:gd name="adj" fmla="val 1778"/>
            </a:avLst>
          </a:prstGeom>
          <a:solidFill>
            <a:srgbClr val="EAF3F8"/>
          </a:solidFill>
          <a:ln w="12700">
            <a:solidFill>
              <a:srgbClr val="DCEAF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 3"/>
          <p:cNvSpPr/>
          <p:nvPr/>
        </p:nvSpPr>
        <p:spPr>
          <a:xfrm>
            <a:off x="822960" y="1874520"/>
            <a:ext cx="48459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pc="99" strike="noStrike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INPUT SOURCES — IN PRACTICE</a:t>
            </a:r>
            <a:endParaRPr lang="nl-NL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Shape 4"/>
          <p:cNvSpPr/>
          <p:nvPr/>
        </p:nvSpPr>
        <p:spPr>
          <a:xfrm>
            <a:off x="868680" y="2432160"/>
            <a:ext cx="118440" cy="11844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38880" rIns="90000" bIns="38880" anchor="t">
            <a:noAutofit/>
          </a:bodyPr>
          <a:p>
            <a:endParaRPr lang="nl-NL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" name="Text 5"/>
          <p:cNvSpPr/>
          <p:nvPr/>
        </p:nvSpPr>
        <p:spPr>
          <a:xfrm>
            <a:off x="1143000" y="2286000"/>
            <a:ext cx="45716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5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0C2233"/>
                </a:solidFill>
                <a:effectLst/>
                <a:uFillTx/>
                <a:latin typeface="Calibri"/>
                <a:ea typeface="Calibri"/>
              </a:rPr>
              <a:t>Requirements &amp; specs from wiki — Confluence, Notion, documents</a:t>
            </a:r>
            <a:endParaRPr lang="nl-NL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Shape 6"/>
          <p:cNvSpPr/>
          <p:nvPr/>
        </p:nvSpPr>
        <p:spPr>
          <a:xfrm>
            <a:off x="868680" y="2999160"/>
            <a:ext cx="118440" cy="11844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38880" rIns="90000" bIns="38880" anchor="t">
            <a:noAutofit/>
          </a:bodyPr>
          <a:p>
            <a:endParaRPr lang="nl-NL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7"/>
          <p:cNvSpPr/>
          <p:nvPr/>
        </p:nvSpPr>
        <p:spPr>
          <a:xfrm>
            <a:off x="1143000" y="2853000"/>
            <a:ext cx="45716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5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0C2233"/>
                </a:solidFill>
                <a:effectLst/>
                <a:uFillTx/>
                <a:latin typeface="Calibri"/>
                <a:ea typeface="Calibri"/>
              </a:rPr>
              <a:t>Agile board — features &amp; user stories (Jira, Azure DevOps)</a:t>
            </a:r>
            <a:endParaRPr lang="nl-NL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Shape 8"/>
          <p:cNvSpPr/>
          <p:nvPr/>
        </p:nvSpPr>
        <p:spPr>
          <a:xfrm>
            <a:off x="868680" y="3566160"/>
            <a:ext cx="118440" cy="11844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38880" rIns="90000" bIns="38880" anchor="t">
            <a:noAutofit/>
          </a:bodyPr>
          <a:p>
            <a:endParaRPr lang="nl-NL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 9"/>
          <p:cNvSpPr/>
          <p:nvPr/>
        </p:nvSpPr>
        <p:spPr>
          <a:xfrm>
            <a:off x="1143000" y="3420000"/>
            <a:ext cx="45716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5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0C2233"/>
                </a:solidFill>
                <a:effectLst/>
                <a:uFillTx/>
                <a:latin typeface="Calibri"/>
                <a:ea typeface="Calibri"/>
              </a:rPr>
              <a:t>Application screenshot folder</a:t>
            </a:r>
            <a:endParaRPr lang="nl-NL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Shape 10"/>
          <p:cNvSpPr/>
          <p:nvPr/>
        </p:nvSpPr>
        <p:spPr>
          <a:xfrm>
            <a:off x="868680" y="4133160"/>
            <a:ext cx="118440" cy="11844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38880" rIns="90000" bIns="38880" anchor="t">
            <a:noAutofit/>
          </a:bodyPr>
          <a:p>
            <a:endParaRPr lang="nl-NL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 11"/>
          <p:cNvSpPr/>
          <p:nvPr/>
        </p:nvSpPr>
        <p:spPr>
          <a:xfrm>
            <a:off x="1143000" y="3986640"/>
            <a:ext cx="45716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5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0C2233"/>
                </a:solidFill>
                <a:effectLst/>
                <a:uFillTx/>
                <a:latin typeface="Calibri"/>
                <a:ea typeface="Calibri"/>
              </a:rPr>
              <a:t>AI-generated meeting notes, recording</a:t>
            </a:r>
            <a:endParaRPr lang="nl-NL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Shape 12"/>
          <p:cNvSpPr/>
          <p:nvPr/>
        </p:nvSpPr>
        <p:spPr>
          <a:xfrm>
            <a:off x="868680" y="4700160"/>
            <a:ext cx="118440" cy="11844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38880" rIns="90000" bIns="38880" anchor="t">
            <a:noAutofit/>
          </a:bodyPr>
          <a:p>
            <a:endParaRPr lang="nl-NL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 13"/>
          <p:cNvSpPr/>
          <p:nvPr/>
        </p:nvSpPr>
        <p:spPr>
          <a:xfrm>
            <a:off x="1143000" y="4553640"/>
            <a:ext cx="45716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5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0C2233"/>
                </a:solidFill>
                <a:effectLst/>
                <a:uFillTx/>
                <a:latin typeface="Calibri"/>
                <a:ea typeface="Calibri"/>
              </a:rPr>
              <a:t>Code repository (GitHub repo)</a:t>
            </a:r>
            <a:endParaRPr lang="nl-NL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Shape 14"/>
          <p:cNvSpPr/>
          <p:nvPr/>
        </p:nvSpPr>
        <p:spPr>
          <a:xfrm>
            <a:off x="6172200" y="1691640"/>
            <a:ext cx="5486040" cy="1965600"/>
          </a:xfrm>
          <a:prstGeom prst="roundRect">
            <a:avLst>
              <a:gd name="adj" fmla="val 3721"/>
            </a:avLst>
          </a:prstGeom>
          <a:solidFill>
            <a:srgbClr val="065A82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 15"/>
          <p:cNvSpPr/>
          <p:nvPr/>
        </p:nvSpPr>
        <p:spPr>
          <a:xfrm>
            <a:off x="6446520" y="1874520"/>
            <a:ext cx="49374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pc="99" strike="noStrike">
                <a:solidFill>
                  <a:srgbClr val="E8A33D"/>
                </a:solidFill>
                <a:effectLst/>
                <a:uFillTx/>
                <a:latin typeface="Calibri"/>
                <a:ea typeface="Calibri"/>
              </a:rPr>
              <a:t>OUTPUT DOCUMENT — CHAPTERS</a:t>
            </a:r>
            <a:endParaRPr lang="nl-NL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Shape 16"/>
          <p:cNvSpPr/>
          <p:nvPr/>
        </p:nvSpPr>
        <p:spPr>
          <a:xfrm>
            <a:off x="6446520" y="2286000"/>
            <a:ext cx="1554120" cy="456840"/>
          </a:xfrm>
          <a:prstGeom prst="roundRect">
            <a:avLst>
              <a:gd name="adj" fmla="val 10000"/>
            </a:avLst>
          </a:prstGeom>
          <a:solidFill>
            <a:srgbClr val="1C7293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 17"/>
          <p:cNvSpPr/>
          <p:nvPr/>
        </p:nvSpPr>
        <p:spPr>
          <a:xfrm>
            <a:off x="6446520" y="2286000"/>
            <a:ext cx="15541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Table of contents</a:t>
            </a:r>
            <a:endParaRPr lang="nl-NL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Shape 18"/>
          <p:cNvSpPr/>
          <p:nvPr/>
        </p:nvSpPr>
        <p:spPr>
          <a:xfrm>
            <a:off x="8138160" y="2286000"/>
            <a:ext cx="1554120" cy="456840"/>
          </a:xfrm>
          <a:prstGeom prst="roundRect">
            <a:avLst>
              <a:gd name="adj" fmla="val 10000"/>
            </a:avLst>
          </a:prstGeom>
          <a:solidFill>
            <a:srgbClr val="1C7293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 19"/>
          <p:cNvSpPr/>
          <p:nvPr/>
        </p:nvSpPr>
        <p:spPr>
          <a:xfrm>
            <a:off x="8138160" y="2286000"/>
            <a:ext cx="15541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Overview</a:t>
            </a:r>
            <a:endParaRPr lang="nl-NL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Shape 20"/>
          <p:cNvSpPr/>
          <p:nvPr/>
        </p:nvSpPr>
        <p:spPr>
          <a:xfrm>
            <a:off x="9829800" y="2286000"/>
            <a:ext cx="1554120" cy="456840"/>
          </a:xfrm>
          <a:prstGeom prst="roundRect">
            <a:avLst>
              <a:gd name="adj" fmla="val 10000"/>
            </a:avLst>
          </a:prstGeom>
          <a:solidFill>
            <a:srgbClr val="1C7293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 21"/>
          <p:cNvSpPr/>
          <p:nvPr/>
        </p:nvSpPr>
        <p:spPr>
          <a:xfrm>
            <a:off x="9829800" y="2286000"/>
            <a:ext cx="15541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Step-by-step guide</a:t>
            </a:r>
            <a:endParaRPr lang="nl-NL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Shape 22"/>
          <p:cNvSpPr/>
          <p:nvPr/>
        </p:nvSpPr>
        <p:spPr>
          <a:xfrm>
            <a:off x="6446520" y="2880360"/>
            <a:ext cx="1554120" cy="456840"/>
          </a:xfrm>
          <a:prstGeom prst="roundRect">
            <a:avLst>
              <a:gd name="adj" fmla="val 10000"/>
            </a:avLst>
          </a:prstGeom>
          <a:solidFill>
            <a:srgbClr val="1C7293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 23"/>
          <p:cNvSpPr/>
          <p:nvPr/>
        </p:nvSpPr>
        <p:spPr>
          <a:xfrm>
            <a:off x="6446520" y="2880360"/>
            <a:ext cx="15541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Business rules</a:t>
            </a:r>
            <a:endParaRPr lang="nl-NL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Shape 24"/>
          <p:cNvSpPr/>
          <p:nvPr/>
        </p:nvSpPr>
        <p:spPr>
          <a:xfrm>
            <a:off x="8138160" y="2880360"/>
            <a:ext cx="1554120" cy="456840"/>
          </a:xfrm>
          <a:prstGeom prst="roundRect">
            <a:avLst>
              <a:gd name="adj" fmla="val 10000"/>
            </a:avLst>
          </a:prstGeom>
          <a:solidFill>
            <a:srgbClr val="1C7293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 25"/>
          <p:cNvSpPr/>
          <p:nvPr/>
        </p:nvSpPr>
        <p:spPr>
          <a:xfrm>
            <a:off x="8138160" y="2880360"/>
            <a:ext cx="15541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FAQ</a:t>
            </a:r>
            <a:endParaRPr lang="nl-NL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Shape 26"/>
          <p:cNvSpPr/>
          <p:nvPr/>
        </p:nvSpPr>
        <p:spPr>
          <a:xfrm>
            <a:off x="9829800" y="2880360"/>
            <a:ext cx="1554120" cy="456840"/>
          </a:xfrm>
          <a:prstGeom prst="roundRect">
            <a:avLst>
              <a:gd name="adj" fmla="val 10000"/>
            </a:avLst>
          </a:prstGeom>
          <a:solidFill>
            <a:srgbClr val="1C7293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 27"/>
          <p:cNvSpPr/>
          <p:nvPr/>
        </p:nvSpPr>
        <p:spPr>
          <a:xfrm>
            <a:off x="9829800" y="2880360"/>
            <a:ext cx="15541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Glossary</a:t>
            </a:r>
            <a:endParaRPr lang="nl-NL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Shape 28"/>
          <p:cNvSpPr/>
          <p:nvPr/>
        </p:nvSpPr>
        <p:spPr>
          <a:xfrm>
            <a:off x="6172200" y="3794760"/>
            <a:ext cx="5486040" cy="2011320"/>
          </a:xfrm>
          <a:prstGeom prst="roundRect">
            <a:avLst>
              <a:gd name="adj" fmla="val 3636"/>
            </a:avLst>
          </a:prstGeom>
          <a:solidFill>
            <a:srgbClr val="EAF3F8"/>
          </a:solidFill>
          <a:ln w="12700">
            <a:solidFill>
              <a:srgbClr val="DCEAF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8" name="Text 29"/>
          <p:cNvSpPr/>
          <p:nvPr/>
        </p:nvSpPr>
        <p:spPr>
          <a:xfrm>
            <a:off x="6446520" y="3977640"/>
            <a:ext cx="49374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pc="99" strike="noStrike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OUTPUT FORMATS</a:t>
            </a:r>
            <a:endParaRPr lang="nl-NL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Shape 30"/>
          <p:cNvSpPr/>
          <p:nvPr/>
        </p:nvSpPr>
        <p:spPr>
          <a:xfrm>
            <a:off x="6446520" y="4370760"/>
            <a:ext cx="1737000" cy="502560"/>
          </a:xfrm>
          <a:prstGeom prst="roundRect">
            <a:avLst>
              <a:gd name="adj" fmla="val 10909"/>
            </a:avLst>
          </a:prstGeom>
          <a:solidFill>
            <a:srgbClr val="97BC62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 31"/>
          <p:cNvSpPr/>
          <p:nvPr/>
        </p:nvSpPr>
        <p:spPr>
          <a:xfrm>
            <a:off x="6446520" y="4370760"/>
            <a:ext cx="17370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7500A"/>
                </a:solidFill>
                <a:effectLst/>
                <a:uFillTx/>
                <a:latin typeface="Calibri"/>
                <a:ea typeface="Calibri"/>
              </a:rPr>
              <a:t>Markdown (default)</a:t>
            </a:r>
            <a:endParaRPr lang="nl-NL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Shape 32"/>
          <p:cNvSpPr/>
          <p:nvPr/>
        </p:nvSpPr>
        <p:spPr>
          <a:xfrm>
            <a:off x="8366760" y="4370760"/>
            <a:ext cx="1462680" cy="456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97BC6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Text 33"/>
          <p:cNvSpPr/>
          <p:nvPr/>
        </p:nvSpPr>
        <p:spPr>
          <a:xfrm>
            <a:off x="8366760" y="4370760"/>
            <a:ext cx="14626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27500A"/>
                </a:solidFill>
                <a:effectLst/>
                <a:uFillTx/>
                <a:latin typeface="Calibri"/>
                <a:ea typeface="Calibri"/>
              </a:rPr>
              <a:t>Word</a:t>
            </a:r>
            <a:endParaRPr lang="nl-NL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Shape 34"/>
          <p:cNvSpPr/>
          <p:nvPr/>
        </p:nvSpPr>
        <p:spPr>
          <a:xfrm>
            <a:off x="9966960" y="4370760"/>
            <a:ext cx="1462680" cy="456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97BC6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Text 35"/>
          <p:cNvSpPr/>
          <p:nvPr/>
        </p:nvSpPr>
        <p:spPr>
          <a:xfrm>
            <a:off x="9966960" y="4370760"/>
            <a:ext cx="14626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27500A"/>
                </a:solidFill>
                <a:effectLst/>
                <a:uFillTx/>
                <a:latin typeface="Calibri"/>
                <a:ea typeface="Calibri"/>
              </a:rPr>
              <a:t>PDF</a:t>
            </a:r>
            <a:endParaRPr lang="nl-NL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Shape 36"/>
          <p:cNvSpPr/>
          <p:nvPr/>
        </p:nvSpPr>
        <p:spPr>
          <a:xfrm>
            <a:off x="8366760" y="4937760"/>
            <a:ext cx="1462680" cy="456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97BC6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Text 37"/>
          <p:cNvSpPr/>
          <p:nvPr/>
        </p:nvSpPr>
        <p:spPr>
          <a:xfrm>
            <a:off x="8366760" y="4937760"/>
            <a:ext cx="14626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27500A"/>
                </a:solidFill>
                <a:effectLst/>
                <a:uFillTx/>
                <a:latin typeface="Calibri"/>
                <a:ea typeface="Calibri"/>
              </a:rPr>
              <a:t>HTML</a:t>
            </a:r>
            <a:endParaRPr lang="nl-NL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Shape 38"/>
          <p:cNvSpPr/>
          <p:nvPr/>
        </p:nvSpPr>
        <p:spPr>
          <a:xfrm>
            <a:off x="9966960" y="4937760"/>
            <a:ext cx="1462680" cy="456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97BC6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Text 39"/>
          <p:cNvSpPr/>
          <p:nvPr/>
        </p:nvSpPr>
        <p:spPr>
          <a:xfrm>
            <a:off x="9966960" y="4937760"/>
            <a:ext cx="14626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27500A"/>
                </a:solidFill>
                <a:effectLst/>
                <a:uFillTx/>
                <a:latin typeface="Calibri"/>
                <a:ea typeface="Calibri"/>
              </a:rPr>
              <a:t>Wiki page</a:t>
            </a:r>
            <a:endParaRPr lang="nl-NL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Text 40"/>
          <p:cNvSpPr/>
          <p:nvPr/>
        </p:nvSpPr>
        <p:spPr>
          <a:xfrm>
            <a:off x="6446520" y="5440680"/>
            <a:ext cx="49374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199"/>
              </a:lnSpc>
              <a:tabLst>
                <a:tab pos="0" algn="l"/>
              </a:tabLst>
            </a:pPr>
            <a:r>
              <a:rPr lang="en-US" sz="950" b="0" i="1" u="none" strike="noStrike">
                <a:solidFill>
                  <a:srgbClr val="5B6B75"/>
                </a:solidFill>
                <a:effectLst/>
                <a:uFillTx/>
                <a:latin typeface="Calibri"/>
                <a:ea typeface="Calibri"/>
              </a:rPr>
              <a:t>We create a high-level overview of the software in max. 2–7 pages, covering how the application works and what its functionality is.</a:t>
            </a:r>
            <a:endParaRPr lang="nl-NL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Text 41"/>
          <p:cNvSpPr/>
          <p:nvPr/>
        </p:nvSpPr>
        <p:spPr>
          <a:xfrm>
            <a:off x="548640" y="640080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5B6B75"/>
                </a:solidFill>
                <a:effectLst/>
                <a:uFillTx/>
                <a:latin typeface="Calibri"/>
                <a:ea typeface="Calibri"/>
              </a:rPr>
              <a:t>Functional Guide Generator · System Design</a:t>
            </a:r>
            <a:endParaRPr lang="nl-NL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Text 42"/>
          <p:cNvSpPr/>
          <p:nvPr/>
        </p:nvSpPr>
        <p:spPr>
          <a:xfrm>
            <a:off x="11003040" y="6400800"/>
            <a:ext cx="914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5B6B75"/>
                </a:solidFill>
                <a:effectLst/>
                <a:uFillTx/>
                <a:latin typeface="Calibri"/>
                <a:ea typeface="Calibri"/>
              </a:rPr>
              <a:t>07 / 18</a:t>
            </a:r>
            <a:endParaRPr lang="nl-NL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Text 0"/>
          <p:cNvSpPr/>
          <p:nvPr/>
        </p:nvSpPr>
        <p:spPr>
          <a:xfrm>
            <a:off x="548640" y="384120"/>
            <a:ext cx="73148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03 · DATA FLOW</a:t>
            </a:r>
            <a:endParaRPr lang="nl-NL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Text 1"/>
          <p:cNvSpPr/>
          <p:nvPr/>
        </p:nvSpPr>
        <p:spPr>
          <a:xfrm>
            <a:off x="548640" y="685800"/>
            <a:ext cx="105152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21295C"/>
                </a:solidFill>
                <a:effectLst/>
                <a:uFillTx/>
                <a:latin typeface="Cambria"/>
                <a:ea typeface="Cambria"/>
              </a:rPr>
              <a:t>Ingestion &amp; preprocessing</a:t>
            </a:r>
            <a:endParaRPr lang="nl-NL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Shape 2"/>
          <p:cNvSpPr/>
          <p:nvPr/>
        </p:nvSpPr>
        <p:spPr>
          <a:xfrm>
            <a:off x="8595360" y="777240"/>
            <a:ext cx="3062880" cy="383760"/>
          </a:xfrm>
          <a:prstGeom prst="roundRect">
            <a:avLst>
              <a:gd name="adj" fmla="val 50000"/>
            </a:avLst>
          </a:prstGeom>
          <a:solidFill>
            <a:srgbClr val="EAF3F8"/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Text 3"/>
          <p:cNvSpPr/>
          <p:nvPr/>
        </p:nvSpPr>
        <p:spPr>
          <a:xfrm>
            <a:off x="8595360" y="777240"/>
            <a:ext cx="30628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99" strike="noStrike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OFFLINE / ON-DEMAND</a:t>
            </a:r>
            <a:endParaRPr lang="nl-NL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Shape 4"/>
          <p:cNvSpPr/>
          <p:nvPr/>
        </p:nvSpPr>
        <p:spPr>
          <a:xfrm>
            <a:off x="548640" y="1737360"/>
            <a:ext cx="3565800" cy="1599840"/>
          </a:xfrm>
          <a:prstGeom prst="roundRect">
            <a:avLst>
              <a:gd name="adj" fmla="val 4000"/>
            </a:avLst>
          </a:prstGeom>
          <a:solidFill>
            <a:srgbClr val="065A82"/>
          </a:solidFill>
          <a:ln w="12700">
            <a:solidFill>
              <a:srgbClr val="DCEAF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" name="Text 5"/>
          <p:cNvSpPr/>
          <p:nvPr/>
        </p:nvSpPr>
        <p:spPr>
          <a:xfrm>
            <a:off x="713160" y="1847160"/>
            <a:ext cx="456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E8A33D"/>
                </a:solidFill>
                <a:effectLst/>
                <a:uFillTx/>
                <a:latin typeface="Cambria"/>
                <a:ea typeface="Cambria"/>
              </a:rPr>
              <a:t>1</a:t>
            </a:r>
            <a:endParaRPr lang="nl-NL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Text 6"/>
          <p:cNvSpPr/>
          <p:nvPr/>
        </p:nvSpPr>
        <p:spPr>
          <a:xfrm>
            <a:off x="713160" y="2194560"/>
            <a:ext cx="32367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Read input</a:t>
            </a:r>
            <a:endParaRPr lang="nl-NL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Text 7"/>
          <p:cNvSpPr/>
          <p:nvPr/>
        </p:nvSpPr>
        <p:spPr>
          <a:xfrm>
            <a:off x="713160" y="2578680"/>
            <a:ext cx="323676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349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EAF3F8"/>
                </a:solidFill>
                <a:effectLst/>
                <a:uFillTx/>
                <a:latin typeface="Calibri"/>
                <a:ea typeface="Calibri"/>
              </a:rPr>
              <a:t>Read the input from a CSV file from the agile board for the application (Jira, Azure DevOps).</a:t>
            </a:r>
            <a:endParaRPr lang="nl-NL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Shape 8"/>
          <p:cNvSpPr/>
          <p:nvPr/>
        </p:nvSpPr>
        <p:spPr>
          <a:xfrm>
            <a:off x="4297680" y="1737360"/>
            <a:ext cx="3565800" cy="1599840"/>
          </a:xfrm>
          <a:prstGeom prst="roundRect">
            <a:avLst>
              <a:gd name="adj" fmla="val 4000"/>
            </a:avLst>
          </a:prstGeom>
          <a:solidFill>
            <a:srgbClr val="065A82"/>
          </a:solidFill>
          <a:ln w="12700">
            <a:solidFill>
              <a:srgbClr val="DCEAF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" name="Text 9"/>
          <p:cNvSpPr/>
          <p:nvPr/>
        </p:nvSpPr>
        <p:spPr>
          <a:xfrm>
            <a:off x="4462200" y="1847160"/>
            <a:ext cx="456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E8A33D"/>
                </a:solidFill>
                <a:effectLst/>
                <a:uFillTx/>
                <a:latin typeface="Cambria"/>
                <a:ea typeface="Cambria"/>
              </a:rPr>
              <a:t>2</a:t>
            </a:r>
            <a:endParaRPr lang="nl-NL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Text 10"/>
          <p:cNvSpPr/>
          <p:nvPr/>
        </p:nvSpPr>
        <p:spPr>
          <a:xfrm>
            <a:off x="4462200" y="2194560"/>
            <a:ext cx="32367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Clean &amp; validate</a:t>
            </a:r>
            <a:endParaRPr lang="nl-NL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Text 11"/>
          <p:cNvSpPr/>
          <p:nvPr/>
        </p:nvSpPr>
        <p:spPr>
          <a:xfrm>
            <a:off x="4462200" y="2578680"/>
            <a:ext cx="323676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349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EAF3F8"/>
                </a:solidFill>
                <a:effectLst/>
                <a:uFillTx/>
                <a:latin typeface="Calibri"/>
                <a:ea typeface="Calibri"/>
              </a:rPr>
              <a:t>Cleans text and validates the input data (e.g. checks if all data is filled in); optionally, also validates the agile item description.</a:t>
            </a:r>
            <a:endParaRPr lang="nl-NL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Shape 12"/>
          <p:cNvSpPr/>
          <p:nvPr/>
        </p:nvSpPr>
        <p:spPr>
          <a:xfrm>
            <a:off x="8046720" y="1737360"/>
            <a:ext cx="3565800" cy="1599840"/>
          </a:xfrm>
          <a:prstGeom prst="roundRect">
            <a:avLst>
              <a:gd name="adj" fmla="val 4000"/>
            </a:avLst>
          </a:prstGeom>
          <a:solidFill>
            <a:srgbClr val="065A82"/>
          </a:solidFill>
          <a:ln w="12700">
            <a:solidFill>
              <a:srgbClr val="DCEAF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" name="Text 13"/>
          <p:cNvSpPr/>
          <p:nvPr/>
        </p:nvSpPr>
        <p:spPr>
          <a:xfrm>
            <a:off x="8211240" y="1847160"/>
            <a:ext cx="456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E8A33D"/>
                </a:solidFill>
                <a:effectLst/>
                <a:uFillTx/>
                <a:latin typeface="Cambria"/>
                <a:ea typeface="Cambria"/>
              </a:rPr>
              <a:t>3</a:t>
            </a:r>
            <a:endParaRPr lang="nl-NL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Text 14"/>
          <p:cNvSpPr/>
          <p:nvPr/>
        </p:nvSpPr>
        <p:spPr>
          <a:xfrm>
            <a:off x="8211240" y="2194560"/>
            <a:ext cx="32367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Chunk</a:t>
            </a:r>
            <a:endParaRPr lang="nl-NL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Text 15"/>
          <p:cNvSpPr/>
          <p:nvPr/>
        </p:nvSpPr>
        <p:spPr>
          <a:xfrm>
            <a:off x="8211240" y="2578680"/>
            <a:ext cx="323676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349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EAF3F8"/>
                </a:solidFill>
                <a:effectLst/>
                <a:uFillTx/>
                <a:latin typeface="Calibri"/>
                <a:ea typeface="Calibri"/>
              </a:rPr>
              <a:t>Chunks of 400–600 tokens; a chunk contains only stories of one feature; a user story is never split; every chunk holds only one agile item type.</a:t>
            </a:r>
            <a:endParaRPr lang="nl-NL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Shape 16"/>
          <p:cNvSpPr/>
          <p:nvPr/>
        </p:nvSpPr>
        <p:spPr>
          <a:xfrm>
            <a:off x="548640" y="3520440"/>
            <a:ext cx="3565800" cy="1599840"/>
          </a:xfrm>
          <a:prstGeom prst="roundRect">
            <a:avLst>
              <a:gd name="adj" fmla="val 4000"/>
            </a:avLst>
          </a:prstGeom>
          <a:solidFill>
            <a:srgbClr val="EAF3F8"/>
          </a:solidFill>
          <a:ln w="12700">
            <a:solidFill>
              <a:srgbClr val="DCEAF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Text 17"/>
          <p:cNvSpPr/>
          <p:nvPr/>
        </p:nvSpPr>
        <p:spPr>
          <a:xfrm>
            <a:off x="713160" y="3630240"/>
            <a:ext cx="456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C7293"/>
                </a:solidFill>
                <a:effectLst/>
                <a:uFillTx/>
                <a:latin typeface="Cambria"/>
                <a:ea typeface="Cambria"/>
              </a:rPr>
              <a:t>4</a:t>
            </a:r>
            <a:endParaRPr lang="nl-NL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Text 18"/>
          <p:cNvSpPr/>
          <p:nvPr/>
        </p:nvSpPr>
        <p:spPr>
          <a:xfrm>
            <a:off x="713160" y="3977640"/>
            <a:ext cx="32367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21295C"/>
                </a:solidFill>
                <a:effectLst/>
                <a:uFillTx/>
                <a:latin typeface="Cambria"/>
                <a:ea typeface="Cambria"/>
              </a:rPr>
              <a:t>Vector store fields</a:t>
            </a:r>
            <a:endParaRPr lang="nl-NL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Text 19"/>
          <p:cNvSpPr/>
          <p:nvPr/>
        </p:nvSpPr>
        <p:spPr>
          <a:xfrm>
            <a:off x="713160" y="4361760"/>
            <a:ext cx="323676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349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0C2233"/>
                </a:solidFill>
                <a:effectLst/>
                <a:uFillTx/>
                <a:latin typeface="Calibri"/>
                <a:ea typeface="Calibri"/>
              </a:rPr>
              <a:t>Vector store holds only title and free-text fields (description, acceptance criteria).</a:t>
            </a:r>
            <a:endParaRPr lang="nl-NL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Shape 20"/>
          <p:cNvSpPr/>
          <p:nvPr/>
        </p:nvSpPr>
        <p:spPr>
          <a:xfrm>
            <a:off x="4297680" y="3520440"/>
            <a:ext cx="3565800" cy="1599840"/>
          </a:xfrm>
          <a:prstGeom prst="roundRect">
            <a:avLst>
              <a:gd name="adj" fmla="val 4000"/>
            </a:avLst>
          </a:prstGeom>
          <a:solidFill>
            <a:srgbClr val="EAF3F8"/>
          </a:solidFill>
          <a:ln w="12700">
            <a:solidFill>
              <a:srgbClr val="DCEAF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Text 21"/>
          <p:cNvSpPr/>
          <p:nvPr/>
        </p:nvSpPr>
        <p:spPr>
          <a:xfrm>
            <a:off x="4462200" y="3630240"/>
            <a:ext cx="456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C7293"/>
                </a:solidFill>
                <a:effectLst/>
                <a:uFillTx/>
                <a:latin typeface="Cambria"/>
                <a:ea typeface="Cambria"/>
              </a:rPr>
              <a:t>5</a:t>
            </a:r>
            <a:endParaRPr lang="nl-NL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Text 22"/>
          <p:cNvSpPr/>
          <p:nvPr/>
        </p:nvSpPr>
        <p:spPr>
          <a:xfrm>
            <a:off x="4462200" y="3977640"/>
            <a:ext cx="32367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21295C"/>
                </a:solidFill>
                <a:effectLst/>
                <a:uFillTx/>
                <a:latin typeface="Cambria"/>
                <a:ea typeface="Cambria"/>
              </a:rPr>
              <a:t>Metadata</a:t>
            </a:r>
            <a:endParaRPr lang="nl-NL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Text 23"/>
          <p:cNvSpPr/>
          <p:nvPr/>
        </p:nvSpPr>
        <p:spPr>
          <a:xfrm>
            <a:off x="4462200" y="4361760"/>
            <a:ext cx="323676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349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0C2233"/>
                </a:solidFill>
                <a:effectLst/>
                <a:uFillTx/>
                <a:latin typeface="Calibri"/>
                <a:ea typeface="Calibri"/>
              </a:rPr>
              <a:t>Holds the relevant agile data: source type, date created, board ID, parent feature/epic ID, related stories with relation type.</a:t>
            </a:r>
            <a:endParaRPr lang="nl-NL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Shape 24"/>
          <p:cNvSpPr/>
          <p:nvPr/>
        </p:nvSpPr>
        <p:spPr>
          <a:xfrm>
            <a:off x="8046720" y="3520440"/>
            <a:ext cx="3565800" cy="1599840"/>
          </a:xfrm>
          <a:prstGeom prst="roundRect">
            <a:avLst>
              <a:gd name="adj" fmla="val 4000"/>
            </a:avLst>
          </a:prstGeom>
          <a:solidFill>
            <a:srgbClr val="EAF3F8"/>
          </a:solidFill>
          <a:ln w="12700">
            <a:solidFill>
              <a:srgbClr val="DCEAF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Text 25"/>
          <p:cNvSpPr/>
          <p:nvPr/>
        </p:nvSpPr>
        <p:spPr>
          <a:xfrm>
            <a:off x="8211240" y="3630240"/>
            <a:ext cx="456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C7293"/>
                </a:solidFill>
                <a:effectLst/>
                <a:uFillTx/>
                <a:latin typeface="Cambria"/>
                <a:ea typeface="Cambria"/>
              </a:rPr>
              <a:t>6</a:t>
            </a:r>
            <a:endParaRPr lang="nl-NL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Text 26"/>
          <p:cNvSpPr/>
          <p:nvPr/>
        </p:nvSpPr>
        <p:spPr>
          <a:xfrm>
            <a:off x="8211240" y="3977640"/>
            <a:ext cx="32367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21295C"/>
                </a:solidFill>
                <a:effectLst/>
                <a:uFillTx/>
                <a:latin typeface="Cambria"/>
                <a:ea typeface="Cambria"/>
              </a:rPr>
              <a:t>Embed</a:t>
            </a:r>
            <a:endParaRPr lang="nl-NL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Text 27"/>
          <p:cNvSpPr/>
          <p:nvPr/>
        </p:nvSpPr>
        <p:spPr>
          <a:xfrm>
            <a:off x="8211240" y="4361760"/>
            <a:ext cx="323676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349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0C2233"/>
                </a:solidFill>
                <a:effectLst/>
                <a:uFillTx/>
                <a:latin typeface="Calibri"/>
                <a:ea typeface="Calibri"/>
              </a:rPr>
              <a:t>Each chunk is encoded by the Embedding Model into a vector and stored in the Vector Store alongside its metadata.</a:t>
            </a:r>
            <a:endParaRPr lang="nl-NL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 28"/>
          <p:cNvSpPr/>
          <p:nvPr/>
        </p:nvSpPr>
        <p:spPr>
          <a:xfrm>
            <a:off x="548640" y="640080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5B6B75"/>
                </a:solidFill>
                <a:effectLst/>
                <a:uFillTx/>
                <a:latin typeface="Calibri"/>
                <a:ea typeface="Calibri"/>
              </a:rPr>
              <a:t>Functional Guide Generator · System Design</a:t>
            </a:r>
            <a:endParaRPr lang="nl-NL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Text 29"/>
          <p:cNvSpPr/>
          <p:nvPr/>
        </p:nvSpPr>
        <p:spPr>
          <a:xfrm>
            <a:off x="11003040" y="6400800"/>
            <a:ext cx="914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5B6B75"/>
                </a:solidFill>
                <a:effectLst/>
                <a:uFillTx/>
                <a:latin typeface="Calibri"/>
                <a:ea typeface="Calibri"/>
              </a:rPr>
              <a:t>08 / 18</a:t>
            </a:r>
            <a:endParaRPr lang="nl-NL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Text 0"/>
          <p:cNvSpPr/>
          <p:nvPr/>
        </p:nvSpPr>
        <p:spPr>
          <a:xfrm>
            <a:off x="548640" y="384120"/>
            <a:ext cx="73148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03 · DATA FLOW</a:t>
            </a:r>
            <a:endParaRPr lang="nl-NL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Text 1"/>
          <p:cNvSpPr/>
          <p:nvPr/>
        </p:nvSpPr>
        <p:spPr>
          <a:xfrm>
            <a:off x="548640" y="685800"/>
            <a:ext cx="105152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21295C"/>
                </a:solidFill>
                <a:effectLst/>
                <a:uFillTx/>
                <a:latin typeface="Cambria"/>
                <a:ea typeface="Cambria"/>
              </a:rPr>
              <a:t>Retrieval, generation &amp; evaluation</a:t>
            </a:r>
            <a:endParaRPr lang="nl-NL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Shape 2"/>
          <p:cNvSpPr/>
          <p:nvPr/>
        </p:nvSpPr>
        <p:spPr>
          <a:xfrm>
            <a:off x="8595360" y="777240"/>
            <a:ext cx="3062880" cy="383760"/>
          </a:xfrm>
          <a:prstGeom prst="roundRect">
            <a:avLst>
              <a:gd name="adj" fmla="val 50000"/>
            </a:avLst>
          </a:prstGeom>
          <a:solidFill>
            <a:srgbClr val="EAF3F8"/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Text 3"/>
          <p:cNvSpPr/>
          <p:nvPr/>
        </p:nvSpPr>
        <p:spPr>
          <a:xfrm>
            <a:off x="8595360" y="777240"/>
            <a:ext cx="30628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99" strike="noStrike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ONLINE / PER REQUEST</a:t>
            </a:r>
            <a:endParaRPr lang="nl-NL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00" name="Shape Circle1"/>
          <p:cNvSpPr/>
          <p:nvPr/>
        </p:nvSpPr>
        <p:spPr>
          <a:xfrm>
            <a:off x="548640" y="1810440"/>
            <a:ext cx="383760" cy="383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01" name="Text Num1"/>
          <p:cNvSpPr/>
          <p:nvPr/>
        </p:nvSpPr>
        <p:spPr>
          <a:xfrm>
            <a:off x="548640" y="181044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nl-NL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02" name="Text Desc1"/>
          <p:cNvSpPr/>
          <p:nvPr/>
        </p:nvSpPr>
        <p:spPr>
          <a:xfrm>
            <a:off x="1097280" y="1783080"/>
            <a:ext cx="10423800" cy="50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451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0C2233"/>
                </a:solidFill>
                <a:effectLst/>
                <a:uFillTx/>
                <a:latin typeface="Calibri"/>
                <a:ea typeface="Calibri"/>
              </a:rPr>
              <a:t>Configuration is done manually for the target output (or document structure) and its output sections (or chapters), each with a template.</a:t>
            </a:r>
            <a:endParaRPr lang="nl-NL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03" name="Shape Circle2"/>
          <p:cNvSpPr/>
          <p:nvPr/>
        </p:nvSpPr>
        <p:spPr>
          <a:xfrm>
            <a:off x="548640" y="2325440"/>
            <a:ext cx="383760" cy="383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04" name="Text Num2"/>
          <p:cNvSpPr/>
          <p:nvPr/>
        </p:nvSpPr>
        <p:spPr>
          <a:xfrm>
            <a:off x="548640" y="232544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nl-NL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05" name="Text Desc2"/>
          <p:cNvSpPr/>
          <p:nvPr/>
        </p:nvSpPr>
        <p:spPr>
          <a:xfrm>
            <a:off x="1097280" y="2298080"/>
            <a:ext cx="10423800" cy="50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451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0C2233"/>
                </a:solidFill>
                <a:effectLst/>
                <a:uFillTx/>
                <a:latin typeface="Calibri"/>
                <a:ea typeface="Calibri"/>
              </a:rPr>
              <a:t>The input request is passed to the Prompt Engine.</a:t>
            </a:r>
            <a:endParaRPr lang="nl-NL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06" name="Shape Circle3"/>
          <p:cNvSpPr/>
          <p:nvPr/>
        </p:nvSpPr>
        <p:spPr>
          <a:xfrm>
            <a:off x="548640" y="2840440"/>
            <a:ext cx="383760" cy="383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07" name="Text Num3"/>
          <p:cNvSpPr/>
          <p:nvPr/>
        </p:nvSpPr>
        <p:spPr>
          <a:xfrm>
            <a:off x="548640" y="284044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nl-NL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08" name="Text Desc3"/>
          <p:cNvSpPr/>
          <p:nvPr/>
        </p:nvSpPr>
        <p:spPr>
          <a:xfrm>
            <a:off x="1097280" y="2813080"/>
            <a:ext cx="10423800" cy="50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451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0C2233"/>
                </a:solidFill>
                <a:effectLst/>
                <a:uFillTx/>
                <a:latin typeface="Calibri"/>
                <a:ea typeface="Calibri"/>
              </a:rPr>
              <a:t>The Prompt Engine formulates a retrieval query for each output section, with possible query improvements: decomposition, context scoring.</a:t>
            </a:r>
            <a:endParaRPr lang="nl-NL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09" name="Shape Circle4"/>
          <p:cNvSpPr/>
          <p:nvPr/>
        </p:nvSpPr>
        <p:spPr>
          <a:xfrm>
            <a:off x="548640" y="3355440"/>
            <a:ext cx="383760" cy="383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10" name="Text Num4"/>
          <p:cNvSpPr/>
          <p:nvPr/>
        </p:nvSpPr>
        <p:spPr>
          <a:xfrm>
            <a:off x="548640" y="335544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4</a:t>
            </a:r>
            <a:endParaRPr lang="nl-NL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11" name="Text Desc4"/>
          <p:cNvSpPr/>
          <p:nvPr/>
        </p:nvSpPr>
        <p:spPr>
          <a:xfrm>
            <a:off x="1097280" y="3328080"/>
            <a:ext cx="10423800" cy="50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451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0C2233"/>
                </a:solidFill>
                <a:effectLst/>
                <a:uFillTx/>
                <a:latin typeface="Calibri"/>
                <a:ea typeface="Calibri"/>
              </a:rPr>
              <a:t>Top-k relevant chunks are fetched via semantic or similarity search.</a:t>
            </a:r>
            <a:endParaRPr lang="nl-NL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12" name="Shape Circle5"/>
          <p:cNvSpPr/>
          <p:nvPr/>
        </p:nvSpPr>
        <p:spPr>
          <a:xfrm>
            <a:off x="548640" y="3870440"/>
            <a:ext cx="383760" cy="383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13" name="Text Num5"/>
          <p:cNvSpPr/>
          <p:nvPr/>
        </p:nvSpPr>
        <p:spPr>
          <a:xfrm>
            <a:off x="548640" y="387044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5</a:t>
            </a:r>
            <a:endParaRPr lang="nl-NL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14" name="Text Desc5"/>
          <p:cNvSpPr/>
          <p:nvPr/>
        </p:nvSpPr>
        <p:spPr>
          <a:xfrm>
            <a:off x="1097280" y="3843080"/>
            <a:ext cx="10423800" cy="50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451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0C2233"/>
                </a:solidFill>
                <a:effectLst/>
                <a:uFillTx/>
                <a:latin typeface="Calibri"/>
                <a:ea typeface="Calibri"/>
              </a:rPr>
              <a:t>Retrieved chunks plus a structured prompt template are forwarded to the LLM, which generates and writes the section in plain language.</a:t>
            </a:r>
            <a:endParaRPr lang="nl-NL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15" name="Shape Circle6"/>
          <p:cNvSpPr/>
          <p:nvPr/>
        </p:nvSpPr>
        <p:spPr>
          <a:xfrm>
            <a:off x="548640" y="4385440"/>
            <a:ext cx="383760" cy="383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16" name="Text Num6"/>
          <p:cNvSpPr/>
          <p:nvPr/>
        </p:nvSpPr>
        <p:spPr>
          <a:xfrm>
            <a:off x="548640" y="438544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6</a:t>
            </a:r>
            <a:endParaRPr lang="nl-NL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17" name="Text Desc6"/>
          <p:cNvSpPr/>
          <p:nvPr/>
        </p:nvSpPr>
        <p:spPr>
          <a:xfrm>
            <a:off x="1097280" y="4358080"/>
            <a:ext cx="10423800" cy="50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451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0C2233"/>
                </a:solidFill>
                <a:effectLst/>
                <a:uFillTx/>
                <a:latin typeface="Calibri"/>
                <a:ea typeface="Calibri"/>
              </a:rPr>
              <a:t>Evaluation Module scores each generated section; sections below a threshold are flagged for review.</a:t>
            </a:r>
            <a:endParaRPr lang="nl-NL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18" name="Shape Circle7"/>
          <p:cNvSpPr/>
          <p:nvPr/>
        </p:nvSpPr>
        <p:spPr>
          <a:xfrm>
            <a:off x="548640" y="4900440"/>
            <a:ext cx="383760" cy="383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19" name="Text Num7"/>
          <p:cNvSpPr/>
          <p:nvPr/>
        </p:nvSpPr>
        <p:spPr>
          <a:xfrm>
            <a:off x="548640" y="490044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7</a:t>
            </a:r>
            <a:endParaRPr lang="nl-NL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20" name="Text Desc7"/>
          <p:cNvSpPr/>
          <p:nvPr/>
        </p:nvSpPr>
        <p:spPr>
          <a:xfrm>
            <a:off x="1097280" y="4873080"/>
            <a:ext cx="10423800" cy="50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451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0C2233"/>
                </a:solidFill>
                <a:effectLst/>
                <a:uFillTx/>
                <a:latin typeface="Calibri"/>
                <a:ea typeface="Calibri"/>
              </a:rPr>
              <a:t>An outline pass checks every section fits the overall document structure, before the complete document is generated.</a:t>
            </a:r>
            <a:endParaRPr lang="nl-NL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21" name="Shape Circle8"/>
          <p:cNvSpPr/>
          <p:nvPr/>
        </p:nvSpPr>
        <p:spPr>
          <a:xfrm>
            <a:off x="548640" y="5415440"/>
            <a:ext cx="383760" cy="383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22" name="Text Num8"/>
          <p:cNvSpPr/>
          <p:nvPr/>
        </p:nvSpPr>
        <p:spPr>
          <a:xfrm>
            <a:off x="548640" y="541544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8</a:t>
            </a:r>
            <a:endParaRPr lang="nl-NL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23" name="Text Desc8"/>
          <p:cNvSpPr/>
          <p:nvPr/>
        </p:nvSpPr>
        <p:spPr>
          <a:xfrm>
            <a:off x="1097280" y="5388080"/>
            <a:ext cx="10423800" cy="50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451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0C2233"/>
                </a:solidFill>
                <a:effectLst/>
                <a:uFillTx/>
                <a:latin typeface="Calibri"/>
                <a:ea typeface="Calibri"/>
              </a:rPr>
              <a:t>Human evaluation is performed at the end.</a:t>
            </a:r>
            <a:endParaRPr lang="nl-NL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24" name="Shape Circle9"/>
          <p:cNvSpPr/>
          <p:nvPr/>
        </p:nvSpPr>
        <p:spPr>
          <a:xfrm>
            <a:off x="548640" y="5930440"/>
            <a:ext cx="383760" cy="383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25" name="Text Num9"/>
          <p:cNvSpPr/>
          <p:nvPr/>
        </p:nvSpPr>
        <p:spPr>
          <a:xfrm>
            <a:off x="548640" y="593044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9</a:t>
            </a:r>
            <a:endParaRPr lang="nl-NL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26" name="Text Desc9"/>
          <p:cNvSpPr/>
          <p:nvPr/>
        </p:nvSpPr>
        <p:spPr>
          <a:xfrm>
            <a:off x="1097280" y="5903080"/>
            <a:ext cx="10423800" cy="50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451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0C2233"/>
                </a:solidFill>
                <a:effectLst/>
                <a:uFillTx/>
                <a:latin typeface="Calibri"/>
                <a:ea typeface="Calibri"/>
              </a:rPr>
              <a:t>The document is returned in Markdown; post-processing creates Word, PDF, HTML, or wiki page.</a:t>
            </a:r>
            <a:endParaRPr lang="nl-NL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Text 28"/>
          <p:cNvSpPr/>
          <p:nvPr/>
        </p:nvSpPr>
        <p:spPr>
          <a:xfrm>
            <a:off x="548640" y="640080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5B6B75"/>
                </a:solidFill>
                <a:effectLst/>
                <a:uFillTx/>
                <a:latin typeface="Calibri"/>
                <a:ea typeface="Calibri"/>
              </a:rPr>
              <a:t>Functional Guide Generator · System Design</a:t>
            </a:r>
            <a:endParaRPr lang="nl-NL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Text 29"/>
          <p:cNvSpPr/>
          <p:nvPr/>
        </p:nvSpPr>
        <p:spPr>
          <a:xfrm>
            <a:off x="11003040" y="6400800"/>
            <a:ext cx="914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5B6B75"/>
                </a:solidFill>
                <a:effectLst/>
                <a:uFillTx/>
                <a:latin typeface="Calibri"/>
                <a:ea typeface="Calibri"/>
              </a:rPr>
              <a:t>09 / 18</a:t>
            </a:r>
            <a:endParaRPr lang="nl-NL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Text 0"/>
          <p:cNvSpPr/>
          <p:nvPr/>
        </p:nvSpPr>
        <p:spPr>
          <a:xfrm>
            <a:off x="548640" y="384120"/>
            <a:ext cx="73148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04 · MODEL &amp; TOOL CHOICES</a:t>
            </a:r>
            <a:endParaRPr lang="nl-NL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Text 1"/>
          <p:cNvSpPr/>
          <p:nvPr/>
        </p:nvSpPr>
        <p:spPr>
          <a:xfrm>
            <a:off x="548640" y="685800"/>
            <a:ext cx="105152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21295C"/>
                </a:solidFill>
                <a:effectLst/>
                <a:uFillTx/>
                <a:latin typeface="Cambria"/>
                <a:ea typeface="Cambria"/>
              </a:rPr>
              <a:t>Model &amp; tool choices</a:t>
            </a:r>
            <a:endParaRPr lang="nl-NL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Shape 2"/>
          <p:cNvSpPr/>
          <p:nvPr/>
        </p:nvSpPr>
        <p:spPr>
          <a:xfrm>
            <a:off x="548640" y="1691640"/>
            <a:ext cx="11063880" cy="456840"/>
          </a:xfrm>
          <a:prstGeom prst="rect">
            <a:avLst/>
          </a:prstGeom>
          <a:solidFill>
            <a:srgbClr val="21295C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5" name="Text 3"/>
          <p:cNvSpPr/>
          <p:nvPr/>
        </p:nvSpPr>
        <p:spPr>
          <a:xfrm>
            <a:off x="658440" y="1691640"/>
            <a:ext cx="17370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Concern</a:t>
            </a:r>
            <a:endParaRPr lang="nl-NL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 4"/>
          <p:cNvSpPr/>
          <p:nvPr/>
        </p:nvSpPr>
        <p:spPr>
          <a:xfrm>
            <a:off x="2578680" y="1691640"/>
            <a:ext cx="19198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Choice</a:t>
            </a:r>
            <a:endParaRPr lang="nl-NL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Text 5"/>
          <p:cNvSpPr/>
          <p:nvPr/>
        </p:nvSpPr>
        <p:spPr>
          <a:xfrm>
            <a:off x="4681800" y="1691640"/>
            <a:ext cx="39315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Rationale</a:t>
            </a:r>
            <a:endParaRPr lang="nl-NL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Text 6"/>
          <p:cNvSpPr/>
          <p:nvPr/>
        </p:nvSpPr>
        <p:spPr>
          <a:xfrm>
            <a:off x="8796600" y="1691640"/>
            <a:ext cx="2742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Alternative considered</a:t>
            </a:r>
            <a:endParaRPr lang="nl-NL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Shape 7"/>
          <p:cNvSpPr/>
          <p:nvPr/>
        </p:nvSpPr>
        <p:spPr>
          <a:xfrm>
            <a:off x="548640" y="2148840"/>
            <a:ext cx="11063880" cy="6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AF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Text 8"/>
          <p:cNvSpPr/>
          <p:nvPr/>
        </p:nvSpPr>
        <p:spPr>
          <a:xfrm>
            <a:off x="658440" y="2148840"/>
            <a:ext cx="1718640" cy="62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301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0C2233"/>
                </a:solidFill>
                <a:effectLst/>
                <a:uFillTx/>
                <a:latin typeface="Calibri"/>
                <a:ea typeface="Calibri"/>
              </a:rPr>
              <a:t>Text generation</a:t>
            </a:r>
            <a:endParaRPr lang="nl-NL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Text 9"/>
          <p:cNvSpPr/>
          <p:nvPr/>
        </p:nvSpPr>
        <p:spPr>
          <a:xfrm>
            <a:off x="2578680" y="2148840"/>
            <a:ext cx="1901520" cy="62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301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065A82"/>
                </a:solidFill>
                <a:effectLst/>
                <a:uFillTx/>
                <a:latin typeface="Calibri"/>
                <a:ea typeface="Calibri"/>
              </a:rPr>
              <a:t>LLM to be chosen</a:t>
            </a:r>
            <a:endParaRPr lang="nl-NL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Text 10"/>
          <p:cNvSpPr/>
          <p:nvPr/>
        </p:nvSpPr>
        <p:spPr>
          <a:xfrm>
            <a:off x="4681800" y="2148840"/>
            <a:ext cx="3913200" cy="62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301"/>
              </a:lnSpc>
            </a:pPr>
            <a:r>
              <a:rPr lang="en-US" sz="1050" b="0" u="none" strike="noStrike">
                <a:solidFill>
                  <a:srgbClr val="0C2233"/>
                </a:solidFill>
                <a:effectLst/>
                <a:uFillTx/>
                <a:latin typeface="Calibri"/>
                <a:ea typeface="Calibri"/>
              </a:rPr>
              <a:t>Decide at last moment, comparing cost &amp; quality (good summarization).</a:t>
            </a:r>
            <a:endParaRPr lang="nl-NL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Text 11"/>
          <p:cNvSpPr/>
          <p:nvPr/>
        </p:nvSpPr>
        <p:spPr>
          <a:xfrm>
            <a:off x="8796600" y="2148840"/>
            <a:ext cx="2724480" cy="62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301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0C2233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nl-NL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Shape 12"/>
          <p:cNvSpPr/>
          <p:nvPr/>
        </p:nvSpPr>
        <p:spPr>
          <a:xfrm>
            <a:off x="548640" y="2768840"/>
            <a:ext cx="11063880" cy="620000"/>
          </a:xfrm>
          <a:prstGeom prst="rect">
            <a:avLst/>
          </a:prstGeom>
          <a:solidFill>
            <a:srgbClr val="EAF3F8"/>
          </a:solidFill>
          <a:ln w="9525">
            <a:solidFill>
              <a:srgbClr val="DCEAF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 13"/>
          <p:cNvSpPr/>
          <p:nvPr/>
        </p:nvSpPr>
        <p:spPr>
          <a:xfrm>
            <a:off x="658440" y="2768840"/>
            <a:ext cx="1718640" cy="62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301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0C2233"/>
                </a:solidFill>
                <a:effectLst/>
                <a:uFillTx/>
                <a:latin typeface="Calibri"/>
                <a:ea typeface="Calibri"/>
              </a:rPr>
              <a:t>Embeddings</a:t>
            </a:r>
            <a:endParaRPr lang="nl-NL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Text 14"/>
          <p:cNvSpPr/>
          <p:nvPr/>
        </p:nvSpPr>
        <p:spPr>
          <a:xfrm>
            <a:off x="2578680" y="2768840"/>
            <a:ext cx="1901520" cy="62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301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065A82"/>
                </a:solidFill>
                <a:effectLst/>
                <a:uFillTx/>
                <a:latin typeface="Calibri"/>
                <a:ea typeface="Calibri"/>
              </a:rPr>
              <a:t>text-embedding-3-small</a:t>
            </a:r>
            <a:endParaRPr lang="nl-NL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Text 15"/>
          <p:cNvSpPr/>
          <p:nvPr/>
        </p:nvSpPr>
        <p:spPr>
          <a:xfrm>
            <a:off x="4681800" y="2768840"/>
            <a:ext cx="3913200" cy="62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301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0C2233"/>
                </a:solidFill>
                <a:effectLst/>
                <a:uFillTx/>
                <a:latin typeface="Calibri"/>
                <a:ea typeface="Calibri"/>
              </a:rPr>
              <a:t>Good semantic quality at low cost; 1536-dim vectors</a:t>
            </a:r>
            <a:endParaRPr lang="nl-NL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Text 16"/>
          <p:cNvSpPr/>
          <p:nvPr/>
        </p:nvSpPr>
        <p:spPr>
          <a:xfrm>
            <a:off x="8796600" y="2768840"/>
            <a:ext cx="2724480" cy="62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301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0C2233"/>
                </a:solidFill>
                <a:effectLst/>
                <a:uFillTx/>
                <a:latin typeface="Calibri"/>
                <a:ea typeface="Calibri"/>
              </a:rPr>
              <a:t>Cohere Embed v3 — higher cost, multilingual</a:t>
            </a:r>
            <a:endParaRPr lang="nl-NL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Shape 17"/>
          <p:cNvSpPr/>
          <p:nvPr/>
        </p:nvSpPr>
        <p:spPr>
          <a:xfrm>
            <a:off x="548640" y="3388840"/>
            <a:ext cx="11063880" cy="6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AF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Text 18"/>
          <p:cNvSpPr/>
          <p:nvPr/>
        </p:nvSpPr>
        <p:spPr>
          <a:xfrm>
            <a:off x="658440" y="3388840"/>
            <a:ext cx="1718640" cy="62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301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0C2233"/>
                </a:solidFill>
                <a:effectLst/>
                <a:uFillTx/>
                <a:latin typeface="Calibri"/>
                <a:ea typeface="Calibri"/>
              </a:rPr>
              <a:t>Data store</a:t>
            </a:r>
            <a:endParaRPr lang="nl-NL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Text 19"/>
          <p:cNvSpPr/>
          <p:nvPr/>
        </p:nvSpPr>
        <p:spPr>
          <a:xfrm>
            <a:off x="2578680" y="3388840"/>
            <a:ext cx="1901520" cy="62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301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065A82"/>
                </a:solidFill>
                <a:effectLst/>
                <a:uFillTx/>
                <a:latin typeface="Calibri"/>
                <a:ea typeface="Calibri"/>
              </a:rPr>
              <a:t>Qdrant</a:t>
            </a:r>
            <a:endParaRPr lang="nl-NL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Text 20"/>
          <p:cNvSpPr/>
          <p:nvPr/>
        </p:nvSpPr>
        <p:spPr>
          <a:xfrm>
            <a:off x="4681800" y="3388840"/>
            <a:ext cx="3913200" cy="62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301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0C2233"/>
                </a:solidFill>
                <a:effectLst/>
                <a:uFillTx/>
                <a:latin typeface="Calibri"/>
                <a:ea typeface="Calibri"/>
              </a:rPr>
              <a:t>Similarity search</a:t>
            </a:r>
            <a:endParaRPr lang="nl-NL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Text 21"/>
          <p:cNvSpPr/>
          <p:nvPr/>
        </p:nvSpPr>
        <p:spPr>
          <a:xfrm>
            <a:off x="8796600" y="3388840"/>
            <a:ext cx="2724480" cy="62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301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0C2233"/>
                </a:solidFill>
                <a:effectLst/>
                <a:uFillTx/>
                <a:latin typeface="Calibri"/>
                <a:ea typeface="Calibri"/>
              </a:rPr>
              <a:t>Postgres with PGVector — to store relational data separately</a:t>
            </a:r>
            <a:endParaRPr lang="nl-NL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Shape 22"/>
          <p:cNvSpPr/>
          <p:nvPr/>
        </p:nvSpPr>
        <p:spPr>
          <a:xfrm>
            <a:off x="548640" y="4008840"/>
            <a:ext cx="11063880" cy="620000"/>
          </a:xfrm>
          <a:prstGeom prst="rect">
            <a:avLst/>
          </a:prstGeom>
          <a:solidFill>
            <a:srgbClr val="EAF3F8"/>
          </a:solidFill>
          <a:ln w="9525">
            <a:solidFill>
              <a:srgbClr val="DCEAF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Text 23"/>
          <p:cNvSpPr/>
          <p:nvPr/>
        </p:nvSpPr>
        <p:spPr>
          <a:xfrm>
            <a:off x="658440" y="4008840"/>
            <a:ext cx="1718640" cy="62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301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0C2233"/>
                </a:solidFill>
                <a:effectLst/>
                <a:uFillTx/>
                <a:latin typeface="Calibri"/>
                <a:ea typeface="Calibri"/>
              </a:rPr>
              <a:t>Orchestration</a:t>
            </a:r>
            <a:endParaRPr lang="nl-NL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Text 24"/>
          <p:cNvSpPr/>
          <p:nvPr/>
        </p:nvSpPr>
        <p:spPr>
          <a:xfrm>
            <a:off x="2578680" y="4008840"/>
            <a:ext cx="1901520" cy="62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301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065A82"/>
                </a:solidFill>
                <a:effectLst/>
                <a:uFillTx/>
                <a:latin typeface="Calibri"/>
                <a:ea typeface="Calibri"/>
              </a:rPr>
              <a:t>LangChain LCEL</a:t>
            </a:r>
            <a:endParaRPr lang="nl-NL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Text 25"/>
          <p:cNvSpPr/>
          <p:nvPr/>
        </p:nvSpPr>
        <p:spPr>
          <a:xfrm>
            <a:off x="4681800" y="4008840"/>
            <a:ext cx="3913200" cy="62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301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0C2233"/>
                </a:solidFill>
                <a:effectLst/>
                <a:uFillTx/>
                <a:latin typeface="Calibri"/>
                <a:ea typeface="Calibri"/>
              </a:rPr>
              <a:t>Composable chains; native Qdrant and OpenAI integrations</a:t>
            </a:r>
            <a:endParaRPr lang="nl-NL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Text 26"/>
          <p:cNvSpPr/>
          <p:nvPr/>
        </p:nvSpPr>
        <p:spPr>
          <a:xfrm>
            <a:off x="8796600" y="4008840"/>
            <a:ext cx="2724480" cy="62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301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0C2233"/>
                </a:solidFill>
                <a:effectLst/>
                <a:uFillTx/>
                <a:latin typeface="Calibri"/>
                <a:ea typeface="Calibri"/>
              </a:rPr>
              <a:t>LlamaIndex — strong document handling but heavier abstraction</a:t>
            </a:r>
            <a:endParaRPr lang="nl-NL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Shape 27"/>
          <p:cNvSpPr/>
          <p:nvPr/>
        </p:nvSpPr>
        <p:spPr>
          <a:xfrm>
            <a:off x="548640" y="4628840"/>
            <a:ext cx="11063880" cy="6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AF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Text 28"/>
          <p:cNvSpPr/>
          <p:nvPr/>
        </p:nvSpPr>
        <p:spPr>
          <a:xfrm>
            <a:off x="658440" y="4628840"/>
            <a:ext cx="1718640" cy="62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301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0C2233"/>
                </a:solidFill>
                <a:effectLst/>
                <a:uFillTx/>
                <a:latin typeface="Calibri"/>
                <a:ea typeface="Calibri"/>
              </a:rPr>
              <a:t>Evaluation &amp; Monitoring</a:t>
            </a:r>
            <a:endParaRPr lang="nl-NL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Text 29"/>
          <p:cNvSpPr/>
          <p:nvPr/>
        </p:nvSpPr>
        <p:spPr>
          <a:xfrm>
            <a:off x="2578680" y="4628840"/>
            <a:ext cx="1901520" cy="62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301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065A82"/>
                </a:solidFill>
                <a:effectLst/>
                <a:uFillTx/>
                <a:latin typeface="Calibri"/>
                <a:ea typeface="Calibri"/>
              </a:rPr>
              <a:t>Langfuse</a:t>
            </a:r>
            <a:endParaRPr lang="nl-NL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Text 30"/>
          <p:cNvSpPr/>
          <p:nvPr/>
        </p:nvSpPr>
        <p:spPr>
          <a:xfrm>
            <a:off x="4681800" y="4628840"/>
            <a:ext cx="3913200" cy="62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301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0C2233"/>
                </a:solidFill>
                <a:effectLst/>
                <a:uFillTx/>
                <a:latin typeface="Calibri"/>
                <a:ea typeface="Calibri"/>
              </a:rPr>
              <a:t>Prompt versioning, Ragas integration, standard evaluation &amp; logging</a:t>
            </a:r>
            <a:endParaRPr lang="nl-NL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Text 31"/>
          <p:cNvSpPr/>
          <p:nvPr/>
        </p:nvSpPr>
        <p:spPr>
          <a:xfrm>
            <a:off x="8796600" y="4628840"/>
            <a:ext cx="2724480" cy="62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301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0C2233"/>
                </a:solidFill>
                <a:effectLst/>
                <a:uFillTx/>
                <a:latin typeface="Calibri"/>
                <a:ea typeface="Calibri"/>
              </a:rPr>
              <a:t>LangSmith, Portkey</a:t>
            </a:r>
            <a:endParaRPr lang="nl-NL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00" name="AltDataStoreCard"/>
          <p:cNvSpPr/>
          <p:nvPr/>
        </p:nvSpPr>
        <p:spPr>
          <a:xfrm>
            <a:off x="548640" y="5328840"/>
            <a:ext cx="11063880" cy="950000"/>
          </a:xfrm>
          <a:prstGeom prst="roundRect">
            <a:avLst>
              <a:gd name="adj" fmla="val 5161"/>
            </a:avLst>
          </a:prstGeom>
          <a:solidFill>
            <a:srgbClr val="EAF3F8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000"/>
          </a:p>
        </p:txBody>
      </p:sp>
      <p:sp>
        <p:nvSpPr>
          <p:cNvPr id="9401" name="AltDataStoreHeader"/>
          <p:cNvSpPr/>
          <p:nvPr/>
        </p:nvSpPr>
        <p:spPr>
          <a:xfrm>
            <a:off x="822960" y="5408840"/>
            <a:ext cx="10515240" cy="30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150" strike="noStrike">
                <a:solidFill>
                  <a:srgbClr val="065A82"/>
                </a:solidFill>
                <a:effectLst/>
                <a:uFillTx/>
                <a:latin typeface="Calibri"/>
                <a:ea typeface="Calibri"/>
              </a:rPr>
              <a:t>ALTERNATIVES FOR DATA STORE</a:t>
            </a:r>
            <a:endParaRPr lang="nl-NL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02" name="AltDataStoreBody"/>
          <p:cNvSpPr/>
          <p:nvPr/>
        </p:nvSpPr>
        <p:spPr>
          <a:xfrm>
            <a:off x="822960" y="5728840"/>
            <a:ext cx="10515240" cy="55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ts val="115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0C2233"/>
                </a:solidFill>
                <a:effectLst/>
                <a:uFillTx/>
                <a:latin typeface="Calibri"/>
                <a:ea typeface="Calibri"/>
              </a:rPr>
              <a:t>Input: CSV file with agile board items (Jira / Azure DevOps) — most fields are strictly typed, some are free-text (description, acceptance criteria). Vector store, with other agile fields as metadata: better for relating similarities. Postgres + PGVector: easier for smaller datasets, or if the source CSV is already in Postgres.</a:t>
            </a:r>
            <a:endParaRPr lang="nl-NL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Text 32"/>
          <p:cNvSpPr/>
          <p:nvPr/>
        </p:nvSpPr>
        <p:spPr>
          <a:xfrm>
            <a:off x="548640" y="640080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5B6B75"/>
                </a:solidFill>
                <a:effectLst/>
                <a:uFillTx/>
                <a:latin typeface="Calibri"/>
                <a:ea typeface="Calibri"/>
              </a:rPr>
              <a:t>Functional Guide Generator · System Design</a:t>
            </a:r>
            <a:endParaRPr lang="nl-NL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Text 33"/>
          <p:cNvSpPr/>
          <p:nvPr/>
        </p:nvSpPr>
        <p:spPr>
          <a:xfrm>
            <a:off x="11003040" y="6400800"/>
            <a:ext cx="914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5B6B75"/>
                </a:solidFill>
                <a:effectLst/>
                <a:uFillTx/>
                <a:latin typeface="Calibri"/>
                <a:ea typeface="Calibri"/>
              </a:rPr>
              <a:t>10 / 18</a:t>
            </a:r>
            <a:endParaRPr lang="nl-NL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Text 0"/>
          <p:cNvSpPr/>
          <p:nvPr/>
        </p:nvSpPr>
        <p:spPr>
          <a:xfrm>
            <a:off x="548640" y="384120"/>
            <a:ext cx="73148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05 · EVALUATION STRATEGY</a:t>
            </a:r>
            <a:endParaRPr lang="nl-NL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Text 1"/>
          <p:cNvSpPr/>
          <p:nvPr/>
        </p:nvSpPr>
        <p:spPr>
          <a:xfrm>
            <a:off x="548640" y="685800"/>
            <a:ext cx="105152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21295C"/>
                </a:solidFill>
                <a:effectLst/>
                <a:uFillTx/>
                <a:latin typeface="Cambria"/>
                <a:ea typeface="Cambria"/>
              </a:rPr>
              <a:t>How we assess quality</a:t>
            </a:r>
            <a:endParaRPr lang="nl-NL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Text 2"/>
          <p:cNvSpPr/>
          <p:nvPr/>
        </p:nvSpPr>
        <p:spPr>
          <a:xfrm>
            <a:off x="548640" y="1481400"/>
            <a:ext cx="105152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599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5B6B75"/>
                </a:solidFill>
                <a:effectLst/>
                <a:uFillTx/>
                <a:latin typeface="Calibri"/>
                <a:ea typeface="Calibri"/>
              </a:rPr>
              <a:t>No single evaluation metric is sufficient — the cost of each automatic evaluation must be assessed, and human review remains important in first iterations to fine-tune the evaluation.</a:t>
            </a:r>
            <a:endParaRPr lang="nl-NL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Shape 3"/>
          <p:cNvSpPr/>
          <p:nvPr/>
        </p:nvSpPr>
        <p:spPr>
          <a:xfrm>
            <a:off x="548640" y="2194560"/>
            <a:ext cx="5394600" cy="3565800"/>
          </a:xfrm>
          <a:prstGeom prst="roundRect">
            <a:avLst>
              <a:gd name="adj" fmla="val 2051"/>
            </a:avLst>
          </a:prstGeom>
          <a:solidFill>
            <a:srgbClr val="065A82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0" name="Text 4"/>
          <p:cNvSpPr/>
          <p:nvPr/>
        </p:nvSpPr>
        <p:spPr>
          <a:xfrm>
            <a:off x="868680" y="2423160"/>
            <a:ext cx="4571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pc="150" strike="noStrike">
                <a:solidFill>
                  <a:srgbClr val="E8A33D"/>
                </a:solidFill>
                <a:effectLst/>
                <a:uFillTx/>
                <a:latin typeface="Calibri"/>
                <a:ea typeface="Calibri"/>
              </a:rPr>
              <a:t>AUTOMATIC</a:t>
            </a:r>
            <a:endParaRPr lang="nl-NL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Text 5"/>
          <p:cNvSpPr/>
          <p:nvPr/>
        </p:nvSpPr>
        <p:spPr>
          <a:xfrm>
            <a:off x="868680" y="2834640"/>
            <a:ext cx="475452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8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AF3F8"/>
                </a:solidFill>
                <a:effectLst/>
                <a:uFillTx/>
                <a:latin typeface="Calibri"/>
                <a:ea typeface="Calibri"/>
              </a:rPr>
              <a:t>LLM-as-a-judge, using standardised evaluation metrics run against generated sections.</a:t>
            </a:r>
            <a:endParaRPr lang="nl-NL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Shape 6"/>
          <p:cNvSpPr/>
          <p:nvPr/>
        </p:nvSpPr>
        <p:spPr>
          <a:xfrm>
            <a:off x="868680" y="3749040"/>
            <a:ext cx="2285640" cy="43848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3" name="Text 7"/>
          <p:cNvSpPr/>
          <p:nvPr/>
        </p:nvSpPr>
        <p:spPr>
          <a:xfrm>
            <a:off x="868680" y="3749040"/>
            <a:ext cx="22856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Completeness</a:t>
            </a:r>
            <a:endParaRPr lang="nl-NL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Shape 8"/>
          <p:cNvSpPr/>
          <p:nvPr/>
        </p:nvSpPr>
        <p:spPr>
          <a:xfrm>
            <a:off x="3337560" y="3749040"/>
            <a:ext cx="2285640" cy="43848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5" name="Text 9"/>
          <p:cNvSpPr/>
          <p:nvPr/>
        </p:nvSpPr>
        <p:spPr>
          <a:xfrm>
            <a:off x="3337560" y="3749040"/>
            <a:ext cx="22856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Precision</a:t>
            </a:r>
            <a:endParaRPr lang="nl-NL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Shape 10"/>
          <p:cNvSpPr/>
          <p:nvPr/>
        </p:nvSpPr>
        <p:spPr>
          <a:xfrm>
            <a:off x="868680" y="4316040"/>
            <a:ext cx="2285640" cy="43848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7" name="Text 11"/>
          <p:cNvSpPr/>
          <p:nvPr/>
        </p:nvSpPr>
        <p:spPr>
          <a:xfrm>
            <a:off x="868680" y="4316040"/>
            <a:ext cx="22856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Context recall</a:t>
            </a:r>
            <a:endParaRPr lang="nl-NL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Shape 12"/>
          <p:cNvSpPr/>
          <p:nvPr/>
        </p:nvSpPr>
        <p:spPr>
          <a:xfrm>
            <a:off x="3337560" y="4316040"/>
            <a:ext cx="2285640" cy="43848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9" name="Text 13"/>
          <p:cNvSpPr/>
          <p:nvPr/>
        </p:nvSpPr>
        <p:spPr>
          <a:xfrm>
            <a:off x="3337560" y="4316040"/>
            <a:ext cx="22856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Coverage</a:t>
            </a:r>
            <a:endParaRPr lang="nl-NL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Shape 14"/>
          <p:cNvSpPr/>
          <p:nvPr/>
        </p:nvSpPr>
        <p:spPr>
          <a:xfrm>
            <a:off x="868680" y="4883040"/>
            <a:ext cx="2285640" cy="43848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1" name="Text 15"/>
          <p:cNvSpPr/>
          <p:nvPr/>
        </p:nvSpPr>
        <p:spPr>
          <a:xfrm>
            <a:off x="868680" y="4883040"/>
            <a:ext cx="22856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Lexical overlap*</a:t>
            </a:r>
            <a:endParaRPr lang="nl-NL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Shape 16"/>
          <p:cNvSpPr/>
          <p:nvPr/>
        </p:nvSpPr>
        <p:spPr>
          <a:xfrm>
            <a:off x="3337560" y="4883040"/>
            <a:ext cx="2285640" cy="43848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3" name="Text 17"/>
          <p:cNvSpPr/>
          <p:nvPr/>
        </p:nvSpPr>
        <p:spPr>
          <a:xfrm>
            <a:off x="3337560" y="4883040"/>
            <a:ext cx="22856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Readability*</a:t>
            </a:r>
            <a:endParaRPr lang="nl-NL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4" name="Text 18"/>
          <p:cNvSpPr/>
          <p:nvPr/>
        </p:nvSpPr>
        <p:spPr>
          <a:xfrm>
            <a:off x="868680" y="5440680"/>
            <a:ext cx="4571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i="1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*requires reference document</a:t>
            </a:r>
            <a:endParaRPr lang="nl-NL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Shape 19"/>
          <p:cNvSpPr/>
          <p:nvPr/>
        </p:nvSpPr>
        <p:spPr>
          <a:xfrm>
            <a:off x="6172200" y="2194560"/>
            <a:ext cx="5486040" cy="3565800"/>
          </a:xfrm>
          <a:prstGeom prst="roundRect">
            <a:avLst>
              <a:gd name="adj" fmla="val 2051"/>
            </a:avLst>
          </a:prstGeom>
          <a:solidFill>
            <a:srgbClr val="EAF3F8"/>
          </a:solidFill>
          <a:ln w="12700">
            <a:solidFill>
              <a:srgbClr val="DCEAF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Text 20"/>
          <p:cNvSpPr/>
          <p:nvPr/>
        </p:nvSpPr>
        <p:spPr>
          <a:xfrm>
            <a:off x="6492240" y="2423160"/>
            <a:ext cx="4571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pc="150" strike="noStrike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MANUAL</a:t>
            </a:r>
            <a:endParaRPr lang="nl-NL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Text 21"/>
          <p:cNvSpPr/>
          <p:nvPr/>
        </p:nvSpPr>
        <p:spPr>
          <a:xfrm>
            <a:off x="6492240" y="2834640"/>
            <a:ext cx="48459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8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0C2233"/>
                </a:solidFill>
                <a:effectLst/>
                <a:uFillTx/>
                <a:latin typeface="Calibri"/>
                <a:ea typeface="Calibri"/>
              </a:rPr>
              <a:t>Human review and post-publish user feedback close the loop on what automation can't fully judge.</a:t>
            </a:r>
            <a:endParaRPr lang="nl-NL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Shape 22"/>
          <p:cNvSpPr/>
          <p:nvPr/>
        </p:nvSpPr>
        <p:spPr>
          <a:xfrm>
            <a:off x="6492240" y="3794760"/>
            <a:ext cx="4845960" cy="59400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Text 23"/>
          <p:cNvSpPr/>
          <p:nvPr/>
        </p:nvSpPr>
        <p:spPr>
          <a:xfrm>
            <a:off x="6675120" y="3849480"/>
            <a:ext cx="4571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User acceptance</a:t>
            </a:r>
            <a:endParaRPr lang="nl-NL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Text 24"/>
          <p:cNvSpPr/>
          <p:nvPr/>
        </p:nvSpPr>
        <p:spPr>
          <a:xfrm>
            <a:off x="6675120" y="4096440"/>
            <a:ext cx="45716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5B6B75"/>
                </a:solidFill>
                <a:effectLst/>
                <a:uFillTx/>
                <a:latin typeface="Calibri"/>
                <a:ea typeface="Calibri"/>
              </a:rPr>
              <a:t>Manual reviewer classifies output</a:t>
            </a:r>
            <a:endParaRPr lang="nl-NL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Shape 25"/>
          <p:cNvSpPr/>
          <p:nvPr/>
        </p:nvSpPr>
        <p:spPr>
          <a:xfrm>
            <a:off x="6492240" y="4572000"/>
            <a:ext cx="4845960" cy="59400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Text 26"/>
          <p:cNvSpPr/>
          <p:nvPr/>
        </p:nvSpPr>
        <p:spPr>
          <a:xfrm>
            <a:off x="6675120" y="4626720"/>
            <a:ext cx="4571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Post-publish feedback</a:t>
            </a:r>
            <a:endParaRPr lang="nl-NL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Text 27"/>
          <p:cNvSpPr/>
          <p:nvPr/>
        </p:nvSpPr>
        <p:spPr>
          <a:xfrm>
            <a:off x="6675120" y="4873680"/>
            <a:ext cx="45716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5B6B75"/>
                </a:solidFill>
                <a:effectLst/>
                <a:uFillTx/>
                <a:latin typeface="Calibri"/>
                <a:ea typeface="Calibri"/>
              </a:rPr>
              <a:t>Thumbs-up / thumbs-down via UI widget</a:t>
            </a:r>
            <a:endParaRPr lang="nl-NL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Text 28"/>
          <p:cNvSpPr/>
          <p:nvPr/>
        </p:nvSpPr>
        <p:spPr>
          <a:xfrm>
            <a:off x="6492240" y="5440680"/>
            <a:ext cx="48459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i="1" u="none" strike="noStrike">
                <a:solidFill>
                  <a:srgbClr val="5B6B75"/>
                </a:solidFill>
                <a:effectLst/>
                <a:uFillTx/>
                <a:latin typeface="Calibri"/>
                <a:ea typeface="Calibri"/>
              </a:rPr>
              <a:t>Quality is assessed automatically through LLM-as-a-judge, and manually through human review and post-publish feedback.</a:t>
            </a:r>
            <a:endParaRPr lang="nl-NL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Text 29"/>
          <p:cNvSpPr/>
          <p:nvPr/>
        </p:nvSpPr>
        <p:spPr>
          <a:xfrm>
            <a:off x="548640" y="640080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5B6B75"/>
                </a:solidFill>
                <a:effectLst/>
                <a:uFillTx/>
                <a:latin typeface="Calibri"/>
                <a:ea typeface="Calibri"/>
              </a:rPr>
              <a:t>Functional Guide Generator · System Design</a:t>
            </a:r>
            <a:endParaRPr lang="nl-NL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Text 30"/>
          <p:cNvSpPr/>
          <p:nvPr/>
        </p:nvSpPr>
        <p:spPr>
          <a:xfrm>
            <a:off x="11003040" y="6400800"/>
            <a:ext cx="914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5B6B75"/>
                </a:solidFill>
                <a:effectLst/>
                <a:uFillTx/>
                <a:latin typeface="Calibri"/>
                <a:ea typeface="Calibri"/>
              </a:rPr>
              <a:t>11 / 18</a:t>
            </a:r>
            <a:endParaRPr lang="nl-NL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Text 0"/>
          <p:cNvSpPr/>
          <p:nvPr/>
        </p:nvSpPr>
        <p:spPr>
          <a:xfrm>
            <a:off x="548640" y="384120"/>
            <a:ext cx="73148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05 · EVALUATION STRATEGY</a:t>
            </a:r>
            <a:endParaRPr lang="nl-NL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Text 1"/>
          <p:cNvSpPr/>
          <p:nvPr/>
        </p:nvSpPr>
        <p:spPr>
          <a:xfrm>
            <a:off x="548640" y="685800"/>
            <a:ext cx="105152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21295C"/>
                </a:solidFill>
                <a:effectLst/>
                <a:uFillTx/>
                <a:latin typeface="Cambria"/>
                <a:ea typeface="Cambria"/>
              </a:rPr>
              <a:t>Evaluation metrics &amp; targets</a:t>
            </a:r>
            <a:endParaRPr lang="nl-NL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" name="Shape 2"/>
          <p:cNvSpPr/>
          <p:nvPr/>
        </p:nvSpPr>
        <p:spPr>
          <a:xfrm>
            <a:off x="548640" y="1691640"/>
            <a:ext cx="11063880" cy="411120"/>
          </a:xfrm>
          <a:prstGeom prst="rect">
            <a:avLst/>
          </a:prstGeom>
          <a:solidFill>
            <a:srgbClr val="21295C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0" name="Text 3"/>
          <p:cNvSpPr/>
          <p:nvPr/>
        </p:nvSpPr>
        <p:spPr>
          <a:xfrm>
            <a:off x="658440" y="1691640"/>
            <a:ext cx="20000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Metric</a:t>
            </a:r>
            <a:endParaRPr lang="nl-NL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1" name="Text 4"/>
          <p:cNvSpPr/>
          <p:nvPr/>
        </p:nvSpPr>
        <p:spPr>
          <a:xfrm>
            <a:off x="2838440" y="1691640"/>
            <a:ext cx="8000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Type</a:t>
            </a:r>
            <a:endParaRPr lang="nl-NL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Text 5"/>
          <p:cNvSpPr/>
          <p:nvPr/>
        </p:nvSpPr>
        <p:spPr>
          <a:xfrm>
            <a:off x="3818440" y="1691640"/>
            <a:ext cx="38000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What it measures</a:t>
            </a:r>
            <a:endParaRPr lang="nl-NL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Text 6"/>
          <p:cNvSpPr/>
          <p:nvPr/>
        </p:nvSpPr>
        <p:spPr>
          <a:xfrm>
            <a:off x="7798440" y="1691640"/>
            <a:ext cx="18000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Target</a:t>
            </a:r>
            <a:endParaRPr lang="nl-NL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00" name="Text ToolHdr"/>
          <p:cNvSpPr/>
          <p:nvPr/>
        </p:nvSpPr>
        <p:spPr>
          <a:xfrm>
            <a:off x="9778440" y="1691640"/>
            <a:ext cx="17426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Tooling</a:t>
            </a:r>
            <a:endParaRPr lang="nl-NL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4" name="Shape 7"/>
          <p:cNvSpPr/>
          <p:nvPr/>
        </p:nvSpPr>
        <p:spPr>
          <a:xfrm>
            <a:off x="548640" y="2103120"/>
            <a:ext cx="11063880" cy="488880"/>
          </a:xfrm>
          <a:prstGeom prst="rect">
            <a:avLst/>
          </a:prstGeom>
          <a:solidFill>
            <a:srgbClr val="FFFFFF"/>
          </a:solidFill>
          <a:ln w="9525">
            <a:solidFill>
              <a:srgbClr val="DCEAF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Text 8"/>
          <p:cNvSpPr/>
          <p:nvPr/>
        </p:nvSpPr>
        <p:spPr>
          <a:xfrm>
            <a:off x="658440" y="2103120"/>
            <a:ext cx="2000000" cy="48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Completeness</a:t>
            </a:r>
            <a:endParaRPr lang="nl-NL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Shape 9"/>
          <p:cNvSpPr/>
          <p:nvPr/>
        </p:nvSpPr>
        <p:spPr>
          <a:xfrm>
            <a:off x="2838440" y="2228760"/>
            <a:ext cx="800000" cy="2372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7" name="Text 10"/>
          <p:cNvSpPr/>
          <p:nvPr/>
        </p:nvSpPr>
        <p:spPr>
          <a:xfrm>
            <a:off x="2838440" y="2228760"/>
            <a:ext cx="8000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auto</a:t>
            </a:r>
            <a:endParaRPr lang="nl-NL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" name="Text 11"/>
          <p:cNvSpPr/>
          <p:nvPr/>
        </p:nvSpPr>
        <p:spPr>
          <a:xfrm>
            <a:off x="3818440" y="2103120"/>
            <a:ext cx="3800000" cy="48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199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0C2233"/>
                </a:solidFill>
                <a:effectLst/>
                <a:uFillTx/>
                <a:latin typeface="Calibri"/>
                <a:ea typeface="Calibri"/>
              </a:rPr>
              <a:t>Presence of required document sections; per section, its template structure &amp; content is used</a:t>
            </a:r>
            <a:endParaRPr lang="nl-NL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Text 12"/>
          <p:cNvSpPr/>
          <p:nvPr/>
        </p:nvSpPr>
        <p:spPr>
          <a:xfrm>
            <a:off x="7798440" y="2103120"/>
            <a:ext cx="1800000" cy="48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199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0C2233"/>
                </a:solidFill>
                <a:effectLst/>
                <a:uFillTx/>
                <a:latin typeface="Calibri"/>
                <a:ea typeface="Calibri"/>
              </a:rPr>
              <a:t>100% requested sections; 80% requested templates</a:t>
            </a:r>
            <a:endParaRPr lang="nl-NL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00" name="Text ToolRow"/>
          <p:cNvSpPr/>
          <p:nvPr/>
        </p:nvSpPr>
        <p:spPr>
          <a:xfrm>
            <a:off x="9778440" y="2103120"/>
            <a:ext cx="1742640" cy="48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199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0C2233"/>
                </a:solidFill>
                <a:effectLst/>
                <a:uFillTx/>
                <a:latin typeface="Calibri"/>
                <a:ea typeface="Calibri"/>
              </a:rPr>
              <a:t>Langfuse with Ragas; Similarity search</a:t>
            </a:r>
            <a:endParaRPr lang="nl-NL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Shape 13"/>
          <p:cNvSpPr/>
          <p:nvPr/>
        </p:nvSpPr>
        <p:spPr>
          <a:xfrm>
            <a:off x="548640" y="2592360"/>
            <a:ext cx="11063880" cy="488880"/>
          </a:xfrm>
          <a:prstGeom prst="rect">
            <a:avLst/>
          </a:prstGeom>
          <a:solidFill>
            <a:srgbClr val="EAF3F8"/>
          </a:solidFill>
          <a:ln w="9525">
            <a:solidFill>
              <a:srgbClr val="DCEAF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Text 14"/>
          <p:cNvSpPr/>
          <p:nvPr/>
        </p:nvSpPr>
        <p:spPr>
          <a:xfrm>
            <a:off x="658440" y="2592360"/>
            <a:ext cx="2000000" cy="48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Precision</a:t>
            </a:r>
            <a:endParaRPr lang="nl-NL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2" name="Shape 15"/>
          <p:cNvSpPr/>
          <p:nvPr/>
        </p:nvSpPr>
        <p:spPr>
          <a:xfrm>
            <a:off x="2838440" y="2718000"/>
            <a:ext cx="800000" cy="2372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3" name="Text 16"/>
          <p:cNvSpPr/>
          <p:nvPr/>
        </p:nvSpPr>
        <p:spPr>
          <a:xfrm>
            <a:off x="2838440" y="2718000"/>
            <a:ext cx="8000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auto</a:t>
            </a:r>
            <a:endParaRPr lang="nl-NL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Text 17"/>
          <p:cNvSpPr/>
          <p:nvPr/>
        </p:nvSpPr>
        <p:spPr>
          <a:xfrm>
            <a:off x="3818440" y="2592360"/>
            <a:ext cx="3800000" cy="48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199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0C2233"/>
                </a:solidFill>
                <a:effectLst/>
                <a:uFillTx/>
                <a:latin typeface="Calibri"/>
                <a:ea typeface="Calibri"/>
              </a:rPr>
              <a:t>Claims in response supported by retrieved context (accuracy of the retrieved context)</a:t>
            </a:r>
            <a:endParaRPr lang="nl-NL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5" name="Text 18"/>
          <p:cNvSpPr/>
          <p:nvPr/>
        </p:nvSpPr>
        <p:spPr>
          <a:xfrm>
            <a:off x="7798440" y="2592360"/>
            <a:ext cx="1800000" cy="48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199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0C2233"/>
                </a:solidFill>
                <a:effectLst/>
                <a:uFillTx/>
                <a:latin typeface="Calibri"/>
                <a:ea typeface="Calibri"/>
              </a:rPr>
              <a:t>≥ 90% precision</a:t>
            </a:r>
            <a:endParaRPr lang="nl-NL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01" name="Text ToolRow"/>
          <p:cNvSpPr/>
          <p:nvPr/>
        </p:nvSpPr>
        <p:spPr>
          <a:xfrm>
            <a:off x="9778440" y="2592360"/>
            <a:ext cx="1742640" cy="48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199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0C2233"/>
                </a:solidFill>
                <a:effectLst/>
                <a:uFillTx/>
                <a:latin typeface="Calibri"/>
                <a:ea typeface="Calibri"/>
              </a:rPr>
              <a:t>Langfuse with Ragas</a:t>
            </a:r>
            <a:endParaRPr lang="nl-NL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Shape 19"/>
          <p:cNvSpPr/>
          <p:nvPr/>
        </p:nvSpPr>
        <p:spPr>
          <a:xfrm>
            <a:off x="548640" y="3081600"/>
            <a:ext cx="11063880" cy="488880"/>
          </a:xfrm>
          <a:prstGeom prst="rect">
            <a:avLst/>
          </a:prstGeom>
          <a:solidFill>
            <a:srgbClr val="FFFFFF"/>
          </a:solidFill>
          <a:ln w="9525">
            <a:solidFill>
              <a:srgbClr val="DCEAF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7" name="Text 20"/>
          <p:cNvSpPr/>
          <p:nvPr/>
        </p:nvSpPr>
        <p:spPr>
          <a:xfrm>
            <a:off x="658440" y="3081600"/>
            <a:ext cx="2000000" cy="48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Context recall</a:t>
            </a:r>
            <a:endParaRPr lang="nl-NL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8" name="Shape 21"/>
          <p:cNvSpPr/>
          <p:nvPr/>
        </p:nvSpPr>
        <p:spPr>
          <a:xfrm>
            <a:off x="2838440" y="3207240"/>
            <a:ext cx="800000" cy="2372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9" name="Text 22"/>
          <p:cNvSpPr/>
          <p:nvPr/>
        </p:nvSpPr>
        <p:spPr>
          <a:xfrm>
            <a:off x="2838440" y="3207240"/>
            <a:ext cx="8000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auto</a:t>
            </a:r>
            <a:endParaRPr lang="nl-NL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Text 23"/>
          <p:cNvSpPr/>
          <p:nvPr/>
        </p:nvSpPr>
        <p:spPr>
          <a:xfrm>
            <a:off x="3818440" y="3081600"/>
            <a:ext cx="3800000" cy="48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199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0C2233"/>
                </a:solidFill>
                <a:effectLst/>
                <a:uFillTx/>
                <a:latin typeface="Calibri"/>
                <a:ea typeface="Calibri"/>
              </a:rPr>
              <a:t>Relevant facts in context that appear in response (ability to retrieve all relevant information)</a:t>
            </a:r>
            <a:endParaRPr lang="nl-NL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1" name="Text 24"/>
          <p:cNvSpPr/>
          <p:nvPr/>
        </p:nvSpPr>
        <p:spPr>
          <a:xfrm>
            <a:off x="7798440" y="3081600"/>
            <a:ext cx="1800000" cy="48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199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0C2233"/>
                </a:solidFill>
                <a:effectLst/>
                <a:uFillTx/>
                <a:latin typeface="Calibri"/>
                <a:ea typeface="Calibri"/>
              </a:rPr>
              <a:t>≥ 85% context recall</a:t>
            </a:r>
            <a:endParaRPr lang="nl-NL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02" name="Text ToolRow"/>
          <p:cNvSpPr/>
          <p:nvPr/>
        </p:nvSpPr>
        <p:spPr>
          <a:xfrm>
            <a:off x="9778440" y="3081600"/>
            <a:ext cx="1742640" cy="48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199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0C2233"/>
                </a:solidFill>
                <a:effectLst/>
                <a:uFillTx/>
                <a:latin typeface="Calibri"/>
                <a:ea typeface="Calibri"/>
              </a:rPr>
              <a:t>Langfuse with Ragas</a:t>
            </a:r>
            <a:endParaRPr lang="nl-NL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2" name="Shape 25"/>
          <p:cNvSpPr/>
          <p:nvPr/>
        </p:nvSpPr>
        <p:spPr>
          <a:xfrm>
            <a:off x="548640" y="3570840"/>
            <a:ext cx="11063880" cy="488880"/>
          </a:xfrm>
          <a:prstGeom prst="rect">
            <a:avLst/>
          </a:prstGeom>
          <a:solidFill>
            <a:srgbClr val="EAF3F8"/>
          </a:solidFill>
          <a:ln w="9525">
            <a:solidFill>
              <a:srgbClr val="DCEAF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3" name="Text 26"/>
          <p:cNvSpPr/>
          <p:nvPr/>
        </p:nvSpPr>
        <p:spPr>
          <a:xfrm>
            <a:off x="658440" y="3570840"/>
            <a:ext cx="2000000" cy="48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Coverage</a:t>
            </a:r>
            <a:endParaRPr lang="nl-NL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4" name="Shape 27"/>
          <p:cNvSpPr/>
          <p:nvPr/>
        </p:nvSpPr>
        <p:spPr>
          <a:xfrm>
            <a:off x="2838440" y="3696480"/>
            <a:ext cx="800000" cy="2372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5" name="Text 28"/>
          <p:cNvSpPr/>
          <p:nvPr/>
        </p:nvSpPr>
        <p:spPr>
          <a:xfrm>
            <a:off x="2838440" y="3696480"/>
            <a:ext cx="8000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auto</a:t>
            </a:r>
            <a:endParaRPr lang="nl-NL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Text 29"/>
          <p:cNvSpPr/>
          <p:nvPr/>
        </p:nvSpPr>
        <p:spPr>
          <a:xfrm>
            <a:off x="3818440" y="3570840"/>
            <a:ext cx="3800000" cy="48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199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0C2233"/>
                </a:solidFill>
                <a:effectLst/>
                <a:uFillTx/>
                <a:latin typeface="Calibri"/>
                <a:ea typeface="Calibri"/>
              </a:rPr>
              <a:t>% of functional areas in agile tickets mentioned in output</a:t>
            </a:r>
            <a:endParaRPr lang="nl-NL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Text 30"/>
          <p:cNvSpPr/>
          <p:nvPr/>
        </p:nvSpPr>
        <p:spPr>
          <a:xfrm>
            <a:off x="7798440" y="3570840"/>
            <a:ext cx="1800000" cy="48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199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0C2233"/>
                </a:solidFill>
                <a:effectLst/>
                <a:uFillTx/>
                <a:latin typeface="Calibri"/>
                <a:ea typeface="Calibri"/>
              </a:rPr>
              <a:t>≥ 80% coverage</a:t>
            </a:r>
            <a:endParaRPr lang="nl-NL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03" name="Text ToolRow"/>
          <p:cNvSpPr/>
          <p:nvPr/>
        </p:nvSpPr>
        <p:spPr>
          <a:xfrm>
            <a:off x="9778440" y="3570840"/>
            <a:ext cx="1742640" cy="48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199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0C2233"/>
                </a:solidFill>
                <a:effectLst/>
                <a:uFillTx/>
                <a:latin typeface="Calibri"/>
                <a:ea typeface="Calibri"/>
              </a:rPr>
              <a:t>Keyword extraction + overlap check</a:t>
            </a:r>
            <a:endParaRPr lang="nl-NL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8" name="Shape 31"/>
          <p:cNvSpPr/>
          <p:nvPr/>
        </p:nvSpPr>
        <p:spPr>
          <a:xfrm>
            <a:off x="548640" y="4060080"/>
            <a:ext cx="11063880" cy="488880"/>
          </a:xfrm>
          <a:prstGeom prst="rect">
            <a:avLst/>
          </a:prstGeom>
          <a:solidFill>
            <a:srgbClr val="FFFFFF"/>
          </a:solidFill>
          <a:ln w="9525">
            <a:solidFill>
              <a:srgbClr val="DCEAF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Text 32"/>
          <p:cNvSpPr/>
          <p:nvPr/>
        </p:nvSpPr>
        <p:spPr>
          <a:xfrm>
            <a:off x="658440" y="4060080"/>
            <a:ext cx="2000000" cy="48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Lexical overlap</a:t>
            </a:r>
            <a:endParaRPr lang="nl-NL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0" name="Shape 33"/>
          <p:cNvSpPr/>
          <p:nvPr/>
        </p:nvSpPr>
        <p:spPr>
          <a:xfrm>
            <a:off x="2838440" y="4185720"/>
            <a:ext cx="800000" cy="237240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1" name="Text 34"/>
          <p:cNvSpPr/>
          <p:nvPr/>
        </p:nvSpPr>
        <p:spPr>
          <a:xfrm>
            <a:off x="2838440" y="4185720"/>
            <a:ext cx="8000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ref doc</a:t>
            </a:r>
            <a:endParaRPr lang="nl-NL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2" name="Text 35"/>
          <p:cNvSpPr/>
          <p:nvPr/>
        </p:nvSpPr>
        <p:spPr>
          <a:xfrm>
            <a:off x="3818440" y="4060080"/>
            <a:ext cx="3800000" cy="48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199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0C2233"/>
                </a:solidFill>
                <a:effectLst/>
                <a:uFillTx/>
                <a:latin typeface="Calibri"/>
                <a:ea typeface="Calibri"/>
              </a:rPr>
              <a:t>Similarity search vector DB vs. human-written reference (where available)</a:t>
            </a:r>
            <a:endParaRPr lang="nl-NL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3" name="Text 36"/>
          <p:cNvSpPr/>
          <p:nvPr/>
        </p:nvSpPr>
        <p:spPr>
          <a:xfrm>
            <a:off x="7798440" y="4060080"/>
            <a:ext cx="1800000" cy="48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199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0C2233"/>
                </a:solidFill>
                <a:effectLst/>
                <a:uFillTx/>
                <a:latin typeface="Calibri"/>
                <a:ea typeface="Calibri"/>
              </a:rPr>
              <a:t>≥ 90% (caution: limited signal)</a:t>
            </a:r>
            <a:endParaRPr lang="nl-NL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04" name="Text ToolRow"/>
          <p:cNvSpPr/>
          <p:nvPr/>
        </p:nvSpPr>
        <p:spPr>
          <a:xfrm>
            <a:off x="9778440" y="4060080"/>
            <a:ext cx="1742640" cy="48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199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0C2233"/>
                </a:solidFill>
                <a:effectLst/>
                <a:uFillTx/>
                <a:latin typeface="Calibri"/>
                <a:ea typeface="Calibri"/>
              </a:rPr>
              <a:t>vector DB</a:t>
            </a:r>
            <a:endParaRPr lang="nl-NL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4" name="Shape 37"/>
          <p:cNvSpPr/>
          <p:nvPr/>
        </p:nvSpPr>
        <p:spPr>
          <a:xfrm>
            <a:off x="548640" y="4549320"/>
            <a:ext cx="11063880" cy="488880"/>
          </a:xfrm>
          <a:prstGeom prst="rect">
            <a:avLst/>
          </a:prstGeom>
          <a:solidFill>
            <a:srgbClr val="EAF3F8"/>
          </a:solidFill>
          <a:ln w="9525">
            <a:solidFill>
              <a:srgbClr val="DCEAF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5" name="Text 38"/>
          <p:cNvSpPr/>
          <p:nvPr/>
        </p:nvSpPr>
        <p:spPr>
          <a:xfrm>
            <a:off x="658440" y="4549320"/>
            <a:ext cx="2000000" cy="48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Readability</a:t>
            </a:r>
            <a:endParaRPr lang="nl-NL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6" name="Shape 39"/>
          <p:cNvSpPr/>
          <p:nvPr/>
        </p:nvSpPr>
        <p:spPr>
          <a:xfrm>
            <a:off x="2838440" y="4674960"/>
            <a:ext cx="800000" cy="237240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7" name="Text 40"/>
          <p:cNvSpPr/>
          <p:nvPr/>
        </p:nvSpPr>
        <p:spPr>
          <a:xfrm>
            <a:off x="2838440" y="4674960"/>
            <a:ext cx="8000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ref doc</a:t>
            </a:r>
            <a:endParaRPr lang="nl-NL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8" name="Text 41"/>
          <p:cNvSpPr/>
          <p:nvPr/>
        </p:nvSpPr>
        <p:spPr>
          <a:xfrm>
            <a:off x="3818440" y="4549320"/>
            <a:ext cx="3800000" cy="48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199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0C2233"/>
                </a:solidFill>
                <a:effectLst/>
                <a:uFillTx/>
                <a:latin typeface="Calibri"/>
                <a:ea typeface="Calibri"/>
              </a:rPr>
              <a:t>LLM clarity score</a:t>
            </a:r>
            <a:endParaRPr lang="nl-NL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9" name="Text 42"/>
          <p:cNvSpPr/>
          <p:nvPr/>
        </p:nvSpPr>
        <p:spPr>
          <a:xfrm>
            <a:off x="7798440" y="4549320"/>
            <a:ext cx="1800000" cy="48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199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0C2233"/>
                </a:solidFill>
                <a:effectLst/>
                <a:uFillTx/>
                <a:latin typeface="Calibri"/>
                <a:ea typeface="Calibri"/>
              </a:rPr>
              <a:t>≥ 80%</a:t>
            </a:r>
            <a:endParaRPr lang="nl-NL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05" name="Text ToolRow"/>
          <p:cNvSpPr/>
          <p:nvPr/>
        </p:nvSpPr>
        <p:spPr>
          <a:xfrm>
            <a:off x="9778440" y="4549320"/>
            <a:ext cx="1742640" cy="48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199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0C2233"/>
                </a:solidFill>
                <a:effectLst/>
                <a:uFillTx/>
                <a:latin typeface="Calibri"/>
                <a:ea typeface="Calibri"/>
              </a:rPr>
              <a:t>textstat + LLM rubric</a:t>
            </a:r>
            <a:endParaRPr lang="nl-NL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0" name="Shape 43"/>
          <p:cNvSpPr/>
          <p:nvPr/>
        </p:nvSpPr>
        <p:spPr>
          <a:xfrm>
            <a:off x="548640" y="5038200"/>
            <a:ext cx="11063880" cy="488880"/>
          </a:xfrm>
          <a:prstGeom prst="rect">
            <a:avLst/>
          </a:prstGeom>
          <a:solidFill>
            <a:srgbClr val="FFFFFF"/>
          </a:solidFill>
          <a:ln w="9525">
            <a:solidFill>
              <a:srgbClr val="DCEAF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1" name="Text 44"/>
          <p:cNvSpPr/>
          <p:nvPr/>
        </p:nvSpPr>
        <p:spPr>
          <a:xfrm>
            <a:off x="658440" y="5038200"/>
            <a:ext cx="2000000" cy="48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User acceptance</a:t>
            </a:r>
            <a:endParaRPr lang="nl-NL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2" name="Shape 45"/>
          <p:cNvSpPr/>
          <p:nvPr/>
        </p:nvSpPr>
        <p:spPr>
          <a:xfrm>
            <a:off x="2838440" y="5164200"/>
            <a:ext cx="800000" cy="23724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3" name="Text 46"/>
          <p:cNvSpPr/>
          <p:nvPr/>
        </p:nvSpPr>
        <p:spPr>
          <a:xfrm>
            <a:off x="2838440" y="5164200"/>
            <a:ext cx="8000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manual</a:t>
            </a:r>
            <a:endParaRPr lang="nl-NL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4" name="Text 47"/>
          <p:cNvSpPr/>
          <p:nvPr/>
        </p:nvSpPr>
        <p:spPr>
          <a:xfrm>
            <a:off x="3818440" y="5038200"/>
            <a:ext cx="3800000" cy="48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199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0C2233"/>
                </a:solidFill>
                <a:effectLst/>
                <a:uFillTx/>
                <a:latin typeface="Calibri"/>
                <a:ea typeface="Calibri"/>
              </a:rPr>
              <a:t>Manual reviewer classifies output</a:t>
            </a:r>
            <a:endParaRPr lang="nl-NL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5" name="Text 48"/>
          <p:cNvSpPr/>
          <p:nvPr/>
        </p:nvSpPr>
        <p:spPr>
          <a:xfrm>
            <a:off x="7798440" y="5038200"/>
            <a:ext cx="1800000" cy="48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199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0C2233"/>
                </a:solidFill>
                <a:effectLst/>
                <a:uFillTx/>
                <a:latin typeface="Calibri"/>
                <a:ea typeface="Calibri"/>
              </a:rPr>
              <a:t>≥ 60%</a:t>
            </a:r>
            <a:endParaRPr lang="nl-NL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06" name="Text ToolRow"/>
          <p:cNvSpPr/>
          <p:nvPr/>
        </p:nvSpPr>
        <p:spPr>
          <a:xfrm>
            <a:off x="9778440" y="5038200"/>
            <a:ext cx="1742640" cy="48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199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0C2233"/>
                </a:solidFill>
                <a:effectLst/>
                <a:uFillTx/>
                <a:latin typeface="Calibri"/>
                <a:ea typeface="Calibri"/>
              </a:rPr>
              <a:t>Manual annotation</a:t>
            </a:r>
            <a:endParaRPr lang="nl-NL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6" name="Shape 49"/>
          <p:cNvSpPr/>
          <p:nvPr/>
        </p:nvSpPr>
        <p:spPr>
          <a:xfrm>
            <a:off x="548640" y="5527440"/>
            <a:ext cx="11063880" cy="488880"/>
          </a:xfrm>
          <a:prstGeom prst="rect">
            <a:avLst/>
          </a:prstGeom>
          <a:solidFill>
            <a:srgbClr val="EAF3F8"/>
          </a:solidFill>
          <a:ln w="9525">
            <a:solidFill>
              <a:srgbClr val="DCEAF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7" name="Text 50"/>
          <p:cNvSpPr/>
          <p:nvPr/>
        </p:nvSpPr>
        <p:spPr>
          <a:xfrm>
            <a:off x="658440" y="5527440"/>
            <a:ext cx="2000000" cy="48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Post-publish feedback</a:t>
            </a:r>
            <a:endParaRPr lang="nl-NL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Shape 51"/>
          <p:cNvSpPr/>
          <p:nvPr/>
        </p:nvSpPr>
        <p:spPr>
          <a:xfrm>
            <a:off x="2838440" y="5653440"/>
            <a:ext cx="800000" cy="237240"/>
          </a:xfrm>
          <a:prstGeom prst="roundRect">
            <a:avLst>
              <a:gd name="adj" fmla="val 50000"/>
            </a:avLst>
          </a:prstGeom>
          <a:solidFill>
            <a:srgbClr val="5B6B75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9" name="Text 52"/>
          <p:cNvSpPr/>
          <p:nvPr/>
        </p:nvSpPr>
        <p:spPr>
          <a:xfrm>
            <a:off x="2838440" y="5653440"/>
            <a:ext cx="8000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UI</a:t>
            </a:r>
            <a:endParaRPr lang="nl-NL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0" name="Text 53"/>
          <p:cNvSpPr/>
          <p:nvPr/>
        </p:nvSpPr>
        <p:spPr>
          <a:xfrm>
            <a:off x="3818440" y="5527440"/>
            <a:ext cx="3800000" cy="48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199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0C2233"/>
                </a:solidFill>
                <a:effectLst/>
                <a:uFillTx/>
                <a:latin typeface="Calibri"/>
                <a:ea typeface="Calibri"/>
              </a:rPr>
              <a:t>Reviewer thumbs-up / thumbs-down on final doc</a:t>
            </a:r>
            <a:endParaRPr lang="nl-NL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1" name="Text 54"/>
          <p:cNvSpPr/>
          <p:nvPr/>
        </p:nvSpPr>
        <p:spPr>
          <a:xfrm>
            <a:off x="7798440" y="5527440"/>
            <a:ext cx="1800000" cy="48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199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0C2233"/>
                </a:solidFill>
                <a:effectLst/>
                <a:uFillTx/>
                <a:latin typeface="Calibri"/>
                <a:ea typeface="Calibri"/>
              </a:rPr>
              <a:t>≥ 70% thumbs-up without major edits</a:t>
            </a:r>
            <a:endParaRPr lang="nl-NL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07" name="Text ToolRow"/>
          <p:cNvSpPr/>
          <p:nvPr/>
        </p:nvSpPr>
        <p:spPr>
          <a:xfrm>
            <a:off x="9778440" y="5527440"/>
            <a:ext cx="1742640" cy="48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199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0C2233"/>
                </a:solidFill>
                <a:effectLst/>
                <a:uFillTx/>
                <a:latin typeface="Calibri"/>
                <a:ea typeface="Calibri"/>
              </a:rPr>
              <a:t>UI feedback widget</a:t>
            </a:r>
            <a:endParaRPr lang="nl-NL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2" name="Text 55"/>
          <p:cNvSpPr/>
          <p:nvPr/>
        </p:nvSpPr>
        <p:spPr>
          <a:xfrm>
            <a:off x="548640" y="640080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5B6B75"/>
                </a:solidFill>
                <a:effectLst/>
                <a:uFillTx/>
                <a:latin typeface="Calibri"/>
                <a:ea typeface="Calibri"/>
              </a:rPr>
              <a:t>Functional Guide Generator · System Design</a:t>
            </a:r>
            <a:endParaRPr lang="nl-NL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3" name="Text 56"/>
          <p:cNvSpPr/>
          <p:nvPr/>
        </p:nvSpPr>
        <p:spPr>
          <a:xfrm>
            <a:off x="11003040" y="6400800"/>
            <a:ext cx="914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5B6B75"/>
                </a:solidFill>
                <a:effectLst/>
                <a:uFillTx/>
                <a:latin typeface="Calibri"/>
                <a:ea typeface="Calibri"/>
              </a:rPr>
              <a:t>12 / 18</a:t>
            </a:r>
            <a:endParaRPr lang="nl-NL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Text 0"/>
          <p:cNvSpPr/>
          <p:nvPr/>
        </p:nvSpPr>
        <p:spPr>
          <a:xfrm>
            <a:off x="548640" y="384120"/>
            <a:ext cx="73148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05 · EVALUATION STRATEGY</a:t>
            </a:r>
            <a:endParaRPr lang="nl-NL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5" name="Text 1"/>
          <p:cNvSpPr/>
          <p:nvPr/>
        </p:nvSpPr>
        <p:spPr>
          <a:xfrm>
            <a:off x="548640" y="685800"/>
            <a:ext cx="105152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21295C"/>
                </a:solidFill>
                <a:effectLst/>
                <a:uFillTx/>
                <a:latin typeface="Cambria"/>
                <a:ea typeface="Cambria"/>
              </a:rPr>
              <a:t>Pipeline &amp; open questions</a:t>
            </a:r>
            <a:endParaRPr lang="nl-NL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6" name="Shape 2"/>
          <p:cNvSpPr/>
          <p:nvPr/>
        </p:nvSpPr>
        <p:spPr>
          <a:xfrm>
            <a:off x="548640" y="1737360"/>
            <a:ext cx="11063880" cy="1554120"/>
          </a:xfrm>
          <a:prstGeom prst="roundRect">
            <a:avLst>
              <a:gd name="adj" fmla="val 4706"/>
            </a:avLst>
          </a:prstGeom>
          <a:solidFill>
            <a:srgbClr val="EAF3F8"/>
          </a:solidFill>
          <a:ln w="12700">
            <a:solidFill>
              <a:srgbClr val="DCEAF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7" name="Text 3"/>
          <p:cNvSpPr/>
          <p:nvPr/>
        </p:nvSpPr>
        <p:spPr>
          <a:xfrm>
            <a:off x="822960" y="190188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pc="99" strike="noStrike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EVALUATION PIPELINE</a:t>
            </a:r>
            <a:endParaRPr lang="nl-NL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8" name="Shape 4"/>
          <p:cNvSpPr/>
          <p:nvPr/>
        </p:nvSpPr>
        <p:spPr>
          <a:xfrm>
            <a:off x="822960" y="2359080"/>
            <a:ext cx="118440" cy="11844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38880" rIns="90000" bIns="38880" anchor="t">
            <a:noAutofit/>
          </a:bodyPr>
          <a:p>
            <a:endParaRPr lang="nl-NL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9" name="Text 5"/>
          <p:cNvSpPr/>
          <p:nvPr/>
        </p:nvSpPr>
        <p:spPr>
          <a:xfrm>
            <a:off x="1097280" y="2240280"/>
            <a:ext cx="5028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301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C2233"/>
                </a:solidFill>
                <a:effectLst/>
                <a:uFillTx/>
                <a:latin typeface="Calibri"/>
                <a:ea typeface="Calibri"/>
              </a:rPr>
              <a:t>Completeness, precision, context recall &amp; coverage — automated, run synchronously</a:t>
            </a:r>
            <a:endParaRPr lang="nl-NL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0" name="Shape 6"/>
          <p:cNvSpPr/>
          <p:nvPr/>
        </p:nvSpPr>
        <p:spPr>
          <a:xfrm>
            <a:off x="6217920" y="2359080"/>
            <a:ext cx="118440" cy="11844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38880" rIns="90000" bIns="38880" anchor="t">
            <a:noAutofit/>
          </a:bodyPr>
          <a:p>
            <a:endParaRPr lang="nl-NL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1" name="Text 7"/>
          <p:cNvSpPr/>
          <p:nvPr/>
        </p:nvSpPr>
        <p:spPr>
          <a:xfrm>
            <a:off x="6492240" y="2240280"/>
            <a:ext cx="5028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301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C2233"/>
                </a:solidFill>
                <a:effectLst/>
                <a:uFillTx/>
                <a:latin typeface="Calibri"/>
                <a:ea typeface="Calibri"/>
              </a:rPr>
              <a:t>Lexical overlap &amp; readability — async, requires a reference document</a:t>
            </a:r>
            <a:endParaRPr lang="nl-NL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2" name="Shape 8"/>
          <p:cNvSpPr/>
          <p:nvPr/>
        </p:nvSpPr>
        <p:spPr>
          <a:xfrm>
            <a:off x="822960" y="2889360"/>
            <a:ext cx="118440" cy="11844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38880" rIns="90000" bIns="38880" anchor="t">
            <a:noAutofit/>
          </a:bodyPr>
          <a:p>
            <a:endParaRPr lang="nl-NL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3" name="Text 9"/>
          <p:cNvSpPr/>
          <p:nvPr/>
        </p:nvSpPr>
        <p:spPr>
          <a:xfrm>
            <a:off x="1097280" y="2770560"/>
            <a:ext cx="5028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301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C2233"/>
                </a:solidFill>
                <a:effectLst/>
                <a:uFillTx/>
                <a:latin typeface="Calibri"/>
                <a:ea typeface="Calibri"/>
              </a:rPr>
              <a:t>User acceptance — manual, to assess whether results are meaningful</a:t>
            </a:r>
            <a:endParaRPr lang="nl-NL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4" name="Shape 10"/>
          <p:cNvSpPr/>
          <p:nvPr/>
        </p:nvSpPr>
        <p:spPr>
          <a:xfrm>
            <a:off x="6217920" y="2889360"/>
            <a:ext cx="118440" cy="11844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38880" rIns="90000" bIns="38880" anchor="t">
            <a:noAutofit/>
          </a:bodyPr>
          <a:p>
            <a:endParaRPr lang="nl-NL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5" name="Text 11"/>
          <p:cNvSpPr/>
          <p:nvPr/>
        </p:nvSpPr>
        <p:spPr>
          <a:xfrm>
            <a:off x="6492240" y="2770560"/>
            <a:ext cx="5028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301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C2233"/>
                </a:solidFill>
                <a:effectLst/>
                <a:uFillTx/>
                <a:latin typeface="Calibri"/>
                <a:ea typeface="Calibri"/>
              </a:rPr>
              <a:t>Post-publish feedback — collected from UI, stored for fine-tuning</a:t>
            </a:r>
            <a:endParaRPr lang="nl-NL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6" name="Shape 12"/>
          <p:cNvSpPr/>
          <p:nvPr/>
        </p:nvSpPr>
        <p:spPr>
          <a:xfrm>
            <a:off x="548640" y="3520440"/>
            <a:ext cx="11063880" cy="2742840"/>
          </a:xfrm>
          <a:prstGeom prst="roundRect">
            <a:avLst>
              <a:gd name="adj" fmla="val 2667"/>
            </a:avLst>
          </a:prstGeom>
          <a:solidFill>
            <a:srgbClr val="21295C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7" name="Text 13"/>
          <p:cNvSpPr/>
          <p:nvPr/>
        </p:nvSpPr>
        <p:spPr>
          <a:xfrm>
            <a:off x="822960" y="370332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pc="99" strike="noStrike">
                <a:solidFill>
                  <a:srgbClr val="E8A33D"/>
                </a:solidFill>
                <a:effectLst/>
                <a:uFillTx/>
                <a:latin typeface="Calibri"/>
                <a:ea typeface="Calibri"/>
              </a:rPr>
              <a:t>KEY EVALUATION QUESTIONS</a:t>
            </a:r>
            <a:endParaRPr lang="nl-NL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8" name="Text 14"/>
          <p:cNvSpPr/>
          <p:nvPr/>
        </p:nvSpPr>
        <p:spPr>
          <a:xfrm>
            <a:off x="822960" y="4069080"/>
            <a:ext cx="228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8A33D"/>
                </a:solidFill>
                <a:effectLst/>
                <a:uFillTx/>
                <a:latin typeface="Calibri"/>
                <a:ea typeface="Calibri"/>
              </a:rPr>
              <a:t>•</a:t>
            </a:r>
            <a:endParaRPr lang="nl-NL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9" name="Text 15"/>
          <p:cNvSpPr/>
          <p:nvPr/>
        </p:nvSpPr>
        <p:spPr>
          <a:xfrm>
            <a:off x="1051560" y="4069080"/>
            <a:ext cx="103323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4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 we consistently use the same term for every concept? (automatic term extraction: embed &amp; cluster terms to check)</a:t>
            </a:r>
            <a:endParaRPr lang="nl-NL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0" name="Text 16"/>
          <p:cNvSpPr/>
          <p:nvPr/>
        </p:nvSpPr>
        <p:spPr>
          <a:xfrm>
            <a:off x="822960" y="4480560"/>
            <a:ext cx="228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8A33D"/>
                </a:solidFill>
                <a:effectLst/>
                <a:uFillTx/>
                <a:latin typeface="Calibri"/>
                <a:ea typeface="Calibri"/>
              </a:rPr>
              <a:t>•</a:t>
            </a:r>
            <a:endParaRPr lang="nl-NL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1" name="Text 17"/>
          <p:cNvSpPr/>
          <p:nvPr/>
        </p:nvSpPr>
        <p:spPr>
          <a:xfrm>
            <a:off x="1051560" y="4480560"/>
            <a:ext cx="103323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4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Is our glossary complete? A concept is added when first used and a definition exists.</a:t>
            </a:r>
            <a:endParaRPr lang="nl-NL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2" name="Text 18"/>
          <p:cNvSpPr/>
          <p:nvPr/>
        </p:nvSpPr>
        <p:spPr>
          <a:xfrm>
            <a:off x="822960" y="4892040"/>
            <a:ext cx="228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8A33D"/>
                </a:solidFill>
                <a:effectLst/>
                <a:uFillTx/>
                <a:latin typeface="Calibri"/>
                <a:ea typeface="Calibri"/>
              </a:rPr>
              <a:t>•</a:t>
            </a:r>
            <a:endParaRPr lang="nl-NL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3" name="Text 19"/>
          <p:cNvSpPr/>
          <p:nvPr/>
        </p:nvSpPr>
        <p:spPr>
          <a:xfrm>
            <a:off x="1051560" y="4892040"/>
            <a:ext cx="103323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4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Quality = documentation that is actually used/read — hard to measure before availability; refine metrics after manual review.</a:t>
            </a:r>
            <a:endParaRPr lang="nl-NL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4" name="Text 20"/>
          <p:cNvSpPr/>
          <p:nvPr/>
        </p:nvSpPr>
        <p:spPr>
          <a:xfrm>
            <a:off x="822960" y="5303520"/>
            <a:ext cx="228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8A33D"/>
                </a:solidFill>
                <a:effectLst/>
                <a:uFillTx/>
                <a:latin typeface="Calibri"/>
                <a:ea typeface="Calibri"/>
              </a:rPr>
              <a:t>•</a:t>
            </a:r>
            <a:endParaRPr lang="nl-NL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5" name="Text 21"/>
          <p:cNvSpPr/>
          <p:nvPr/>
        </p:nvSpPr>
        <p:spPr>
          <a:xfrm>
            <a:off x="1051560" y="5303520"/>
            <a:ext cx="103323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4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What do we do with other agile item types (bug, task, spike, etc.)?</a:t>
            </a:r>
            <a:endParaRPr lang="nl-NL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6" name="Text 22"/>
          <p:cNvSpPr/>
          <p:nvPr/>
        </p:nvSpPr>
        <p:spPr>
          <a:xfrm>
            <a:off x="822960" y="5715000"/>
            <a:ext cx="228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8A33D"/>
                </a:solidFill>
                <a:effectLst/>
                <a:uFillTx/>
                <a:latin typeface="Calibri"/>
                <a:ea typeface="Calibri"/>
              </a:rPr>
              <a:t>•</a:t>
            </a:r>
            <a:endParaRPr lang="nl-NL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7" name="Text 23"/>
          <p:cNvSpPr/>
          <p:nvPr/>
        </p:nvSpPr>
        <p:spPr>
          <a:xfrm>
            <a:off x="1051560" y="5715000"/>
            <a:ext cx="103323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4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What is the real cost to create a meaningful, genuinely-used result?</a:t>
            </a:r>
            <a:endParaRPr lang="nl-NL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8" name="Text 24"/>
          <p:cNvSpPr/>
          <p:nvPr/>
        </p:nvSpPr>
        <p:spPr>
          <a:xfrm>
            <a:off x="548640" y="640080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5B6B75"/>
                </a:solidFill>
                <a:effectLst/>
                <a:uFillTx/>
                <a:latin typeface="Calibri"/>
                <a:ea typeface="Calibri"/>
              </a:rPr>
              <a:t>Functional Guide Generator · System Design</a:t>
            </a:r>
            <a:endParaRPr lang="nl-NL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9" name="Text 25"/>
          <p:cNvSpPr/>
          <p:nvPr/>
        </p:nvSpPr>
        <p:spPr>
          <a:xfrm>
            <a:off x="11003040" y="6400800"/>
            <a:ext cx="914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5B6B75"/>
                </a:solidFill>
                <a:effectLst/>
                <a:uFillTx/>
                <a:latin typeface="Calibri"/>
                <a:ea typeface="Calibri"/>
              </a:rPr>
              <a:t>13 / 18</a:t>
            </a:r>
            <a:endParaRPr lang="nl-NL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Text 0"/>
          <p:cNvSpPr/>
          <p:nvPr/>
        </p:nvSpPr>
        <p:spPr>
          <a:xfrm>
            <a:off x="548640" y="384120"/>
            <a:ext cx="73148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06 · TRADE-OFFS &amp; LIMITATIONS</a:t>
            </a:r>
            <a:endParaRPr lang="nl-NL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1" name="Text 1"/>
          <p:cNvSpPr/>
          <p:nvPr/>
        </p:nvSpPr>
        <p:spPr>
          <a:xfrm>
            <a:off x="548640" y="685800"/>
            <a:ext cx="105152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21295C"/>
                </a:solidFill>
                <a:effectLst/>
                <a:uFillTx/>
                <a:latin typeface="Cambria"/>
                <a:ea typeface="Cambria"/>
              </a:rPr>
              <a:t>Trade-offs &amp; limitations</a:t>
            </a:r>
            <a:endParaRPr lang="nl-NL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00" name="Shape Row0"/>
          <p:cNvSpPr/>
          <p:nvPr/>
        </p:nvSpPr>
        <p:spPr>
          <a:xfrm>
            <a:off x="548640" y="1737360"/>
            <a:ext cx="11063880" cy="505000"/>
          </a:xfrm>
          <a:prstGeom prst="rect">
            <a:avLst/>
          </a:prstGeom>
          <a:solidFill>
            <a:srgbClr val="EAF3F8"/>
          </a:solidFill>
          <a:ln w="9525">
            <a:solidFill>
              <a:srgbClr val="DCEAF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01" name="Text Concern0"/>
          <p:cNvSpPr/>
          <p:nvPr/>
        </p:nvSpPr>
        <p:spPr>
          <a:xfrm>
            <a:off x="685800" y="1737360"/>
            <a:ext cx="2285640" cy="50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301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Source quality</a:t>
            </a:r>
            <a:endParaRPr lang="nl-NL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02" name="Text Limit0"/>
          <p:cNvSpPr/>
          <p:nvPr/>
        </p:nvSpPr>
        <p:spPr>
          <a:xfrm>
            <a:off x="3017520" y="1737360"/>
            <a:ext cx="4114440" cy="50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25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C2233"/>
                </a:solidFill>
                <a:effectLst/>
                <a:uFillTx/>
                <a:latin typeface="Calibri"/>
                <a:ea typeface="Calibri"/>
              </a:rPr>
              <a:t>Garbage-in, garbage-out; poor tickets or vague specs yield shallow docs</a:t>
            </a:r>
            <a:endParaRPr lang="nl-NL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03" name="Text Reason0"/>
          <p:cNvSpPr/>
          <p:nvPr/>
        </p:nvSpPr>
        <p:spPr>
          <a:xfrm>
            <a:off x="7223760" y="1737360"/>
            <a:ext cx="4297320" cy="50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25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Warn user on low-quality data or low similarity scores; prompt for better sources</a:t>
            </a:r>
            <a:endParaRPr lang="nl-NL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04" name="Shape Row1"/>
          <p:cNvSpPr/>
          <p:nvPr/>
        </p:nvSpPr>
        <p:spPr>
          <a:xfrm>
            <a:off x="548640" y="2242360"/>
            <a:ext cx="11063880" cy="5050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AF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05" name="Text Concern1"/>
          <p:cNvSpPr/>
          <p:nvPr/>
        </p:nvSpPr>
        <p:spPr>
          <a:xfrm>
            <a:off x="685800" y="2242360"/>
            <a:ext cx="2285640" cy="50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301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Hallucination</a:t>
            </a:r>
            <a:endParaRPr lang="nl-NL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06" name="Text Limit1"/>
          <p:cNvSpPr/>
          <p:nvPr/>
        </p:nvSpPr>
        <p:spPr>
          <a:xfrm>
            <a:off x="3017520" y="2242360"/>
            <a:ext cx="4114440" cy="50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25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C2233"/>
                </a:solidFill>
                <a:effectLst/>
                <a:uFillTx/>
                <a:latin typeface="Calibri"/>
                <a:ea typeface="Calibri"/>
              </a:rPr>
              <a:t>LLM may infer behaviour not present in sources</a:t>
            </a:r>
            <a:endParaRPr lang="nl-NL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07" name="Text Reason1"/>
          <p:cNvSpPr/>
          <p:nvPr/>
        </p:nvSpPr>
        <p:spPr>
          <a:xfrm>
            <a:off x="7223760" y="2242360"/>
            <a:ext cx="4297320" cy="50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25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Precision/context recall checks flag low-confidence sentences; human review required before publish</a:t>
            </a:r>
            <a:endParaRPr lang="nl-NL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08" name="Shape Row2"/>
          <p:cNvSpPr/>
          <p:nvPr/>
        </p:nvSpPr>
        <p:spPr>
          <a:xfrm>
            <a:off x="548640" y="2747360"/>
            <a:ext cx="11063880" cy="505000"/>
          </a:xfrm>
          <a:prstGeom prst="rect">
            <a:avLst/>
          </a:prstGeom>
          <a:solidFill>
            <a:srgbClr val="EAF3F8"/>
          </a:solidFill>
          <a:ln w="9525">
            <a:solidFill>
              <a:srgbClr val="DCEAF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09" name="Text Concern2"/>
          <p:cNvSpPr/>
          <p:nvPr/>
        </p:nvSpPr>
        <p:spPr>
          <a:xfrm>
            <a:off x="685800" y="2747360"/>
            <a:ext cx="2285640" cy="50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301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Output format</a:t>
            </a:r>
            <a:endParaRPr lang="nl-NL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10" name="Text Limit2"/>
          <p:cNvSpPr/>
          <p:nvPr/>
        </p:nvSpPr>
        <p:spPr>
          <a:xfrm>
            <a:off x="3017520" y="2747360"/>
            <a:ext cx="4114440" cy="50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25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C2233"/>
                </a:solidFill>
                <a:effectLst/>
                <a:uFillTx/>
                <a:latin typeface="Calibri"/>
                <a:ea typeface="Calibri"/>
              </a:rPr>
              <a:t>Generates Markdown only; post-processing exports to Word, PDF, HTML, wiki page</a:t>
            </a:r>
            <a:endParaRPr lang="nl-NL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11" name="Text Reason2"/>
          <p:cNvSpPr/>
          <p:nvPr/>
        </p:nvSpPr>
        <p:spPr>
          <a:xfrm>
            <a:off x="7223760" y="2747360"/>
            <a:ext cx="4297320" cy="50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25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Markdown is the most portable intermediate format; converters exist for target formats</a:t>
            </a:r>
            <a:endParaRPr lang="nl-NL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12" name="Shape Row3"/>
          <p:cNvSpPr/>
          <p:nvPr/>
        </p:nvSpPr>
        <p:spPr>
          <a:xfrm>
            <a:off x="548640" y="3252360"/>
            <a:ext cx="11063880" cy="5050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AF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13" name="Text Concern3"/>
          <p:cNvSpPr/>
          <p:nvPr/>
        </p:nvSpPr>
        <p:spPr>
          <a:xfrm>
            <a:off x="685800" y="3252360"/>
            <a:ext cx="2285640" cy="50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301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Cost</a:t>
            </a:r>
            <a:endParaRPr lang="nl-NL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14" name="Text Limit3"/>
          <p:cNvSpPr/>
          <p:nvPr/>
        </p:nvSpPr>
        <p:spPr>
          <a:xfrm>
            <a:off x="3017520" y="3252360"/>
            <a:ext cx="4114440" cy="50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25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C2233"/>
                </a:solidFill>
                <a:effectLst/>
                <a:uFillTx/>
                <a:latin typeface="Calibri"/>
                <a:ea typeface="Calibri"/>
              </a:rPr>
              <a:t>Balance cost with quality of generation &amp; evaluation</a:t>
            </a:r>
            <a:endParaRPr lang="nl-NL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15" name="Text Reason3"/>
          <p:cNvSpPr/>
          <p:nvPr/>
        </p:nvSpPr>
        <p:spPr>
          <a:xfrm>
            <a:off x="7223760" y="3252360"/>
            <a:ext cx="4297320" cy="50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25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Limit LLM calls to reduce cost; use smaller models for specific tasks. Major cost factor is calls to external LLMs</a:t>
            </a:r>
            <a:endParaRPr lang="nl-NL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16" name="Shape Row4"/>
          <p:cNvSpPr/>
          <p:nvPr/>
        </p:nvSpPr>
        <p:spPr>
          <a:xfrm>
            <a:off x="548640" y="3757360"/>
            <a:ext cx="11063880" cy="505000"/>
          </a:xfrm>
          <a:prstGeom prst="rect">
            <a:avLst/>
          </a:prstGeom>
          <a:solidFill>
            <a:srgbClr val="EAF3F8"/>
          </a:solidFill>
          <a:ln w="9525">
            <a:solidFill>
              <a:srgbClr val="DCEAF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17" name="Text Concern4"/>
          <p:cNvSpPr/>
          <p:nvPr/>
        </p:nvSpPr>
        <p:spPr>
          <a:xfrm>
            <a:off x="685800" y="3757360"/>
            <a:ext cx="2285640" cy="50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301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Context window size</a:t>
            </a:r>
            <a:endParaRPr lang="nl-NL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18" name="Text Limit4"/>
          <p:cNvSpPr/>
          <p:nvPr/>
        </p:nvSpPr>
        <p:spPr>
          <a:xfrm>
            <a:off x="3017520" y="3757360"/>
            <a:ext cx="4114440" cy="50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25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C2233"/>
                </a:solidFill>
                <a:effectLst/>
                <a:uFillTx/>
                <a:latin typeface="Calibri"/>
                <a:ea typeface="Calibri"/>
              </a:rPr>
              <a:t>Larger context windows increase hallucination risk</a:t>
            </a:r>
            <a:endParaRPr lang="nl-NL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19" name="Text Reason4"/>
          <p:cNvSpPr/>
          <p:nvPr/>
        </p:nvSpPr>
        <p:spPr>
          <a:xfrm>
            <a:off x="7223760" y="3757360"/>
            <a:ext cx="4297320" cy="50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25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Keep it small; generate section-by-section, ideally with an outline pass before generation</a:t>
            </a:r>
            <a:endParaRPr lang="nl-NL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20" name="Shape Row5"/>
          <p:cNvSpPr/>
          <p:nvPr/>
        </p:nvSpPr>
        <p:spPr>
          <a:xfrm>
            <a:off x="548640" y="4262360"/>
            <a:ext cx="11063880" cy="505000"/>
          </a:xfrm>
          <a:prstGeom prst="rect">
            <a:avLst/>
          </a:prstGeom>
          <a:solidFill>
            <a:srgbClr val="D9D9D9"/>
          </a:solidFill>
          <a:ln w="9525">
            <a:solidFill>
              <a:srgbClr val="DCEAF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21" name="Text Concern5"/>
          <p:cNvSpPr/>
          <p:nvPr/>
        </p:nvSpPr>
        <p:spPr>
          <a:xfrm>
            <a:off x="685800" y="4262360"/>
            <a:ext cx="2285640" cy="50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301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Real-time sync</a:t>
            </a:r>
            <a:endParaRPr lang="nl-NL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22" name="Text Limit5"/>
          <p:cNvSpPr/>
          <p:nvPr/>
        </p:nvSpPr>
        <p:spPr>
          <a:xfrm>
            <a:off x="3017520" y="4262360"/>
            <a:ext cx="4114440" cy="50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25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C2233"/>
                </a:solidFill>
                <a:effectLst/>
                <a:uFillTx/>
                <a:latin typeface="Calibri"/>
                <a:ea typeface="Calibri"/>
              </a:rPr>
              <a:t>No automatic re-ingestion when a ticket or code file changes</a:t>
            </a:r>
            <a:endParaRPr lang="nl-NL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23" name="Text Reason5"/>
          <p:cNvSpPr/>
          <p:nvPr/>
        </p:nvSpPr>
        <p:spPr>
          <a:xfrm>
            <a:off x="7223760" y="4262360"/>
            <a:ext cx="4297320" cy="50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25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Later: manual re-index</a:t>
            </a:r>
            <a:endParaRPr lang="nl-NL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24" name="Shape Row6"/>
          <p:cNvSpPr/>
          <p:nvPr/>
        </p:nvSpPr>
        <p:spPr>
          <a:xfrm>
            <a:off x="548640" y="4767360"/>
            <a:ext cx="11063880" cy="505000"/>
          </a:xfrm>
          <a:prstGeom prst="rect">
            <a:avLst/>
          </a:prstGeom>
          <a:solidFill>
            <a:srgbClr val="D9D9D9"/>
          </a:solidFill>
          <a:ln w="9525">
            <a:solidFill>
              <a:srgbClr val="DCEAF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25" name="Text Concern6"/>
          <p:cNvSpPr/>
          <p:nvPr/>
        </p:nvSpPr>
        <p:spPr>
          <a:xfrm>
            <a:off x="685800" y="4767360"/>
            <a:ext cx="2285640" cy="50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301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Multilingual output</a:t>
            </a:r>
            <a:endParaRPr lang="nl-NL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26" name="Text Limit6"/>
          <p:cNvSpPr/>
          <p:nvPr/>
        </p:nvSpPr>
        <p:spPr>
          <a:xfrm>
            <a:off x="3017520" y="4767360"/>
            <a:ext cx="4114440" cy="50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25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C2233"/>
                </a:solidFill>
                <a:effectLst/>
                <a:uFillTx/>
                <a:latin typeface="Calibri"/>
                <a:ea typeface="Calibri"/>
              </a:rPr>
              <a:t>Generation language follows the dominant language of sources</a:t>
            </a:r>
            <a:endParaRPr lang="nl-NL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27" name="Text Reason6"/>
          <p:cNvSpPr/>
          <p:nvPr/>
        </p:nvSpPr>
        <p:spPr>
          <a:xfrm>
            <a:off x="7223760" y="4767360"/>
            <a:ext cx="4297320" cy="50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25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Later: explicit language override parameter planned</a:t>
            </a:r>
            <a:endParaRPr lang="nl-NL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28" name="Shape Row7"/>
          <p:cNvSpPr/>
          <p:nvPr/>
        </p:nvSpPr>
        <p:spPr>
          <a:xfrm>
            <a:off x="548640" y="5272360"/>
            <a:ext cx="11063880" cy="505000"/>
          </a:xfrm>
          <a:prstGeom prst="rect">
            <a:avLst/>
          </a:prstGeom>
          <a:solidFill>
            <a:srgbClr val="D9D9D9"/>
          </a:solidFill>
          <a:ln w="9525">
            <a:solidFill>
              <a:srgbClr val="DCEAF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29" name="Text Concern7"/>
          <p:cNvSpPr/>
          <p:nvPr/>
        </p:nvSpPr>
        <p:spPr>
          <a:xfrm>
            <a:off x="685800" y="5272360"/>
            <a:ext cx="2285640" cy="50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301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Access control</a:t>
            </a:r>
            <a:endParaRPr lang="nl-NL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30" name="Text Limit7"/>
          <p:cNvSpPr/>
          <p:nvPr/>
        </p:nvSpPr>
        <p:spPr>
          <a:xfrm>
            <a:off x="3017520" y="5272360"/>
            <a:ext cx="4114440" cy="50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25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C2233"/>
                </a:solidFill>
                <a:effectLst/>
                <a:uFillTx/>
                <a:latin typeface="Calibri"/>
                <a:ea typeface="Calibri"/>
              </a:rPr>
              <a:t>No per-user permission model on source artifacts</a:t>
            </a:r>
            <a:endParaRPr lang="nl-NL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31" name="Text Reason7"/>
          <p:cNvSpPr/>
          <p:nvPr/>
        </p:nvSpPr>
        <p:spPr>
          <a:xfrm>
            <a:off x="7223760" y="5272360"/>
            <a:ext cx="4297320" cy="50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25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Later: assumes operator controls which sources are connected</a:t>
            </a:r>
            <a:endParaRPr lang="nl-NL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32" name="Shape Row8"/>
          <p:cNvSpPr/>
          <p:nvPr/>
        </p:nvSpPr>
        <p:spPr>
          <a:xfrm>
            <a:off x="548640" y="5777360"/>
            <a:ext cx="11063880" cy="505000"/>
          </a:xfrm>
          <a:prstGeom prst="rect">
            <a:avLst/>
          </a:prstGeom>
          <a:solidFill>
            <a:srgbClr val="D9D9D9"/>
          </a:solidFill>
          <a:ln w="9525">
            <a:solidFill>
              <a:srgbClr val="DCEAF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33" name="Text Concern8"/>
          <p:cNvSpPr/>
          <p:nvPr/>
        </p:nvSpPr>
        <p:spPr>
          <a:xfrm>
            <a:off x="685800" y="5777360"/>
            <a:ext cx="2285640" cy="50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301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UI/API output</a:t>
            </a:r>
            <a:endParaRPr lang="nl-NL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34" name="Text Limit8"/>
          <p:cNvSpPr/>
          <p:nvPr/>
        </p:nvSpPr>
        <p:spPr>
          <a:xfrm>
            <a:off x="3017520" y="5777360"/>
            <a:ext cx="4114440" cy="50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25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C2233"/>
                </a:solidFill>
                <a:effectLst/>
                <a:uFillTx/>
                <a:latin typeface="Calibri"/>
                <a:ea typeface="Calibri"/>
              </a:rPr>
              <a:t>Does not serve automated results</a:t>
            </a:r>
            <a:endParaRPr lang="nl-NL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35" name="Text Reason8"/>
          <p:cNvSpPr/>
          <p:nvPr/>
        </p:nvSpPr>
        <p:spPr>
          <a:xfrm>
            <a:off x="7223760" y="5777360"/>
            <a:ext cx="4297320" cy="50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25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Later: nice visualization of output</a:t>
            </a:r>
            <a:endParaRPr lang="nl-NL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6" name="Text 26"/>
          <p:cNvSpPr/>
          <p:nvPr/>
        </p:nvSpPr>
        <p:spPr>
          <a:xfrm>
            <a:off x="548640" y="640080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5B6B75"/>
                </a:solidFill>
                <a:effectLst/>
                <a:uFillTx/>
                <a:latin typeface="Calibri"/>
                <a:ea typeface="Calibri"/>
              </a:rPr>
              <a:t>Functional Guide Generator · System Design</a:t>
            </a:r>
            <a:endParaRPr lang="nl-NL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7" name="Text 27"/>
          <p:cNvSpPr/>
          <p:nvPr/>
        </p:nvSpPr>
        <p:spPr>
          <a:xfrm>
            <a:off x="11003040" y="6400800"/>
            <a:ext cx="914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5B6B75"/>
                </a:solidFill>
                <a:effectLst/>
                <a:uFillTx/>
                <a:latin typeface="Calibri"/>
                <a:ea typeface="Calibri"/>
              </a:rPr>
              <a:t>14 / 18</a:t>
            </a:r>
            <a:endParaRPr lang="nl-NL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Text 0"/>
          <p:cNvSpPr/>
          <p:nvPr/>
        </p:nvSpPr>
        <p:spPr>
          <a:xfrm>
            <a:off x="548640" y="384120"/>
            <a:ext cx="73148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07 · IDEAS TO IMPROVE QUALITY</a:t>
            </a:r>
            <a:endParaRPr lang="nl-NL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9" name="Text 1"/>
          <p:cNvSpPr/>
          <p:nvPr/>
        </p:nvSpPr>
        <p:spPr>
          <a:xfrm>
            <a:off x="548640" y="685800"/>
            <a:ext cx="105152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21295C"/>
                </a:solidFill>
                <a:effectLst/>
                <a:uFillTx/>
                <a:latin typeface="Cambria"/>
                <a:ea typeface="Cambria"/>
              </a:rPr>
              <a:t>Raising overall quality</a:t>
            </a:r>
            <a:endParaRPr lang="nl-NL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0" name="Text 2"/>
          <p:cNvSpPr/>
          <p:nvPr/>
        </p:nvSpPr>
        <p:spPr>
          <a:xfrm>
            <a:off x="548640" y="1481400"/>
            <a:ext cx="106981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599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5B6B75"/>
                </a:solidFill>
                <a:effectLst/>
                <a:uFillTx/>
                <a:latin typeface="Calibri"/>
                <a:ea typeface="Calibri"/>
              </a:rPr>
              <a:t>The solution can only work with at least one input source containing quality information. When using agile board items as the input source:</a:t>
            </a:r>
            <a:endParaRPr lang="nl-NL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1" name="Shape 3"/>
          <p:cNvSpPr/>
          <p:nvPr/>
        </p:nvSpPr>
        <p:spPr>
          <a:xfrm>
            <a:off x="548640" y="2103120"/>
            <a:ext cx="3565800" cy="3840120"/>
          </a:xfrm>
          <a:prstGeom prst="roundRect">
            <a:avLst>
              <a:gd name="adj" fmla="val 2051"/>
            </a:avLst>
          </a:prstGeom>
          <a:solidFill>
            <a:srgbClr val="065A82"/>
          </a:solidFill>
          <a:ln w="12700">
            <a:solidFill>
              <a:srgbClr val="DCEAF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2" name="Shape 4"/>
          <p:cNvSpPr/>
          <p:nvPr/>
        </p:nvSpPr>
        <p:spPr>
          <a:xfrm>
            <a:off x="822960" y="2377440"/>
            <a:ext cx="456840" cy="456840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E8A33D"/>
          </a:solidFill>
          <a:ln w="12700">
            <a:solidFill>
              <a:srgbClr val="E8A3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3" name="Text 5"/>
          <p:cNvSpPr/>
          <p:nvPr/>
        </p:nvSpPr>
        <p:spPr>
          <a:xfrm>
            <a:off x="822960" y="237744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21295C"/>
                </a:solidFill>
                <a:effectLst/>
                <a:uFillTx/>
                <a:latin typeface="Cambria"/>
                <a:ea typeface="Cambria"/>
              </a:rPr>
              <a:t>1</a:t>
            </a:r>
            <a:endParaRPr lang="nl-N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4" name="Text 6"/>
          <p:cNvSpPr/>
          <p:nvPr/>
        </p:nvSpPr>
        <p:spPr>
          <a:xfrm>
            <a:off x="822960" y="2971800"/>
            <a:ext cx="30171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899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Data &amp; quality</a:t>
            </a:r>
            <a:endParaRPr lang="nl-NL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5" name="Text 7"/>
          <p:cNvSpPr/>
          <p:nvPr/>
        </p:nvSpPr>
        <p:spPr>
          <a:xfrm>
            <a:off x="822960" y="3566160"/>
            <a:ext cx="3017160" cy="22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599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AF3F8"/>
                </a:solidFill>
                <a:effectLst/>
                <a:uFillTx/>
                <a:latin typeface="Calibri"/>
                <a:ea typeface="Calibri"/>
              </a:rPr>
              <a:t>The level of detail on an agile board can strongly vary — from a one-liner up to near pseudo-code. Use templates per item type, ensure descriptions are detailed enough (compare against reference examples), and identify all backlog items relevant to the functionality being documented.</a:t>
            </a:r>
            <a:endParaRPr lang="nl-NL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6" name="Shape 8"/>
          <p:cNvSpPr/>
          <p:nvPr/>
        </p:nvSpPr>
        <p:spPr>
          <a:xfrm>
            <a:off x="4297680" y="2103120"/>
            <a:ext cx="3565800" cy="3840120"/>
          </a:xfrm>
          <a:prstGeom prst="roundRect">
            <a:avLst>
              <a:gd name="adj" fmla="val 2051"/>
            </a:avLst>
          </a:prstGeom>
          <a:solidFill>
            <a:srgbClr val="EAF3F8"/>
          </a:solidFill>
          <a:ln w="12700">
            <a:solidFill>
              <a:srgbClr val="DCEAF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7" name="Shape 9"/>
          <p:cNvSpPr/>
          <p:nvPr/>
        </p:nvSpPr>
        <p:spPr>
          <a:xfrm>
            <a:off x="4572000" y="2377440"/>
            <a:ext cx="456840" cy="456840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1C7293"/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8" name="Text 10"/>
          <p:cNvSpPr/>
          <p:nvPr/>
        </p:nvSpPr>
        <p:spPr>
          <a:xfrm>
            <a:off x="4572000" y="237744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21295C"/>
                </a:solidFill>
                <a:effectLst/>
                <a:uFillTx/>
                <a:latin typeface="Cambria"/>
                <a:ea typeface="Cambria"/>
              </a:rPr>
              <a:t>2</a:t>
            </a:r>
            <a:endParaRPr lang="nl-N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9" name="Text 11"/>
          <p:cNvSpPr/>
          <p:nvPr/>
        </p:nvSpPr>
        <p:spPr>
          <a:xfrm>
            <a:off x="4572000" y="2971800"/>
            <a:ext cx="30171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899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21295C"/>
                </a:solidFill>
                <a:effectLst/>
                <a:uFillTx/>
                <a:latin typeface="Cambria"/>
                <a:ea typeface="Cambria"/>
              </a:rPr>
              <a:t>Feature definition</a:t>
            </a:r>
            <a:endParaRPr lang="nl-NL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0" name="Text 12"/>
          <p:cNvSpPr/>
          <p:nvPr/>
        </p:nvSpPr>
        <p:spPr>
          <a:xfrm>
            <a:off x="4572000" y="3566160"/>
            <a:ext cx="3017160" cy="22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599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0C2233"/>
                </a:solidFill>
                <a:effectLst/>
                <a:uFillTx/>
                <a:latin typeface="Calibri"/>
                <a:ea typeface="Calibri"/>
              </a:rPr>
              <a:t>We ensure all items of a feature are grouped together.</a:t>
            </a:r>
            <a:endParaRPr lang="nl-NL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1" name="Shape 13"/>
          <p:cNvSpPr/>
          <p:nvPr/>
        </p:nvSpPr>
        <p:spPr>
          <a:xfrm>
            <a:off x="8046720" y="2103120"/>
            <a:ext cx="3565800" cy="3840120"/>
          </a:xfrm>
          <a:prstGeom prst="roundRect">
            <a:avLst>
              <a:gd name="adj" fmla="val 2051"/>
            </a:avLst>
          </a:prstGeom>
          <a:solidFill>
            <a:srgbClr val="EAF3F8"/>
          </a:solidFill>
          <a:ln w="12700">
            <a:solidFill>
              <a:srgbClr val="DCEAF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2" name="Shape 14"/>
          <p:cNvSpPr/>
          <p:nvPr/>
        </p:nvSpPr>
        <p:spPr>
          <a:xfrm>
            <a:off x="8321040" y="2377440"/>
            <a:ext cx="456840" cy="456840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1C7293"/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3" name="Text 15"/>
          <p:cNvSpPr/>
          <p:nvPr/>
        </p:nvSpPr>
        <p:spPr>
          <a:xfrm>
            <a:off x="8321040" y="237744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21295C"/>
                </a:solidFill>
                <a:effectLst/>
                <a:uFillTx/>
                <a:latin typeface="Cambria"/>
                <a:ea typeface="Cambria"/>
              </a:rPr>
              <a:t>3</a:t>
            </a:r>
            <a:endParaRPr lang="nl-N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4" name="Text 16"/>
          <p:cNvSpPr/>
          <p:nvPr/>
        </p:nvSpPr>
        <p:spPr>
          <a:xfrm>
            <a:off x="8321040" y="2971800"/>
            <a:ext cx="30171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899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21295C"/>
                </a:solidFill>
                <a:effectLst/>
                <a:uFillTx/>
                <a:latin typeface="Cambria"/>
                <a:ea typeface="Cambria"/>
              </a:rPr>
              <a:t>Documentation quality</a:t>
            </a:r>
            <a:endParaRPr lang="nl-NL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5" name="Text 17"/>
          <p:cNvSpPr/>
          <p:nvPr/>
        </p:nvSpPr>
        <p:spPr>
          <a:xfrm>
            <a:off x="8321040" y="3566160"/>
            <a:ext cx="3017160" cy="22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599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0C2233"/>
                </a:solidFill>
                <a:effectLst/>
                <a:uFillTx/>
                <a:latin typeface="Calibri"/>
                <a:ea typeface="Calibri"/>
              </a:rPr>
              <a:t>Further specify what is 'good' documentation — i.e. actually used and read — and get additional input to assess this through human review and acceptance.</a:t>
            </a:r>
            <a:endParaRPr lang="nl-NL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6" name="Text 18"/>
          <p:cNvSpPr/>
          <p:nvPr/>
        </p:nvSpPr>
        <p:spPr>
          <a:xfrm>
            <a:off x="548640" y="640080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5B6B75"/>
                </a:solidFill>
                <a:effectLst/>
                <a:uFillTx/>
                <a:latin typeface="Calibri"/>
                <a:ea typeface="Calibri"/>
              </a:rPr>
              <a:t>Functional Guide Generator · System Design</a:t>
            </a:r>
            <a:endParaRPr lang="nl-NL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7" name="Text 19"/>
          <p:cNvSpPr/>
          <p:nvPr/>
        </p:nvSpPr>
        <p:spPr>
          <a:xfrm>
            <a:off x="11003040" y="6400800"/>
            <a:ext cx="914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5B6B75"/>
                </a:solidFill>
                <a:effectLst/>
                <a:uFillTx/>
                <a:latin typeface="Calibri"/>
                <a:ea typeface="Calibri"/>
              </a:rPr>
              <a:t>15 / 18</a:t>
            </a:r>
            <a:endParaRPr lang="nl-NL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Text 0"/>
          <p:cNvSpPr/>
          <p:nvPr/>
        </p:nvSpPr>
        <p:spPr>
          <a:xfrm>
            <a:off x="548640" y="384120"/>
            <a:ext cx="73148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E8A33D"/>
                </a:solidFill>
                <a:effectLst/>
                <a:uFillTx/>
                <a:latin typeface="Calibri"/>
                <a:ea typeface="Calibri"/>
              </a:rPr>
              <a:t>08 · BIGGEST CHALLENGES</a:t>
            </a:r>
            <a:endParaRPr lang="nl-NL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9" name="Text 1"/>
          <p:cNvSpPr/>
          <p:nvPr/>
        </p:nvSpPr>
        <p:spPr>
          <a:xfrm>
            <a:off x="548640" y="685800"/>
            <a:ext cx="100580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The three biggest challenges</a:t>
            </a:r>
            <a:endParaRPr lang="nl-NL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0" name="Shape 2"/>
          <p:cNvSpPr/>
          <p:nvPr/>
        </p:nvSpPr>
        <p:spPr>
          <a:xfrm>
            <a:off x="548640" y="2103120"/>
            <a:ext cx="3520080" cy="3657240"/>
          </a:xfrm>
          <a:prstGeom prst="roundRect">
            <a:avLst>
              <a:gd name="adj" fmla="val 2338"/>
            </a:avLst>
          </a:prstGeom>
          <a:solidFill>
            <a:srgbClr val="1A2350"/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1" name="Text 3"/>
          <p:cNvSpPr/>
          <p:nvPr/>
        </p:nvSpPr>
        <p:spPr>
          <a:xfrm>
            <a:off x="868680" y="2331720"/>
            <a:ext cx="182844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600" b="1" u="none" strike="noStrike">
                <a:solidFill>
                  <a:srgbClr val="E8A33D"/>
                </a:solidFill>
                <a:effectLst/>
                <a:uFillTx/>
                <a:latin typeface="Cambria"/>
                <a:ea typeface="Cambria"/>
              </a:rPr>
              <a:t>01</a:t>
            </a:r>
            <a:endParaRPr lang="nl-NL" sz="4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2" name="Text 4"/>
          <p:cNvSpPr/>
          <p:nvPr/>
        </p:nvSpPr>
        <p:spPr>
          <a:xfrm>
            <a:off x="868680" y="3429000"/>
            <a:ext cx="28800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2001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Input data quality</a:t>
            </a:r>
            <a:endParaRPr lang="nl-NL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3" name="Text 5"/>
          <p:cNvSpPr/>
          <p:nvPr/>
        </p:nvSpPr>
        <p:spPr>
          <a:xfrm>
            <a:off x="868680" y="4160520"/>
            <a:ext cx="2880000" cy="146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599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Quality of the input data source(s) fundamentally caps output quality.</a:t>
            </a:r>
            <a:endParaRPr lang="nl-NL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4" name="Shape 6"/>
          <p:cNvSpPr/>
          <p:nvPr/>
        </p:nvSpPr>
        <p:spPr>
          <a:xfrm>
            <a:off x="4343400" y="2103120"/>
            <a:ext cx="3520080" cy="3657240"/>
          </a:xfrm>
          <a:prstGeom prst="roundRect">
            <a:avLst>
              <a:gd name="adj" fmla="val 2338"/>
            </a:avLst>
          </a:prstGeom>
          <a:solidFill>
            <a:srgbClr val="1A2350"/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5" name="Text 7"/>
          <p:cNvSpPr/>
          <p:nvPr/>
        </p:nvSpPr>
        <p:spPr>
          <a:xfrm>
            <a:off x="4663440" y="2331720"/>
            <a:ext cx="182844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600" b="1" u="none" strike="noStrike">
                <a:solidFill>
                  <a:srgbClr val="E8A33D"/>
                </a:solidFill>
                <a:effectLst/>
                <a:uFillTx/>
                <a:latin typeface="Cambria"/>
                <a:ea typeface="Cambria"/>
              </a:rPr>
              <a:t>02</a:t>
            </a:r>
            <a:endParaRPr lang="nl-NL" sz="4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6" name="Text 8"/>
          <p:cNvSpPr/>
          <p:nvPr/>
        </p:nvSpPr>
        <p:spPr>
          <a:xfrm>
            <a:off x="4663440" y="3429000"/>
            <a:ext cx="28800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2001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Evaluation quality</a:t>
            </a:r>
            <a:endParaRPr lang="nl-NL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7" name="Text 9"/>
          <p:cNvSpPr/>
          <p:nvPr/>
        </p:nvSpPr>
        <p:spPr>
          <a:xfrm>
            <a:off x="4663440" y="4160520"/>
            <a:ext cx="2880000" cy="146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599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Evaluation quality, to make the result genuinely 'useful'.</a:t>
            </a:r>
            <a:endParaRPr lang="nl-NL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8" name="Shape 10"/>
          <p:cNvSpPr/>
          <p:nvPr/>
        </p:nvSpPr>
        <p:spPr>
          <a:xfrm>
            <a:off x="8138160" y="2103120"/>
            <a:ext cx="3520080" cy="3657240"/>
          </a:xfrm>
          <a:prstGeom prst="roundRect">
            <a:avLst>
              <a:gd name="adj" fmla="val 2338"/>
            </a:avLst>
          </a:prstGeom>
          <a:solidFill>
            <a:srgbClr val="1A2350"/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9" name="Text 11"/>
          <p:cNvSpPr/>
          <p:nvPr/>
        </p:nvSpPr>
        <p:spPr>
          <a:xfrm>
            <a:off x="8458200" y="2331720"/>
            <a:ext cx="182844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600" b="1" u="none" strike="noStrike">
                <a:solidFill>
                  <a:srgbClr val="E8A33D"/>
                </a:solidFill>
                <a:effectLst/>
                <a:uFillTx/>
                <a:latin typeface="Cambria"/>
                <a:ea typeface="Cambria"/>
              </a:rPr>
              <a:t>03</a:t>
            </a:r>
            <a:endParaRPr lang="nl-NL" sz="4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0" name="Text 12"/>
          <p:cNvSpPr/>
          <p:nvPr/>
        </p:nvSpPr>
        <p:spPr>
          <a:xfrm>
            <a:off x="8458200" y="3429000"/>
            <a:ext cx="28800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2001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Cost-benefit case</a:t>
            </a:r>
            <a:endParaRPr lang="nl-NL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1" name="Text 13"/>
          <p:cNvSpPr/>
          <p:nvPr/>
        </p:nvSpPr>
        <p:spPr>
          <a:xfrm>
            <a:off x="8458200" y="4160520"/>
            <a:ext cx="2880000" cy="146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599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Doing a cost-benefit analysis, to have a real, valid use case.</a:t>
            </a:r>
            <a:endParaRPr lang="nl-NL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2" name="Text 14"/>
          <p:cNvSpPr/>
          <p:nvPr/>
        </p:nvSpPr>
        <p:spPr>
          <a:xfrm>
            <a:off x="11003040" y="6400800"/>
            <a:ext cx="914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9FB8C8"/>
                </a:solidFill>
                <a:effectLst/>
                <a:uFillTx/>
                <a:latin typeface="Calibri"/>
                <a:ea typeface="Calibri"/>
              </a:rPr>
              <a:t>16 / 18</a:t>
            </a:r>
            <a:endParaRPr lang="nl-NL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3" name="Text 15"/>
          <p:cNvSpPr/>
          <p:nvPr/>
        </p:nvSpPr>
        <p:spPr>
          <a:xfrm>
            <a:off x="548640" y="640080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8FB0C4"/>
                </a:solidFill>
                <a:effectLst/>
                <a:uFillTx/>
                <a:latin typeface="Calibri"/>
                <a:ea typeface="Calibri"/>
              </a:rPr>
              <a:t>Functional Guide Generator · System Design</a:t>
            </a:r>
            <a:endParaRPr lang="nl-NL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Text 0"/>
          <p:cNvSpPr/>
          <p:nvPr/>
        </p:nvSpPr>
        <p:spPr>
          <a:xfrm>
            <a:off x="548640" y="384120"/>
            <a:ext cx="73148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09 · ANNEX — NEXT STEPS</a:t>
            </a:r>
            <a:endParaRPr lang="nl-NL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5" name="Text 1"/>
          <p:cNvSpPr/>
          <p:nvPr/>
        </p:nvSpPr>
        <p:spPr>
          <a:xfrm>
            <a:off x="548640" y="685800"/>
            <a:ext cx="105152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21295C"/>
                </a:solidFill>
                <a:effectLst/>
                <a:uFillTx/>
                <a:latin typeface="Cambria"/>
                <a:ea typeface="Cambria"/>
              </a:rPr>
              <a:t>Roadmap: v0 → v6</a:t>
            </a:r>
            <a:endParaRPr lang="nl-NL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6" name="Shape 2"/>
          <p:cNvSpPr/>
          <p:nvPr/>
        </p:nvSpPr>
        <p:spPr>
          <a:xfrm>
            <a:off x="822960" y="3749040"/>
            <a:ext cx="10515600" cy="360"/>
          </a:xfrm>
          <a:prstGeom prst="line">
            <a:avLst/>
          </a:prstGeom>
          <a:ln w="38100">
            <a:solidFill>
              <a:srgbClr val="DCEAF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nl-N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00" name="Shape Circle0"/>
          <p:cNvSpPr/>
          <p:nvPr/>
        </p:nvSpPr>
        <p:spPr>
          <a:xfrm>
            <a:off x="621720" y="3547800"/>
            <a:ext cx="402120" cy="402120"/>
          </a:xfrm>
          <a:prstGeom prst="ellipse">
            <a:avLst/>
          </a:prstGeom>
          <a:solidFill>
            <a:srgbClr val="065A82"/>
          </a:solidFill>
          <a:ln w="254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01" name="Text Label0"/>
          <p:cNvSpPr/>
          <p:nvPr/>
        </p:nvSpPr>
        <p:spPr>
          <a:xfrm>
            <a:off x="621720" y="3547800"/>
            <a:ext cx="40212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v0</a:t>
            </a:r>
            <a:endParaRPr lang="nl-NL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02" name="Shape Card0"/>
          <p:cNvSpPr/>
          <p:nvPr/>
        </p:nvSpPr>
        <p:spPr>
          <a:xfrm>
            <a:off x="548640" y="2148840"/>
            <a:ext cx="1691280" cy="1371240"/>
          </a:xfrm>
          <a:prstGeom prst="roundRect">
            <a:avLst>
              <a:gd name="adj" fmla="val 4000"/>
            </a:avLst>
          </a:prstGeom>
          <a:solidFill>
            <a:srgbClr val="EAF3F8"/>
          </a:solidFill>
          <a:ln w="12700">
            <a:solidFill>
              <a:srgbClr val="DCEAF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03" name="Text Card0"/>
          <p:cNvSpPr/>
          <p:nvPr/>
        </p:nvSpPr>
        <p:spPr>
          <a:xfrm>
            <a:off x="640080" y="2240280"/>
            <a:ext cx="150840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25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C2233"/>
                </a:solidFill>
                <a:effectLst/>
                <a:uFillTx/>
                <a:latin typeface="Calibri"/>
                <a:ea typeface="Calibri"/>
              </a:rPr>
              <a:t>Implement a few steps first and use them to check for quality; embed &amp; store (chunking, embedding); automated evaluation of 1 metric.</a:t>
            </a:r>
            <a:endParaRPr lang="nl-NL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04" name="Shape Tick0"/>
          <p:cNvSpPr/>
          <p:nvPr/>
        </p:nvSpPr>
        <p:spPr>
          <a:xfrm>
            <a:off x="822960" y="3520440"/>
            <a:ext cx="360" cy="228600"/>
          </a:xfrm>
          <a:prstGeom prst="line">
            <a:avLst/>
          </a:prstGeom>
          <a:ln w="19050">
            <a:solidFill>
              <a:srgbClr val="DCEAF2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nl-N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05" name="Shape Circle1"/>
          <p:cNvSpPr/>
          <p:nvPr/>
        </p:nvSpPr>
        <p:spPr>
          <a:xfrm>
            <a:off x="2374320" y="3547800"/>
            <a:ext cx="402120" cy="402120"/>
          </a:xfrm>
          <a:prstGeom prst="ellipse">
            <a:avLst/>
          </a:prstGeom>
          <a:solidFill>
            <a:srgbClr val="065A82"/>
          </a:solidFill>
          <a:ln w="254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06" name="Text Label1"/>
          <p:cNvSpPr/>
          <p:nvPr/>
        </p:nvSpPr>
        <p:spPr>
          <a:xfrm>
            <a:off x="2374320" y="3547800"/>
            <a:ext cx="40212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v1</a:t>
            </a:r>
            <a:endParaRPr lang="nl-NL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07" name="Shape Card1"/>
          <p:cNvSpPr/>
          <p:nvPr/>
        </p:nvSpPr>
        <p:spPr>
          <a:xfrm>
            <a:off x="1729740" y="3977640"/>
            <a:ext cx="1691280" cy="1371240"/>
          </a:xfrm>
          <a:prstGeom prst="roundRect">
            <a:avLst>
              <a:gd name="adj" fmla="val 4000"/>
            </a:avLst>
          </a:prstGeom>
          <a:solidFill>
            <a:srgbClr val="EAF3F8"/>
          </a:solidFill>
          <a:ln w="12700">
            <a:solidFill>
              <a:srgbClr val="DCEAF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08" name="Text Card1"/>
          <p:cNvSpPr/>
          <p:nvPr/>
        </p:nvSpPr>
        <p:spPr>
          <a:xfrm>
            <a:off x="1821180" y="4069080"/>
            <a:ext cx="150840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25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C2233"/>
                </a:solidFill>
                <a:effectLst/>
                <a:uFillTx/>
                <a:latin typeface="Calibri"/>
                <a:ea typeface="Calibri"/>
              </a:rPr>
              <a:t>Start with one input source expected to have high-quality input, i.e. agile backlog items (user stories, features); add automated evaluation for 1-2 more metrics.</a:t>
            </a:r>
            <a:endParaRPr lang="nl-NL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09" name="Shape Tick1"/>
          <p:cNvSpPr/>
          <p:nvPr/>
        </p:nvSpPr>
        <p:spPr>
          <a:xfrm>
            <a:off x="2575560" y="3749040"/>
            <a:ext cx="360" cy="228600"/>
          </a:xfrm>
          <a:prstGeom prst="line">
            <a:avLst/>
          </a:prstGeom>
          <a:ln w="19050">
            <a:solidFill>
              <a:srgbClr val="DCEAF2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nl-N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10" name="Shape Circle2"/>
          <p:cNvSpPr/>
          <p:nvPr/>
        </p:nvSpPr>
        <p:spPr>
          <a:xfrm>
            <a:off x="4126920" y="3547800"/>
            <a:ext cx="402120" cy="402120"/>
          </a:xfrm>
          <a:prstGeom prst="ellipse">
            <a:avLst/>
          </a:prstGeom>
          <a:solidFill>
            <a:srgbClr val="065A82"/>
          </a:solidFill>
          <a:ln w="254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11" name="Text Label2"/>
          <p:cNvSpPr/>
          <p:nvPr/>
        </p:nvSpPr>
        <p:spPr>
          <a:xfrm>
            <a:off x="4126920" y="3547800"/>
            <a:ext cx="40212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v2</a:t>
            </a:r>
            <a:endParaRPr lang="nl-NL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12" name="Shape Card2"/>
          <p:cNvSpPr/>
          <p:nvPr/>
        </p:nvSpPr>
        <p:spPr>
          <a:xfrm>
            <a:off x="3482340" y="2148840"/>
            <a:ext cx="1691280" cy="1371240"/>
          </a:xfrm>
          <a:prstGeom prst="roundRect">
            <a:avLst>
              <a:gd name="adj" fmla="val 4000"/>
            </a:avLst>
          </a:prstGeom>
          <a:solidFill>
            <a:srgbClr val="EAF3F8"/>
          </a:solidFill>
          <a:ln w="12700">
            <a:solidFill>
              <a:srgbClr val="DCEAF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13" name="Text Card2"/>
          <p:cNvSpPr/>
          <p:nvPr/>
        </p:nvSpPr>
        <p:spPr>
          <a:xfrm>
            <a:off x="3573780" y="2240280"/>
            <a:ext cx="150840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25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C2233"/>
                </a:solidFill>
                <a:effectLst/>
                <a:uFillTx/>
                <a:latin typeface="Calibri"/>
                <a:ea typeface="Calibri"/>
              </a:rPr>
              <a:t>Add logging of cost, to get a first idea which components generate the highest cost; add automated evaluation for 1-2 more metrics.</a:t>
            </a:r>
            <a:endParaRPr lang="nl-NL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14" name="Shape Tick2"/>
          <p:cNvSpPr/>
          <p:nvPr/>
        </p:nvSpPr>
        <p:spPr>
          <a:xfrm>
            <a:off x="4328160" y="3520440"/>
            <a:ext cx="360" cy="228600"/>
          </a:xfrm>
          <a:prstGeom prst="line">
            <a:avLst/>
          </a:prstGeom>
          <a:ln w="19050">
            <a:solidFill>
              <a:srgbClr val="DCEAF2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nl-N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15" name="Shape Circle3"/>
          <p:cNvSpPr/>
          <p:nvPr/>
        </p:nvSpPr>
        <p:spPr>
          <a:xfrm>
            <a:off x="5879520" y="3547800"/>
            <a:ext cx="402120" cy="402120"/>
          </a:xfrm>
          <a:prstGeom prst="ellipse">
            <a:avLst/>
          </a:prstGeom>
          <a:solidFill>
            <a:srgbClr val="065A82"/>
          </a:solidFill>
          <a:ln w="254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16" name="Text Label3"/>
          <p:cNvSpPr/>
          <p:nvPr/>
        </p:nvSpPr>
        <p:spPr>
          <a:xfrm>
            <a:off x="5879520" y="3547800"/>
            <a:ext cx="40212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v3</a:t>
            </a:r>
            <a:endParaRPr lang="nl-NL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17" name="Shape Card3"/>
          <p:cNvSpPr/>
          <p:nvPr/>
        </p:nvSpPr>
        <p:spPr>
          <a:xfrm>
            <a:off x="5234940" y="3977640"/>
            <a:ext cx="1691280" cy="1371240"/>
          </a:xfrm>
          <a:prstGeom prst="roundRect">
            <a:avLst>
              <a:gd name="adj" fmla="val 4000"/>
            </a:avLst>
          </a:prstGeom>
          <a:solidFill>
            <a:srgbClr val="EAF3F8"/>
          </a:solidFill>
          <a:ln w="12700">
            <a:solidFill>
              <a:srgbClr val="DCEAF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18" name="Text Card3"/>
          <p:cNvSpPr/>
          <p:nvPr/>
        </p:nvSpPr>
        <p:spPr>
          <a:xfrm>
            <a:off x="5326380" y="4069080"/>
            <a:ext cx="150840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25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C2233"/>
                </a:solidFill>
                <a:effectLst/>
                <a:uFillTx/>
                <a:latin typeface="Calibri"/>
                <a:ea typeface="Calibri"/>
              </a:rPr>
              <a:t>Move to a real-time model: automatically provide input data for automated output generation; more dynamic UI and output API.</a:t>
            </a:r>
            <a:endParaRPr lang="nl-NL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19" name="Shape Tick3"/>
          <p:cNvSpPr/>
          <p:nvPr/>
        </p:nvSpPr>
        <p:spPr>
          <a:xfrm>
            <a:off x="6080760" y="3749040"/>
            <a:ext cx="360" cy="228600"/>
          </a:xfrm>
          <a:prstGeom prst="line">
            <a:avLst/>
          </a:prstGeom>
          <a:ln w="19050">
            <a:solidFill>
              <a:srgbClr val="DCEAF2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nl-N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20" name="Shape Circle4"/>
          <p:cNvSpPr/>
          <p:nvPr/>
        </p:nvSpPr>
        <p:spPr>
          <a:xfrm>
            <a:off x="7632120" y="3547800"/>
            <a:ext cx="402120" cy="402120"/>
          </a:xfrm>
          <a:prstGeom prst="ellipse">
            <a:avLst/>
          </a:prstGeom>
          <a:solidFill>
            <a:srgbClr val="065A82"/>
          </a:solidFill>
          <a:ln w="254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21" name="Text Label4"/>
          <p:cNvSpPr/>
          <p:nvPr/>
        </p:nvSpPr>
        <p:spPr>
          <a:xfrm>
            <a:off x="7632120" y="3547800"/>
            <a:ext cx="40212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v4</a:t>
            </a:r>
            <a:endParaRPr lang="nl-NL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22" name="Shape Card4"/>
          <p:cNvSpPr/>
          <p:nvPr/>
        </p:nvSpPr>
        <p:spPr>
          <a:xfrm>
            <a:off x="6987540" y="2148840"/>
            <a:ext cx="1691280" cy="1371240"/>
          </a:xfrm>
          <a:prstGeom prst="roundRect">
            <a:avLst>
              <a:gd name="adj" fmla="val 4000"/>
            </a:avLst>
          </a:prstGeom>
          <a:solidFill>
            <a:srgbClr val="EAF3F8"/>
          </a:solidFill>
          <a:ln w="12700">
            <a:solidFill>
              <a:srgbClr val="DCEAF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23" name="Text Card4"/>
          <p:cNvSpPr/>
          <p:nvPr/>
        </p:nvSpPr>
        <p:spPr>
          <a:xfrm>
            <a:off x="7078980" y="2240280"/>
            <a:ext cx="150840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25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C2233"/>
                </a:solidFill>
                <a:effectLst/>
                <a:uFillTx/>
                <a:latin typeface="Calibri"/>
                <a:ea typeface="Calibri"/>
              </a:rPr>
              <a:t>Add access control: per-user authentication and authorization; support output in multiple languages.</a:t>
            </a:r>
            <a:endParaRPr lang="nl-NL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24" name="Shape Tick4"/>
          <p:cNvSpPr/>
          <p:nvPr/>
        </p:nvSpPr>
        <p:spPr>
          <a:xfrm>
            <a:off x="7833360" y="3520440"/>
            <a:ext cx="360" cy="228600"/>
          </a:xfrm>
          <a:prstGeom prst="line">
            <a:avLst/>
          </a:prstGeom>
          <a:ln w="19050">
            <a:solidFill>
              <a:srgbClr val="DCEAF2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nl-N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25" name="Shape Circle5"/>
          <p:cNvSpPr/>
          <p:nvPr/>
        </p:nvSpPr>
        <p:spPr>
          <a:xfrm>
            <a:off x="9384720" y="3547800"/>
            <a:ext cx="402120" cy="402120"/>
          </a:xfrm>
          <a:prstGeom prst="ellipse">
            <a:avLst/>
          </a:prstGeom>
          <a:solidFill>
            <a:srgbClr val="065A82"/>
          </a:solidFill>
          <a:ln w="254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26" name="Text Label5"/>
          <p:cNvSpPr/>
          <p:nvPr/>
        </p:nvSpPr>
        <p:spPr>
          <a:xfrm>
            <a:off x="9384720" y="3547800"/>
            <a:ext cx="40212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v5</a:t>
            </a:r>
            <a:endParaRPr lang="nl-NL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27" name="Shape Card5"/>
          <p:cNvSpPr/>
          <p:nvPr/>
        </p:nvSpPr>
        <p:spPr>
          <a:xfrm>
            <a:off x="8740140" y="3977640"/>
            <a:ext cx="1691280" cy="1371240"/>
          </a:xfrm>
          <a:prstGeom prst="roundRect">
            <a:avLst>
              <a:gd name="adj" fmla="val 4000"/>
            </a:avLst>
          </a:prstGeom>
          <a:solidFill>
            <a:srgbClr val="EAF3F8"/>
          </a:solidFill>
          <a:ln w="12700">
            <a:solidFill>
              <a:srgbClr val="DCEAF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28" name="Text Card5"/>
          <p:cNvSpPr/>
          <p:nvPr/>
        </p:nvSpPr>
        <p:spPr>
          <a:xfrm>
            <a:off x="8831580" y="4069080"/>
            <a:ext cx="150840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25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C2233"/>
                </a:solidFill>
                <a:effectLst/>
                <a:uFillTx/>
                <a:latin typeface="Calibri"/>
                <a:ea typeface="Calibri"/>
              </a:rPr>
              <a:t>Extend the audience of the output result (end-users, documentation agents); generate other document types.</a:t>
            </a:r>
            <a:endParaRPr lang="nl-NL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29" name="Shape Tick5"/>
          <p:cNvSpPr/>
          <p:nvPr/>
        </p:nvSpPr>
        <p:spPr>
          <a:xfrm>
            <a:off x="9585960" y="3749040"/>
            <a:ext cx="360" cy="228600"/>
          </a:xfrm>
          <a:prstGeom prst="line">
            <a:avLst/>
          </a:prstGeom>
          <a:ln w="19050">
            <a:solidFill>
              <a:srgbClr val="DCEAF2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nl-N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30" name="Shape Circle6"/>
          <p:cNvSpPr/>
          <p:nvPr/>
        </p:nvSpPr>
        <p:spPr>
          <a:xfrm>
            <a:off x="11137320" y="3547800"/>
            <a:ext cx="402120" cy="402120"/>
          </a:xfrm>
          <a:prstGeom prst="ellipse">
            <a:avLst/>
          </a:prstGeom>
          <a:solidFill>
            <a:srgbClr val="065A82"/>
          </a:solidFill>
          <a:ln w="254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31" name="Text Label6"/>
          <p:cNvSpPr/>
          <p:nvPr/>
        </p:nvSpPr>
        <p:spPr>
          <a:xfrm>
            <a:off x="11137320" y="3547800"/>
            <a:ext cx="40212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v6</a:t>
            </a:r>
            <a:endParaRPr lang="nl-NL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32" name="Shape Card6"/>
          <p:cNvSpPr/>
          <p:nvPr/>
        </p:nvSpPr>
        <p:spPr>
          <a:xfrm>
            <a:off x="9952080" y="2148840"/>
            <a:ext cx="1691280" cy="1371240"/>
          </a:xfrm>
          <a:prstGeom prst="roundRect">
            <a:avLst>
              <a:gd name="adj" fmla="val 4000"/>
            </a:avLst>
          </a:prstGeom>
          <a:solidFill>
            <a:srgbClr val="EAF3F8"/>
          </a:solidFill>
          <a:ln w="12700">
            <a:solidFill>
              <a:srgbClr val="DCEAF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33" name="Text Card6"/>
          <p:cNvSpPr/>
          <p:nvPr/>
        </p:nvSpPr>
        <p:spPr>
          <a:xfrm>
            <a:off x="10043520" y="2240280"/>
            <a:ext cx="150840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ts val="125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C2233"/>
                </a:solidFill>
                <a:effectLst/>
                <a:uFillTx/>
                <a:latin typeface="Calibri"/>
                <a:ea typeface="Calibri"/>
              </a:rPr>
              <a:t>Use the generated document for other means, e.g. validation of requirements before implementation; relate this feature/functionality to the complete application.</a:t>
            </a:r>
            <a:endParaRPr lang="nl-NL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34" name="Shape Tick6"/>
          <p:cNvSpPr/>
          <p:nvPr/>
        </p:nvSpPr>
        <p:spPr>
          <a:xfrm>
            <a:off x="11338560" y="3520440"/>
            <a:ext cx="360" cy="228600"/>
          </a:xfrm>
          <a:prstGeom prst="line">
            <a:avLst/>
          </a:prstGeom>
          <a:ln w="19050">
            <a:solidFill>
              <a:srgbClr val="DCEAF2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nl-N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7" name="Text 33"/>
          <p:cNvSpPr/>
          <p:nvPr/>
        </p:nvSpPr>
        <p:spPr>
          <a:xfrm>
            <a:off x="548640" y="640080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5B6B75"/>
                </a:solidFill>
                <a:effectLst/>
                <a:uFillTx/>
                <a:latin typeface="Calibri"/>
                <a:ea typeface="Calibri"/>
              </a:rPr>
              <a:t>Functional Guide Generator · System Design</a:t>
            </a:r>
            <a:endParaRPr lang="nl-NL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8" name="Text 34"/>
          <p:cNvSpPr/>
          <p:nvPr/>
        </p:nvSpPr>
        <p:spPr>
          <a:xfrm>
            <a:off x="11003040" y="6400800"/>
            <a:ext cx="914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5B6B75"/>
                </a:solidFill>
                <a:effectLst/>
                <a:uFillTx/>
                <a:latin typeface="Calibri"/>
                <a:ea typeface="Calibri"/>
              </a:rPr>
              <a:t>17 / 18</a:t>
            </a:r>
            <a:endParaRPr lang="nl-NL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Shape 0"/>
          <p:cNvSpPr/>
          <p:nvPr/>
        </p:nvSpPr>
        <p:spPr>
          <a:xfrm>
            <a:off x="914400" y="914400"/>
            <a:ext cx="319680" cy="319680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1C7293"/>
          </a:solidFill>
          <a:ln w="12700">
            <a:solidFill>
              <a:srgbClr val="2129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0" name="Shape 1"/>
          <p:cNvSpPr/>
          <p:nvPr/>
        </p:nvSpPr>
        <p:spPr>
          <a:xfrm>
            <a:off x="1737360" y="1463040"/>
            <a:ext cx="219240" cy="219240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065A82"/>
          </a:solidFill>
          <a:ln w="12700">
            <a:solidFill>
              <a:srgbClr val="2129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1" name="Shape 2"/>
          <p:cNvSpPr/>
          <p:nvPr/>
        </p:nvSpPr>
        <p:spPr>
          <a:xfrm>
            <a:off x="640080" y="1920240"/>
            <a:ext cx="255600" cy="255600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1C7293"/>
          </a:solidFill>
          <a:ln w="12700">
            <a:solidFill>
              <a:srgbClr val="2129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2" name="Shape 3"/>
          <p:cNvSpPr/>
          <p:nvPr/>
        </p:nvSpPr>
        <p:spPr>
          <a:xfrm>
            <a:off x="2103120" y="5120640"/>
            <a:ext cx="273960" cy="273960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065A82"/>
          </a:solidFill>
          <a:ln w="12700">
            <a:solidFill>
              <a:srgbClr val="2129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3" name="Shape 4"/>
          <p:cNvSpPr/>
          <p:nvPr/>
        </p:nvSpPr>
        <p:spPr>
          <a:xfrm>
            <a:off x="1188720" y="5577840"/>
            <a:ext cx="200880" cy="200880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1C7293"/>
          </a:solidFill>
          <a:ln w="12700">
            <a:solidFill>
              <a:srgbClr val="2129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4" name="Shape 5"/>
          <p:cNvSpPr/>
          <p:nvPr/>
        </p:nvSpPr>
        <p:spPr>
          <a:xfrm>
            <a:off x="1828800" y="6035040"/>
            <a:ext cx="237240" cy="237240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065A82"/>
          </a:solidFill>
          <a:ln w="12700">
            <a:solidFill>
              <a:srgbClr val="2129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nl-NL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5" name="Text 6"/>
          <p:cNvSpPr/>
          <p:nvPr/>
        </p:nvSpPr>
        <p:spPr>
          <a:xfrm>
            <a:off x="0" y="2286000"/>
            <a:ext cx="121914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300" strike="noStrike">
                <a:solidFill>
                  <a:srgbClr val="E8A33D"/>
                </a:solidFill>
                <a:effectLst/>
                <a:uFillTx/>
                <a:latin typeface="Calibri"/>
                <a:ea typeface="Calibri"/>
              </a:rPr>
              <a:t>THANK YOU</a:t>
            </a:r>
            <a:endParaRPr lang="nl-NL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6" name="Text 7"/>
          <p:cNvSpPr/>
          <p:nvPr/>
        </p:nvSpPr>
        <p:spPr>
          <a:xfrm>
            <a:off x="0" y="2743200"/>
            <a:ext cx="1219140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Functional Guide Generator</a:t>
            </a:r>
            <a:endParaRPr lang="nl-NL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7" name="Text 8"/>
          <p:cNvSpPr/>
          <p:nvPr/>
        </p:nvSpPr>
        <p:spPr>
          <a:xfrm>
            <a:off x="0" y="3520440"/>
            <a:ext cx="121914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Questions &amp; discussion welcome</a:t>
            </a:r>
            <a:endParaRPr lang="nl-NL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8" name="Shape 9"/>
          <p:cNvSpPr/>
          <p:nvPr/>
        </p:nvSpPr>
        <p:spPr>
          <a:xfrm>
            <a:off x="4998240" y="4297680"/>
            <a:ext cx="2194560" cy="360"/>
          </a:xfrm>
          <a:prstGeom prst="line">
            <a:avLst/>
          </a:prstGeom>
          <a:ln w="12700">
            <a:solidFill>
              <a:srgbClr val="1C7293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nl-NL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9" name="Text 10"/>
          <p:cNvSpPr/>
          <p:nvPr/>
        </p:nvSpPr>
        <p:spPr>
          <a:xfrm>
            <a:off x="0" y="4572000"/>
            <a:ext cx="121914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8FB0C4"/>
                </a:solidFill>
                <a:effectLst/>
                <a:uFillTx/>
                <a:latin typeface="Calibri"/>
                <a:ea typeface="Calibri"/>
              </a:rPr>
              <a:t>Author: F. Vreys   ·   July 2026</a:t>
            </a:r>
            <a:endParaRPr lang="nl-NL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0" name="Text 11"/>
          <p:cNvSpPr/>
          <p:nvPr/>
        </p:nvSpPr>
        <p:spPr>
          <a:xfrm>
            <a:off x="0" y="4937760"/>
            <a:ext cx="121914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E8FA4"/>
                </a:solidFill>
                <a:effectLst/>
                <a:uFillTx/>
                <a:latin typeface="Calibri"/>
                <a:ea typeface="Calibri"/>
              </a:rPr>
              <a:t>Licensed under CC BY 4.0 — creativecommons.org/licenses/by/4.0</a:t>
            </a:r>
            <a:endParaRPr lang="nl-NL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1" name="Text 12"/>
          <p:cNvSpPr/>
          <p:nvPr/>
        </p:nvSpPr>
        <p:spPr>
          <a:xfrm>
            <a:off x="0" y="6309360"/>
            <a:ext cx="121914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5A7A8E"/>
                </a:solidFill>
                <a:effectLst/>
                <a:uFillTx/>
                <a:latin typeface="Calibri"/>
                <a:ea typeface="Calibri"/>
              </a:rPr>
              <a:t>Source: Functional_guide_generator System_design.md</a:t>
            </a:r>
            <a:endParaRPr lang="nl-NL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LibreOffice/26.2.1.2$Windows_X86_64 LibreOffice_project/620$Build-2</Application>
  <AppVersion>15.0000</AppVersion>
  <Words>1972</Words>
  <Paragraphs>374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2026-07-15T21:42:07Z</dcterms:created>
  <dc:creator>PptxGenJS</dc:creator>
  <dc:description/>
  <dc:language>nl-NL</dc:language>
  <cp:lastModifiedBy>Frank Vreys</cp:lastModifiedBy>
  <dcterms:modified xsi:type="dcterms:W3CDTF">2026-07-16T12:12:33Z</dcterms:modified>
  <cp:revision>5</cp:revision>
  <dc:subject>PptxGenJS Presentation</dc:subject>
  <dc:title>PptxGenJS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18</vt:i4>
  </property>
  <property fmtid="{D5CDD505-2E9C-101B-9397-08002B2CF9AE}" pid="3" name="PresentationFormat">
    <vt:lpwstr>Breedbeeld</vt:lpwstr>
  </property>
  <property fmtid="{D5CDD505-2E9C-101B-9397-08002B2CF9AE}" pid="4" name="Slides">
    <vt:i4>18</vt:i4>
  </property>
</Properties>
</file>