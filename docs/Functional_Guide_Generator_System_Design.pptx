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dia te verplaatsen</a:t>
            </a:r>
            <a:endParaRPr lang="nl-N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nl-N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 om de opmaak van de notities te bewerken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27DE1C-BBD3-4106-B833-A68EE6E6C035}" type="slidenum"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nl-N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9CBD5C5-5C4A-40D7-A307-1B7B37A8F53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F37113F-394D-4B67-8461-A7DE3BECE14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BA99B92-333D-45F7-81A0-872A2976EC3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D6F0A48-05CA-4A0E-B949-4BA32B6C86B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342ECAE-2E20-4EF0-AA03-F74E4DF6D9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A78076B-CE72-482B-AA73-9CFB4D19F7F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3BB4A67-9E7D-4748-B899-5F078A3A271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1AD5A53-B9A5-4F03-8BDF-637A0BAB43C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06A2C6C-27C6-47A4-9C9F-78EE5A3EBCF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379B848-6064-42D3-BC86-C05BCC9B00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E0EA311-0F43-4ECE-B174-BBF81E3C59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DFEB05F-D940-4286-8720-FB07902D137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19D02D2-D2A5-45A4-93CB-C970FB5A86C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79FDC48-748D-40F7-8D7A-6A307E549E2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0E19270-A75C-44ED-93B1-6076BCC568E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F87C38C-2BE9-49B7-9714-BBC07AC1CDD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36FD8DD-8BD4-4B05-88E5-464561A8084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FAD5A0E-2984-4EF7-BF39-9F718B96AC8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&lt;nummer&gt;</a:t>
            </a:fld>
            <a:endParaRPr lang="nl-N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titeltekst te bewerken</a:t>
            </a:r>
            <a:endParaRPr lang="nl-N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 om de opmaak van de overzichtstekst te bewerken</a:t>
            </a:r>
            <a:endParaRPr lang="nl-N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Tweede overzichtsniveau</a:t>
            </a:r>
            <a:endParaRPr lang="nl-N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Derde overzichtsniveau</a:t>
            </a:r>
            <a:endParaRPr lang="nl-N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Vierde overzichtsniveau</a:t>
            </a:r>
            <a:endParaRPr lang="nl-N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Vijfde overzichtsniveau</a:t>
            </a:r>
            <a:endParaRPr lang="nl-N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Zesde overzichtsniveau</a:t>
            </a:r>
            <a:endParaRPr lang="nl-N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Zevende overzichtsniveau</a:t>
            </a:r>
            <a:endParaRPr lang="nl-N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884520" y="1197720"/>
            <a:ext cx="914400" cy="73152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744200" y="1874520"/>
            <a:ext cx="274320" cy="128016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 flipH="1">
            <a:off x="9518760" y="1197720"/>
            <a:ext cx="365760" cy="118872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 flipH="1">
            <a:off x="9966960" y="3200400"/>
            <a:ext cx="1097280" cy="54864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1064240" y="3200400"/>
            <a:ext cx="365760" cy="155448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 flipH="1">
            <a:off x="10853640" y="4727160"/>
            <a:ext cx="548640" cy="118872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921240" y="3703320"/>
            <a:ext cx="182880" cy="155448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076400" y="5230080"/>
            <a:ext cx="731520" cy="64008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 flipH="1">
            <a:off x="9555480" y="5897880"/>
            <a:ext cx="1280160" cy="274320"/>
          </a:xfrm>
          <a:prstGeom prst="line">
            <a:avLst/>
          </a:prstGeom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692640" y="1005840"/>
            <a:ext cx="383040" cy="3830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607040" y="1737360"/>
            <a:ext cx="273240" cy="2732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326880" y="2194560"/>
            <a:ext cx="236520" cy="2365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0881360" y="3017520"/>
            <a:ext cx="364680" cy="364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9784080" y="3566160"/>
            <a:ext cx="273240" cy="2732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11247120" y="4572000"/>
            <a:ext cx="309960" cy="30996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9966960" y="5120640"/>
            <a:ext cx="218520" cy="2185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10698480" y="5760720"/>
            <a:ext cx="273240" cy="2732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9418320" y="6035040"/>
            <a:ext cx="200160" cy="20016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731520" y="21031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SYSTEM DESIGN DOCUMENT</a:t>
            </a:r>
            <a:endParaRPr lang="nl-N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685800" y="2468880"/>
            <a:ext cx="80456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5199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Functional Guide</a:t>
            </a:r>
            <a:endParaRPr lang="nl-NL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99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Generator</a:t>
            </a:r>
            <a:endParaRPr lang="nl-NL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31520" y="4434840"/>
            <a:ext cx="69483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Generating structured, meaningful, and readable functional documentation from existing knowledge sources — written for people, not for documentation agents.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731520" y="612648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B0C4"/>
                </a:solidFill>
                <a:effectLst/>
                <a:uFillTx/>
                <a:latin typeface="Calibri"/>
                <a:ea typeface="Calibri"/>
              </a:rPr>
              <a:t>Author: F. Vreys   ·   July 2026</a:t>
            </a:r>
            <a:endParaRPr lang="nl-NL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CC Slide1"/>
          <p:cNvSpPr/>
          <p:nvPr/>
        </p:nvSpPr>
        <p:spPr>
          <a:xfrm>
            <a:off x="4064400" y="6126480"/>
            <a:ext cx="4062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 · MOTIVATION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The problem — and the solution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548640" y="1737360"/>
            <a:ext cx="5302440" cy="4205160"/>
          </a:xfrm>
          <a:prstGeom prst="roundRect">
            <a:avLst>
              <a:gd name="adj" fmla="val 1739"/>
            </a:avLst>
          </a:prstGeom>
          <a:solidFill>
            <a:srgbClr val="EAF3F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868680" y="2057400"/>
            <a:ext cx="456120" cy="4561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68680" y="20574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!</a:t>
            </a:r>
            <a:endParaRPr lang="nl-N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1554480" y="203004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Problem statement</a:t>
            </a:r>
            <a:endParaRPr lang="nl-N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868680" y="2743200"/>
            <a:ext cx="466236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Writing functional documentation after the implementation of a software feature is rarely done in practice. Developers start working on next tickets, product owners focus on acceptance or the next backlog item — the acquired knowledge embedded in tickets, code, wikis, and demos never makes it into a more functional-oriented manual.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6309360" y="1737360"/>
            <a:ext cx="5348160" cy="420516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6629400" y="2057400"/>
            <a:ext cx="456120" cy="4561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8A33D"/>
          </a:solidFill>
          <a:ln w="127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629400" y="20574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✓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7315200" y="203004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Solution</a:t>
            </a:r>
            <a:endParaRPr lang="nl-N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6629400" y="2743200"/>
            <a:ext cx="475380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4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The Functional Guide Generator aims to generate structured, meaningful, and readable functional documentation based on available information sources, written for persons (not for documentation agents).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We create a high-level overview of the software in max. 2–7 pages, covering how the application works and what its functionality is.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b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02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 · MOTIVATION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Restrictions &amp; prerequisite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548640" y="1783080"/>
            <a:ext cx="2604960" cy="196488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713160" y="192024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713160" y="2331720"/>
            <a:ext cx="2275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No new information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713160" y="2834640"/>
            <a:ext cx="2275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The system assembles and rephrases what is already known and documented; no new information is created.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3383280" y="1783080"/>
            <a:ext cx="2604960" cy="196488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3547800" y="192024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547800" y="2331720"/>
            <a:ext cx="2275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No real-time sync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3547800" y="2834640"/>
            <a:ext cx="2275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Information will not be updated in real time, nor do we have automated interfaces for input.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6217920" y="1783080"/>
            <a:ext cx="2604960" cy="196488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6382440" y="192024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382440" y="2331720"/>
            <a:ext cx="2275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English only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382440" y="2834640"/>
            <a:ext cx="2275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Documentation is only in English.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9052560" y="1783080"/>
            <a:ext cx="2604960" cy="196488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9217080" y="1920240"/>
            <a:ext cx="913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9217080" y="2331720"/>
            <a:ext cx="2275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Functional scope only</a:t>
            </a:r>
            <a:endParaRPr lang="nl-NL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9217080" y="2834640"/>
            <a:ext cx="2275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We exclude creation of technical documentation.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548640" y="4023360"/>
            <a:ext cx="11063160" cy="141624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914400" y="422460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PREREQUISITE FOR IMPLEMENTATION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914400" y="4572000"/>
            <a:ext cx="10331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Minimal one of the input data streams should contain enough quality information to avoid creating a 'garbage in, garbage out' solution.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548640" y="562356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These restrictions may be lifted in future iterations.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03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02 · SYSTEM COMPONENTS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Three logical layers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48640" y="1481400"/>
            <a:ext cx="9142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The system is composed of the following possible logical components, grouped into three layers.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48640" y="2148840"/>
            <a:ext cx="3519360" cy="3565080"/>
          </a:xfrm>
          <a:prstGeom prst="roundRect">
            <a:avLst>
              <a:gd name="adj" fmla="val 2338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868680" y="2468880"/>
            <a:ext cx="593280" cy="5932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868680" y="24688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868680" y="3291840"/>
            <a:ext cx="28792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Ingest &amp; preprocess</a:t>
            </a:r>
            <a:endParaRPr lang="nl-N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868680" y="4297680"/>
            <a:ext cx="28792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Input ingestion, preprocessing, embed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4087440" y="3657600"/>
            <a:ext cx="236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B75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343400" y="2148840"/>
            <a:ext cx="3519360" cy="3565080"/>
          </a:xfrm>
          <a:prstGeom prst="roundRect">
            <a:avLst>
              <a:gd name="adj" fmla="val 2338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4663440" y="2468880"/>
            <a:ext cx="593280" cy="5932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4663440" y="24688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4663440" y="3291840"/>
            <a:ext cx="28792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Retrieve &amp; generate</a:t>
            </a:r>
            <a:endParaRPr lang="nl-N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4663440" y="4297680"/>
            <a:ext cx="28792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Data store, prompt engine, LLM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7882200" y="3657600"/>
            <a:ext cx="236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B6B75"/>
                </a:solidFill>
                <a:effectLst/>
                <a:uFillTx/>
                <a:latin typeface="Cambria"/>
                <a:ea typeface="Cambria"/>
              </a:rPr>
              <a:t>→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8138160" y="2148840"/>
            <a:ext cx="3519360" cy="3565080"/>
          </a:xfrm>
          <a:prstGeom prst="roundRect">
            <a:avLst>
              <a:gd name="adj" fmla="val 2338"/>
            </a:avLst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nl-N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8458200" y="2468880"/>
            <a:ext cx="593280" cy="5932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8458200" y="24688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nl-N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8458200" y="3291840"/>
            <a:ext cx="28792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Evaluate &amp; serve</a:t>
            </a:r>
            <a:endParaRPr lang="nl-N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8458200" y="4297680"/>
            <a:ext cx="28792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Evaluation model, API layer, UI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04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02 · SYSTEM COMPONENTS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Component details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48640" y="1691640"/>
            <a:ext cx="11063160" cy="45612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58440" y="1691640"/>
            <a:ext cx="1699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Component</a:t>
            </a:r>
            <a:endParaRPr lang="nl-N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TypeHdr"/>
          <p:cNvSpPr/>
          <p:nvPr/>
        </p:nvSpPr>
        <p:spPr>
          <a:xfrm>
            <a:off x="2559960" y="1691640"/>
            <a:ext cx="149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</a:t>
            </a:r>
            <a:endParaRPr lang="nl-N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4261680" y="1691640"/>
            <a:ext cx="3899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Role</a:t>
            </a:r>
            <a:endParaRPr lang="nl-N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8363160" y="1691640"/>
            <a:ext cx="3157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Technology / Service</a:t>
            </a:r>
            <a:endParaRPr lang="nl-N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548640" y="2148840"/>
            <a:ext cx="11063160" cy="56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658440" y="214884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Input Ingestion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TypeRow"/>
          <p:cNvSpPr/>
          <p:nvPr/>
        </p:nvSpPr>
        <p:spPr>
          <a:xfrm>
            <a:off x="2559960" y="214884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Connector layer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4261680" y="214884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Fetches raw artifacts from source systems (wiki, screenshots, board, code repo, ..)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8363160" y="214884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1) import CSV data file 2) REST / GitHub / Confluence API, screen capture library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548640" y="2715840"/>
            <a:ext cx="11063160" cy="56592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658440" y="271584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Preprocessing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TypeRow"/>
          <p:cNvSpPr/>
          <p:nvPr/>
        </p:nvSpPr>
        <p:spPr>
          <a:xfrm>
            <a:off x="2559960" y="271584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Data pipeline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4261680" y="271584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Cleans, chunks, and normalises text and images before indexing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8363160" y="271584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LangChain text splitters; SQL queries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4"/>
          <p:cNvSpPr/>
          <p:nvPr/>
        </p:nvSpPr>
        <p:spPr>
          <a:xfrm>
            <a:off x="548640" y="3282840"/>
            <a:ext cx="11063160" cy="56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658440" y="328284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Embedding Model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TypeRow"/>
          <p:cNvSpPr/>
          <p:nvPr/>
        </p:nvSpPr>
        <p:spPr>
          <a:xfrm>
            <a:off x="2559960" y="328284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ML model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4261680" y="328284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Converts chunks into dense vectors for semantic search or into relational DB entries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8363160" y="328284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text-embedding-3-small (OpenAI) — low cost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548640" y="3849480"/>
            <a:ext cx="11063160" cy="56592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658440" y="384948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Data Store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TypeRow"/>
          <p:cNvSpPr/>
          <p:nvPr/>
        </p:nvSpPr>
        <p:spPr>
          <a:xfrm>
            <a:off x="2559960" y="384948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Retrieval layer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4261680" y="384948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Stores and retrieves most relevant chunks for semantic search, with additional info in metadata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8363160" y="384948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Qdrant or Postgres &amp; PGVector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548640" y="4416480"/>
            <a:ext cx="11063160" cy="56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658440" y="441648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Prompt Engine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TypeRow"/>
          <p:cNvSpPr/>
          <p:nvPr/>
        </p:nvSpPr>
        <p:spPr>
          <a:xfrm>
            <a:off x="2559960" y="441648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Orchestration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4261680" y="441648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Manages prompt templates (for document &amp; for sections/chapters)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8363160" y="441648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LangChain LCEL chains with prompt versioning in Langfuse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548640" y="4983480"/>
            <a:ext cx="11063160" cy="56592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658440" y="498348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LLM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TypeRow"/>
          <p:cNvSpPr/>
          <p:nvPr/>
        </p:nvSpPr>
        <p:spPr>
          <a:xfrm>
            <a:off x="2559960" y="498348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Generation model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4261680" y="498348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Synthesis of retrieved context in 2 generation steps into functional documentation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8363160" y="498348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Aim for: open source, strong summarization — compare and select model at last moment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548640" y="5550480"/>
            <a:ext cx="11063160" cy="56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658440" y="5550480"/>
            <a:ext cx="1699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Evaluation Module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TypeRow"/>
          <p:cNvSpPr/>
          <p:nvPr/>
        </p:nvSpPr>
        <p:spPr>
          <a:xfrm>
            <a:off x="2559960" y="5550480"/>
            <a:ext cx="149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Quality gate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4261680" y="5550480"/>
            <a:ext cx="38991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Scores generated doc, if possible using a reference document; ends with manual verification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3"/>
          <p:cNvSpPr/>
          <p:nvPr/>
        </p:nvSpPr>
        <p:spPr>
          <a:xfrm>
            <a:off x="8363160" y="5550480"/>
            <a:ext cx="3157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Automated LLM-as-judge for different criteria; manual user feedback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4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5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05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· DATA FLOW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Architecture at a glance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548640" y="1737360"/>
            <a:ext cx="1782000" cy="59328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21720" y="1737360"/>
            <a:ext cx="163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Requirements &amp;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specifications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548640" y="2450520"/>
            <a:ext cx="1782000" cy="59328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621720" y="2450520"/>
            <a:ext cx="163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Features &amp;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stories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548640" y="3163680"/>
            <a:ext cx="1782000" cy="59328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621720" y="3163680"/>
            <a:ext cx="163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screenshots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548640" y="3877200"/>
            <a:ext cx="1782000" cy="59328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21720" y="3877200"/>
            <a:ext cx="163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Demo meeting notes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&amp; recordings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548640" y="4590360"/>
            <a:ext cx="1782000" cy="59328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621720" y="4590360"/>
            <a:ext cx="163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049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repository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548640" y="1417320"/>
            <a:ext cx="1782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INPUT SOURCES</a:t>
            </a:r>
            <a:endParaRPr lang="nl-N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2377440" y="3200400"/>
            <a:ext cx="411480" cy="360"/>
          </a:xfrm>
          <a:prstGeom prst="line">
            <a:avLst/>
          </a:prstGeom>
          <a:ln w="25400">
            <a:solidFill>
              <a:srgbClr val="5B6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"/>
          <p:cNvSpPr/>
          <p:nvPr/>
        </p:nvSpPr>
        <p:spPr>
          <a:xfrm>
            <a:off x="2880360" y="1737360"/>
            <a:ext cx="2833560" cy="105048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3017520" y="181044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LAYER 1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3017520" y="205740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Ingest   →   Preprocess   →   Embed &amp; store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7"/>
          <p:cNvSpPr/>
          <p:nvPr/>
        </p:nvSpPr>
        <p:spPr>
          <a:xfrm>
            <a:off x="4242600" y="2788920"/>
            <a:ext cx="360" cy="182880"/>
          </a:xfrm>
          <a:prstGeom prst="line">
            <a:avLst/>
          </a:prstGeom>
          <a:ln w="25400">
            <a:solidFill>
              <a:srgbClr val="5B6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8"/>
          <p:cNvSpPr/>
          <p:nvPr/>
        </p:nvSpPr>
        <p:spPr>
          <a:xfrm>
            <a:off x="2880360" y="2971800"/>
            <a:ext cx="2833560" cy="105048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3017520" y="304488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LAYER 2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3017520" y="329184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Retrieve   →   Generate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4242600" y="4023360"/>
            <a:ext cx="360" cy="182880"/>
          </a:xfrm>
          <a:prstGeom prst="line">
            <a:avLst/>
          </a:prstGeom>
          <a:ln w="25400">
            <a:solidFill>
              <a:srgbClr val="5B6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2"/>
          <p:cNvSpPr/>
          <p:nvPr/>
        </p:nvSpPr>
        <p:spPr>
          <a:xfrm>
            <a:off x="2880360" y="4206240"/>
            <a:ext cx="2833560" cy="105048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3017520" y="427932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LAYER 3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3017520" y="4526280"/>
            <a:ext cx="255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Evaluate   →   Serve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5"/>
          <p:cNvSpPr/>
          <p:nvPr/>
        </p:nvSpPr>
        <p:spPr>
          <a:xfrm>
            <a:off x="5760720" y="3200400"/>
            <a:ext cx="411480" cy="360"/>
          </a:xfrm>
          <a:prstGeom prst="line">
            <a:avLst/>
          </a:prstGeom>
          <a:ln w="25400">
            <a:solidFill>
              <a:srgbClr val="5B6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6"/>
          <p:cNvSpPr/>
          <p:nvPr/>
        </p:nvSpPr>
        <p:spPr>
          <a:xfrm>
            <a:off x="6217920" y="2788920"/>
            <a:ext cx="1416240" cy="821880"/>
          </a:xfrm>
          <a:prstGeom prst="roundRect">
            <a:avLst>
              <a:gd name="adj" fmla="val 6667"/>
            </a:avLst>
          </a:prstGeom>
          <a:solidFill>
            <a:srgbClr val="97BC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6263640" y="2788920"/>
            <a:ext cx="1324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Markdown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(default)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8"/>
          <p:cNvSpPr/>
          <p:nvPr/>
        </p:nvSpPr>
        <p:spPr>
          <a:xfrm>
            <a:off x="7680960" y="3200400"/>
            <a:ext cx="411480" cy="360"/>
          </a:xfrm>
          <a:prstGeom prst="line">
            <a:avLst/>
          </a:prstGeom>
          <a:ln w="25400">
            <a:solidFill>
              <a:srgbClr val="5B6B7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9"/>
          <p:cNvSpPr/>
          <p:nvPr/>
        </p:nvSpPr>
        <p:spPr>
          <a:xfrm>
            <a:off x="8092440" y="1737360"/>
            <a:ext cx="1370520" cy="45612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0"/>
          <p:cNvSpPr/>
          <p:nvPr/>
        </p:nvSpPr>
        <p:spPr>
          <a:xfrm>
            <a:off x="8092440" y="1737360"/>
            <a:ext cx="137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Word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1"/>
          <p:cNvSpPr/>
          <p:nvPr/>
        </p:nvSpPr>
        <p:spPr>
          <a:xfrm>
            <a:off x="8092440" y="2331720"/>
            <a:ext cx="1370520" cy="45612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2"/>
          <p:cNvSpPr/>
          <p:nvPr/>
        </p:nvSpPr>
        <p:spPr>
          <a:xfrm>
            <a:off x="8092440" y="2331720"/>
            <a:ext cx="137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PDF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3"/>
          <p:cNvSpPr/>
          <p:nvPr/>
        </p:nvSpPr>
        <p:spPr>
          <a:xfrm>
            <a:off x="8092440" y="2926080"/>
            <a:ext cx="1370520" cy="45612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4"/>
          <p:cNvSpPr/>
          <p:nvPr/>
        </p:nvSpPr>
        <p:spPr>
          <a:xfrm>
            <a:off x="8092440" y="2926080"/>
            <a:ext cx="137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HTML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5"/>
          <p:cNvSpPr/>
          <p:nvPr/>
        </p:nvSpPr>
        <p:spPr>
          <a:xfrm>
            <a:off x="8092440" y="3520440"/>
            <a:ext cx="1370520" cy="45612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6"/>
          <p:cNvSpPr/>
          <p:nvPr/>
        </p:nvSpPr>
        <p:spPr>
          <a:xfrm>
            <a:off x="8092440" y="3520440"/>
            <a:ext cx="137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Wiki page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8092440" y="1417320"/>
            <a:ext cx="1370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POST-PROCESSING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8"/>
          <p:cNvSpPr/>
          <p:nvPr/>
        </p:nvSpPr>
        <p:spPr>
          <a:xfrm>
            <a:off x="548640" y="598932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From here onward, the design focuses on one input source — the agile board with features and user stories — as every implementation works with one, and it is expected to be the most high-value source.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9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0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06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· DATA FLOW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Inputs, output structure &amp; formats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548640" y="1691640"/>
            <a:ext cx="5393880" cy="4113720"/>
          </a:xfrm>
          <a:prstGeom prst="roundRect">
            <a:avLst>
              <a:gd name="adj" fmla="val 1778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822960" y="187452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INPUT SOURCES — IN PRACTICE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868680" y="24321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1143000" y="228600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Requirements &amp; specs from wiki — Confluence, Notion, documents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868680" y="29991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1143000" y="285300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Agile board — features &amp; user stories (Jira, Azure DevOps)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868680" y="35661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1143000" y="342000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Application screenshot folder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868680" y="41331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1143000" y="398664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AI-generated meeting notes, recording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868680" y="47001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1143000" y="455364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Code repository (GitHub repo)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6172200" y="1691640"/>
            <a:ext cx="5485320" cy="196488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6446520" y="187452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OUTPUT DOCUMENT — CHAPTERS  (or SECTIONS)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6446520" y="228600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6446520" y="228600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Table of contents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8138160" y="228600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9"/>
          <p:cNvSpPr/>
          <p:nvPr/>
        </p:nvSpPr>
        <p:spPr>
          <a:xfrm>
            <a:off x="8138160" y="228600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9829800" y="228600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9829800" y="228600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Step-by-step guide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6446520" y="288036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6446520" y="288036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Business rules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8138160" y="288036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5"/>
          <p:cNvSpPr/>
          <p:nvPr/>
        </p:nvSpPr>
        <p:spPr>
          <a:xfrm>
            <a:off x="8138160" y="288036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FAQ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6"/>
          <p:cNvSpPr/>
          <p:nvPr/>
        </p:nvSpPr>
        <p:spPr>
          <a:xfrm>
            <a:off x="9829800" y="2880360"/>
            <a:ext cx="1553400" cy="4561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7"/>
          <p:cNvSpPr/>
          <p:nvPr/>
        </p:nvSpPr>
        <p:spPr>
          <a:xfrm>
            <a:off x="9829800" y="2880360"/>
            <a:ext cx="155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Glossary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6172200" y="3794760"/>
            <a:ext cx="5485320" cy="201060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29"/>
          <p:cNvSpPr/>
          <p:nvPr/>
        </p:nvSpPr>
        <p:spPr>
          <a:xfrm>
            <a:off x="6446520" y="397764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OUTPUT FORMATS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6446520" y="4376520"/>
            <a:ext cx="1736280" cy="50184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1"/>
          <p:cNvSpPr/>
          <p:nvPr/>
        </p:nvSpPr>
        <p:spPr>
          <a:xfrm>
            <a:off x="6446520" y="4370760"/>
            <a:ext cx="1736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Markdown (default)</a:t>
            </a:r>
            <a:endParaRPr lang="nl-N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2"/>
          <p:cNvSpPr/>
          <p:nvPr/>
        </p:nvSpPr>
        <p:spPr>
          <a:xfrm>
            <a:off x="8366760" y="4370760"/>
            <a:ext cx="1461960" cy="45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3"/>
          <p:cNvSpPr/>
          <p:nvPr/>
        </p:nvSpPr>
        <p:spPr>
          <a:xfrm>
            <a:off x="8366760" y="4370760"/>
            <a:ext cx="1461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Word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4"/>
          <p:cNvSpPr/>
          <p:nvPr/>
        </p:nvSpPr>
        <p:spPr>
          <a:xfrm>
            <a:off x="9966960" y="4370760"/>
            <a:ext cx="1461960" cy="45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5"/>
          <p:cNvSpPr/>
          <p:nvPr/>
        </p:nvSpPr>
        <p:spPr>
          <a:xfrm>
            <a:off x="9966960" y="4370760"/>
            <a:ext cx="1461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PDF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6"/>
          <p:cNvSpPr/>
          <p:nvPr/>
        </p:nvSpPr>
        <p:spPr>
          <a:xfrm>
            <a:off x="8366760" y="4937760"/>
            <a:ext cx="1461960" cy="45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8366760" y="4937760"/>
            <a:ext cx="1461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HTML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38"/>
          <p:cNvSpPr/>
          <p:nvPr/>
        </p:nvSpPr>
        <p:spPr>
          <a:xfrm>
            <a:off x="9966960" y="4937760"/>
            <a:ext cx="1461960" cy="45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9"/>
          <p:cNvSpPr/>
          <p:nvPr/>
        </p:nvSpPr>
        <p:spPr>
          <a:xfrm>
            <a:off x="9966960" y="4937760"/>
            <a:ext cx="1461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500A"/>
                </a:solidFill>
                <a:effectLst/>
                <a:uFillTx/>
                <a:latin typeface="Calibri"/>
                <a:ea typeface="Calibri"/>
              </a:rPr>
              <a:t>Wiki page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0"/>
          <p:cNvSpPr/>
          <p:nvPr/>
        </p:nvSpPr>
        <p:spPr>
          <a:xfrm>
            <a:off x="6446520" y="5440680"/>
            <a:ext cx="4936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We create a high-level overview of the software in max. 2–7 pages, covering how the application works and what its functionality is.</a:t>
            </a:r>
            <a:endParaRPr lang="nl-N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2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07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· DATA FLOW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Ingestion &amp; preprocessing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8595360" y="777240"/>
            <a:ext cx="3062160" cy="38304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8595360" y="777240"/>
            <a:ext cx="30621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OFFLINE / ON-DEMAND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548640" y="173736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713160" y="184716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713160" y="219456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Read input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713160" y="257868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Read the input from a CSV file from the agile board of the application (Jira, Azure DevOps).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8"/>
          <p:cNvSpPr/>
          <p:nvPr/>
        </p:nvSpPr>
        <p:spPr>
          <a:xfrm>
            <a:off x="4297680" y="173736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4462200" y="184716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4462200" y="219456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Clean &amp; validate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4462200" y="257868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Cleans text and validates the input data (e.g. checks if all data is filled in); optionally, also validates the agile item description.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2"/>
          <p:cNvSpPr/>
          <p:nvPr/>
        </p:nvSpPr>
        <p:spPr>
          <a:xfrm>
            <a:off x="8046720" y="173736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3"/>
          <p:cNvSpPr/>
          <p:nvPr/>
        </p:nvSpPr>
        <p:spPr>
          <a:xfrm>
            <a:off x="8211240" y="184716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8211240" y="219456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Chunk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8211240" y="257868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Chunks of 400–600 tokens; a chunk contains only stories of one feature; a user story is never split over chunks; every chunk holds only one agile item type.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548640" y="352044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713160" y="36302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8"/>
          <p:cNvSpPr/>
          <p:nvPr/>
        </p:nvSpPr>
        <p:spPr>
          <a:xfrm>
            <a:off x="713160" y="397764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Vector store fields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9"/>
          <p:cNvSpPr/>
          <p:nvPr/>
        </p:nvSpPr>
        <p:spPr>
          <a:xfrm>
            <a:off x="713160" y="436176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Vector store holds only free-text fields — title, description, acceptance criteria, ..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0"/>
          <p:cNvSpPr/>
          <p:nvPr/>
        </p:nvSpPr>
        <p:spPr>
          <a:xfrm>
            <a:off x="4297680" y="352044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4462200" y="36302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2"/>
          <p:cNvSpPr/>
          <p:nvPr/>
        </p:nvSpPr>
        <p:spPr>
          <a:xfrm>
            <a:off x="4462200" y="397764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Metadata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4462200" y="436176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Holds the relevant agile item data: date created, agile board ID, parent feature/epic ID of story, related stories with type relation, ..</a:t>
            </a:r>
            <a:br>
              <a:rPr sz="1050"/>
            </a:b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8046720" y="3520440"/>
            <a:ext cx="3565080" cy="15991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5"/>
          <p:cNvSpPr/>
          <p:nvPr/>
        </p:nvSpPr>
        <p:spPr>
          <a:xfrm>
            <a:off x="8211240" y="36302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8211240" y="3977640"/>
            <a:ext cx="323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Embed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8211240" y="4361760"/>
            <a:ext cx="32360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Each chunk is encoded by the Embedding Model into a vector and stored in the Vector Store alongside its metadata.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08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· DATA FLOW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Retrieval, generation &amp; evaluation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>
            <a:off x="8595360" y="777240"/>
            <a:ext cx="3062160" cy="383040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8595360" y="777240"/>
            <a:ext cx="30621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ONLINE / PER REQUEST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Circle1"/>
          <p:cNvSpPr/>
          <p:nvPr/>
        </p:nvSpPr>
        <p:spPr>
          <a:xfrm>
            <a:off x="548640" y="159984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Num1"/>
          <p:cNvSpPr/>
          <p:nvPr/>
        </p:nvSpPr>
        <p:spPr>
          <a:xfrm>
            <a:off x="548640" y="159984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Desc1"/>
          <p:cNvSpPr/>
          <p:nvPr/>
        </p:nvSpPr>
        <p:spPr>
          <a:xfrm>
            <a:off x="1097280" y="1572480"/>
            <a:ext cx="10423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Configuration is done manually with a separate template for: the target output (or structure of the document) and the output sections (or chapters of the document) to generate for the target.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Circle2"/>
          <p:cNvSpPr/>
          <p:nvPr/>
        </p:nvSpPr>
        <p:spPr>
          <a:xfrm>
            <a:off x="548640" y="219996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Num2"/>
          <p:cNvSpPr/>
          <p:nvPr/>
        </p:nvSpPr>
        <p:spPr>
          <a:xfrm>
            <a:off x="548640" y="21999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Desc2"/>
          <p:cNvSpPr/>
          <p:nvPr/>
        </p:nvSpPr>
        <p:spPr>
          <a:xfrm>
            <a:off x="1097280" y="2172600"/>
            <a:ext cx="10423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The input request is passed to the Prompt Engine.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Circle3"/>
          <p:cNvSpPr/>
          <p:nvPr/>
        </p:nvSpPr>
        <p:spPr>
          <a:xfrm>
            <a:off x="548640" y="280008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Num3"/>
          <p:cNvSpPr/>
          <p:nvPr/>
        </p:nvSpPr>
        <p:spPr>
          <a:xfrm>
            <a:off x="548640" y="28000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Desc3"/>
          <p:cNvSpPr/>
          <p:nvPr/>
        </p:nvSpPr>
        <p:spPr>
          <a:xfrm>
            <a:off x="1097280" y="2772720"/>
            <a:ext cx="10423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The Prompt Engine formulates a retrieval query for each target output section, with possible query improvements: query decomposition, context scoring (of feature / functionality, of item category); fetches the top-k relevant chunks via semantic or similarity search.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Circle4"/>
          <p:cNvSpPr/>
          <p:nvPr/>
        </p:nvSpPr>
        <p:spPr>
          <a:xfrm>
            <a:off x="548640" y="335016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Num4"/>
          <p:cNvSpPr/>
          <p:nvPr/>
        </p:nvSpPr>
        <p:spPr>
          <a:xfrm>
            <a:off x="548640" y="33501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Desc4"/>
          <p:cNvSpPr/>
          <p:nvPr/>
        </p:nvSpPr>
        <p:spPr>
          <a:xfrm>
            <a:off x="1097280" y="3322800"/>
            <a:ext cx="1042308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51"/>
              </a:lnSpc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We have a 2-pass generation process: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ts val="1451"/>
              </a:lnSpc>
              <a:buClr>
                <a:srgbClr val="0C2233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Pass 1: Per chapter, retrieved chunks plus a prompt template are forwarded to the LLM, to generate and write the output in plain language; each generated section is passed to the Evaluation Module, which scores it on defined criteria; sections below a threshold are flagged for review.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ts val="1451"/>
              </a:lnSpc>
              <a:buClr>
                <a:srgbClr val="0C2233"/>
              </a:buClr>
              <a:buFont typeface="Symbol" charset="2"/>
              <a:buChar char=""/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Pass 2 (outline pass): An outline pass is done for the whole document — to check that every section fits the overall document structure — before the complete document is generated.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Circle5"/>
          <p:cNvSpPr/>
          <p:nvPr/>
        </p:nvSpPr>
        <p:spPr>
          <a:xfrm>
            <a:off x="548640" y="422280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Num5"/>
          <p:cNvSpPr/>
          <p:nvPr/>
        </p:nvSpPr>
        <p:spPr>
          <a:xfrm>
            <a:off x="548640" y="422280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Desc5"/>
          <p:cNvSpPr/>
          <p:nvPr/>
        </p:nvSpPr>
        <p:spPr>
          <a:xfrm>
            <a:off x="1097280" y="4195440"/>
            <a:ext cx="10423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 human evaluation is done at the end.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Circle6"/>
          <p:cNvSpPr/>
          <p:nvPr/>
        </p:nvSpPr>
        <p:spPr>
          <a:xfrm>
            <a:off x="548640" y="4822560"/>
            <a:ext cx="383040" cy="3830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Num6"/>
          <p:cNvSpPr/>
          <p:nvPr/>
        </p:nvSpPr>
        <p:spPr>
          <a:xfrm>
            <a:off x="548640" y="48225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Desc6"/>
          <p:cNvSpPr/>
          <p:nvPr/>
        </p:nvSpPr>
        <p:spPr>
          <a:xfrm>
            <a:off x="1097280" y="4795200"/>
            <a:ext cx="104230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The assembled document is returned in markdown file format; through post-processing, other output types can be created: Word, PDF, HTML, wiki page.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8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9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09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04 · MODEL &amp; TOOL CHOICES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Model &amp; tool choices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48640" y="1691640"/>
            <a:ext cx="11063160" cy="45612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658440" y="1691640"/>
            <a:ext cx="1736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Concern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2578680" y="1691640"/>
            <a:ext cx="1919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Choice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4681800" y="1691640"/>
            <a:ext cx="3930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Rationale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8796600" y="169164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Alternative considered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548640" y="2148840"/>
            <a:ext cx="11063160" cy="6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658440" y="2148840"/>
            <a:ext cx="1717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Text generation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2578680" y="2148840"/>
            <a:ext cx="19008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LLM to be chosen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4681800" y="2148840"/>
            <a:ext cx="39124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Decide at last moment, comparing cost &amp; quality (good summarization).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8796600" y="2148840"/>
            <a:ext cx="2723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548640" y="2768760"/>
            <a:ext cx="11063160" cy="61920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3"/>
          <p:cNvSpPr/>
          <p:nvPr/>
        </p:nvSpPr>
        <p:spPr>
          <a:xfrm>
            <a:off x="658440" y="2768760"/>
            <a:ext cx="1717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Embeddings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4"/>
          <p:cNvSpPr/>
          <p:nvPr/>
        </p:nvSpPr>
        <p:spPr>
          <a:xfrm>
            <a:off x="2578680" y="2768760"/>
            <a:ext cx="19008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text-embedding-3-small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4681800" y="2768760"/>
            <a:ext cx="39124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Good semantic quality at low cost; 1536-dim vectors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6"/>
          <p:cNvSpPr/>
          <p:nvPr/>
        </p:nvSpPr>
        <p:spPr>
          <a:xfrm>
            <a:off x="8796600" y="2768760"/>
            <a:ext cx="2723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Cohere Embed v3 — higher cost, multilingual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7"/>
          <p:cNvSpPr/>
          <p:nvPr/>
        </p:nvSpPr>
        <p:spPr>
          <a:xfrm>
            <a:off x="548640" y="3388680"/>
            <a:ext cx="11063160" cy="6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8"/>
          <p:cNvSpPr/>
          <p:nvPr/>
        </p:nvSpPr>
        <p:spPr>
          <a:xfrm>
            <a:off x="658440" y="3388680"/>
            <a:ext cx="1717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Data store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2578680" y="3388680"/>
            <a:ext cx="19008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Qdrant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4681800" y="3388680"/>
            <a:ext cx="39124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Similarity search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1"/>
          <p:cNvSpPr/>
          <p:nvPr/>
        </p:nvSpPr>
        <p:spPr>
          <a:xfrm>
            <a:off x="8796600" y="3388680"/>
            <a:ext cx="2723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Postgres with PGVector — to store relational data separately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2"/>
          <p:cNvSpPr/>
          <p:nvPr/>
        </p:nvSpPr>
        <p:spPr>
          <a:xfrm>
            <a:off x="548640" y="4008960"/>
            <a:ext cx="11063160" cy="61920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3"/>
          <p:cNvSpPr/>
          <p:nvPr/>
        </p:nvSpPr>
        <p:spPr>
          <a:xfrm>
            <a:off x="658440" y="4008960"/>
            <a:ext cx="1717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Orchestration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4"/>
          <p:cNvSpPr/>
          <p:nvPr/>
        </p:nvSpPr>
        <p:spPr>
          <a:xfrm>
            <a:off x="2578680" y="4008960"/>
            <a:ext cx="19008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LangChain LCEL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5"/>
          <p:cNvSpPr/>
          <p:nvPr/>
        </p:nvSpPr>
        <p:spPr>
          <a:xfrm>
            <a:off x="4681800" y="4008960"/>
            <a:ext cx="39124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Composable chains; native Qdrant and OpenAI integrations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6"/>
          <p:cNvSpPr/>
          <p:nvPr/>
        </p:nvSpPr>
        <p:spPr>
          <a:xfrm>
            <a:off x="8796600" y="4008960"/>
            <a:ext cx="2723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LlamaIndex — strong document handling but heavier abstraction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7"/>
          <p:cNvSpPr/>
          <p:nvPr/>
        </p:nvSpPr>
        <p:spPr>
          <a:xfrm>
            <a:off x="548640" y="4628880"/>
            <a:ext cx="11063160" cy="6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8"/>
          <p:cNvSpPr/>
          <p:nvPr/>
        </p:nvSpPr>
        <p:spPr>
          <a:xfrm>
            <a:off x="658440" y="4628880"/>
            <a:ext cx="171792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Evaluation &amp; Monitoring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9"/>
          <p:cNvSpPr/>
          <p:nvPr/>
        </p:nvSpPr>
        <p:spPr>
          <a:xfrm>
            <a:off x="2578680" y="4628880"/>
            <a:ext cx="19008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Langfuse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0"/>
          <p:cNvSpPr/>
          <p:nvPr/>
        </p:nvSpPr>
        <p:spPr>
          <a:xfrm>
            <a:off x="4681800" y="4628880"/>
            <a:ext cx="39124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Prompt versioning, Ragas integration, standard evaluation &amp; logging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1"/>
          <p:cNvSpPr/>
          <p:nvPr/>
        </p:nvSpPr>
        <p:spPr>
          <a:xfrm>
            <a:off x="8796600" y="4628880"/>
            <a:ext cx="2723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LangSmith, Portkey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AltDataStoreCard"/>
          <p:cNvSpPr/>
          <p:nvPr/>
        </p:nvSpPr>
        <p:spPr>
          <a:xfrm>
            <a:off x="548640" y="5328720"/>
            <a:ext cx="11063160" cy="949320"/>
          </a:xfrm>
          <a:prstGeom prst="roundRect">
            <a:avLst>
              <a:gd name="adj" fmla="val 5161"/>
            </a:avLst>
          </a:prstGeom>
          <a:solidFill>
            <a:srgbClr val="EAF3F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" name="AltDataStoreHeader"/>
          <p:cNvSpPr/>
          <p:nvPr/>
        </p:nvSpPr>
        <p:spPr>
          <a:xfrm>
            <a:off x="822960" y="5409000"/>
            <a:ext cx="1051452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ALTERNATIVES FOR DATA STORE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AltDataStoreBody"/>
          <p:cNvSpPr/>
          <p:nvPr/>
        </p:nvSpPr>
        <p:spPr>
          <a:xfrm>
            <a:off x="822960" y="5728680"/>
            <a:ext cx="105145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1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Input: CSV file with agile board items (Jira / Azure DevOps) — most fields are strictly typed, some are free-text (description, acceptance criteria). Vector store, with other agile fields as metadata: better for relating similarities. Postgres + PGVector: easier for smaller datasets, or if the source CSV is already in Postgres.</a:t>
            </a:r>
            <a:endParaRPr lang="nl-N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2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3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10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· EVALUATION STRATEGY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How we assess quality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548640" y="1481400"/>
            <a:ext cx="10514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No single evaluation metric is sufficient — the cost of each automatic evaluation must be assessed, and human review remains important in first iterations to fine-tune the evaluation.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"/>
          <p:cNvSpPr/>
          <p:nvPr/>
        </p:nvSpPr>
        <p:spPr>
          <a:xfrm>
            <a:off x="548640" y="2194560"/>
            <a:ext cx="5393880" cy="3565080"/>
          </a:xfrm>
          <a:prstGeom prst="roundRect">
            <a:avLst>
              <a:gd name="adj" fmla="val 2051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4"/>
          <p:cNvSpPr/>
          <p:nvPr/>
        </p:nvSpPr>
        <p:spPr>
          <a:xfrm>
            <a:off x="868680" y="242316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50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AUTOMATIC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5"/>
          <p:cNvSpPr/>
          <p:nvPr/>
        </p:nvSpPr>
        <p:spPr>
          <a:xfrm>
            <a:off x="868680" y="2834640"/>
            <a:ext cx="47538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LLM-as-a-judge, using standardised evaluation metrics run against generated sections.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"/>
          <p:cNvSpPr/>
          <p:nvPr/>
        </p:nvSpPr>
        <p:spPr>
          <a:xfrm>
            <a:off x="868680" y="3749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868680" y="3749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Completeness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8"/>
          <p:cNvSpPr/>
          <p:nvPr/>
        </p:nvSpPr>
        <p:spPr>
          <a:xfrm>
            <a:off x="3337560" y="3749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3337560" y="3749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Coverage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868680" y="4316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868680" y="4316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Precision*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2"/>
          <p:cNvSpPr/>
          <p:nvPr/>
        </p:nvSpPr>
        <p:spPr>
          <a:xfrm>
            <a:off x="3337560" y="4316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3337560" y="4316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 recall*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868680" y="4883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5"/>
          <p:cNvSpPr/>
          <p:nvPr/>
        </p:nvSpPr>
        <p:spPr>
          <a:xfrm>
            <a:off x="868680" y="4883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Lexical overlap*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6"/>
          <p:cNvSpPr/>
          <p:nvPr/>
        </p:nvSpPr>
        <p:spPr>
          <a:xfrm>
            <a:off x="3337560" y="4883040"/>
            <a:ext cx="2284920" cy="437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3337560" y="4883040"/>
            <a:ext cx="22849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Readability*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868680" y="544068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*requires reference document</a:t>
            </a:r>
            <a:endParaRPr lang="nl-N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9"/>
          <p:cNvSpPr/>
          <p:nvPr/>
        </p:nvSpPr>
        <p:spPr>
          <a:xfrm>
            <a:off x="6172200" y="2194560"/>
            <a:ext cx="5485320" cy="356508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0"/>
          <p:cNvSpPr/>
          <p:nvPr/>
        </p:nvSpPr>
        <p:spPr>
          <a:xfrm>
            <a:off x="6492240" y="242316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50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MANUAL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6492240" y="2834640"/>
            <a:ext cx="4845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Human review and post-publish user feedback close the loop on what automation can't fully judge.</a:t>
            </a:r>
            <a:endParaRPr lang="nl-NL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2"/>
          <p:cNvSpPr/>
          <p:nvPr/>
        </p:nvSpPr>
        <p:spPr>
          <a:xfrm>
            <a:off x="6492240" y="3794760"/>
            <a:ext cx="4845240" cy="5932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3"/>
          <p:cNvSpPr/>
          <p:nvPr/>
        </p:nvSpPr>
        <p:spPr>
          <a:xfrm>
            <a:off x="6675120" y="384948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User acceptance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4"/>
          <p:cNvSpPr/>
          <p:nvPr/>
        </p:nvSpPr>
        <p:spPr>
          <a:xfrm>
            <a:off x="6675120" y="409644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Manual reviewer classifies output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5"/>
          <p:cNvSpPr/>
          <p:nvPr/>
        </p:nvSpPr>
        <p:spPr>
          <a:xfrm>
            <a:off x="6492240" y="4572000"/>
            <a:ext cx="4845240" cy="5932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6"/>
          <p:cNvSpPr/>
          <p:nvPr/>
        </p:nvSpPr>
        <p:spPr>
          <a:xfrm>
            <a:off x="6675120" y="4626720"/>
            <a:ext cx="4570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Post-publish feedback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7"/>
          <p:cNvSpPr/>
          <p:nvPr/>
        </p:nvSpPr>
        <p:spPr>
          <a:xfrm>
            <a:off x="6675120" y="487368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Thumbs-up / thumbs-down via UI widget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8"/>
          <p:cNvSpPr/>
          <p:nvPr/>
        </p:nvSpPr>
        <p:spPr>
          <a:xfrm>
            <a:off x="6492240" y="5440680"/>
            <a:ext cx="4845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Quality is assessed automatically through LLM-as-a-judge, and manually through human review and post-publish feedback.</a:t>
            </a:r>
            <a:endParaRPr lang="nl-N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9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0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11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· EVALUATION STRATEGY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Evaluation metrics &amp; targets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548640" y="1691640"/>
            <a:ext cx="11063160" cy="41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658440" y="1691640"/>
            <a:ext cx="1999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2838600" y="1691640"/>
            <a:ext cx="799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3818520" y="1691640"/>
            <a:ext cx="3799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it measures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7798320" y="1691640"/>
            <a:ext cx="17992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ToolHdr"/>
          <p:cNvSpPr/>
          <p:nvPr/>
        </p:nvSpPr>
        <p:spPr>
          <a:xfrm>
            <a:off x="9778320" y="1691640"/>
            <a:ext cx="17420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Tooling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7"/>
          <p:cNvSpPr/>
          <p:nvPr/>
        </p:nvSpPr>
        <p:spPr>
          <a:xfrm>
            <a:off x="548640" y="2103120"/>
            <a:ext cx="11063160" cy="48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658440" y="210312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Completeness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2838600" y="222876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0"/>
          <p:cNvSpPr/>
          <p:nvPr/>
        </p:nvSpPr>
        <p:spPr>
          <a:xfrm>
            <a:off x="2838600" y="222876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1"/>
          <p:cNvSpPr/>
          <p:nvPr/>
        </p:nvSpPr>
        <p:spPr>
          <a:xfrm>
            <a:off x="3818520" y="210312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Presence of required document sections; per section, its template structure &amp; content is used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2"/>
          <p:cNvSpPr/>
          <p:nvPr/>
        </p:nvSpPr>
        <p:spPr>
          <a:xfrm>
            <a:off x="7798320" y="210312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100% requested sections; 80% requested templates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ToolRow"/>
          <p:cNvSpPr/>
          <p:nvPr/>
        </p:nvSpPr>
        <p:spPr>
          <a:xfrm>
            <a:off x="9778320" y="210312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Langfuse with Ragas; Similarity search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3"/>
          <p:cNvSpPr/>
          <p:nvPr/>
        </p:nvSpPr>
        <p:spPr>
          <a:xfrm>
            <a:off x="548640" y="2592360"/>
            <a:ext cx="11063160" cy="4881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4"/>
          <p:cNvSpPr/>
          <p:nvPr/>
        </p:nvSpPr>
        <p:spPr>
          <a:xfrm>
            <a:off x="658440" y="259236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Coverage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5"/>
          <p:cNvSpPr/>
          <p:nvPr/>
        </p:nvSpPr>
        <p:spPr>
          <a:xfrm>
            <a:off x="2838600" y="271800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6"/>
          <p:cNvSpPr/>
          <p:nvPr/>
        </p:nvSpPr>
        <p:spPr>
          <a:xfrm>
            <a:off x="2838600" y="271800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7"/>
          <p:cNvSpPr/>
          <p:nvPr/>
        </p:nvSpPr>
        <p:spPr>
          <a:xfrm>
            <a:off x="3818520" y="259236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% of functional areas in agile tickets mentioned in output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8"/>
          <p:cNvSpPr/>
          <p:nvPr/>
        </p:nvSpPr>
        <p:spPr>
          <a:xfrm>
            <a:off x="7798320" y="259236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80% coverage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ToolRow"/>
          <p:cNvSpPr/>
          <p:nvPr/>
        </p:nvSpPr>
        <p:spPr>
          <a:xfrm>
            <a:off x="9778320" y="259236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Keyword extraction + overlap check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9"/>
          <p:cNvSpPr/>
          <p:nvPr/>
        </p:nvSpPr>
        <p:spPr>
          <a:xfrm>
            <a:off x="548640" y="3081600"/>
            <a:ext cx="11063160" cy="48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0"/>
          <p:cNvSpPr/>
          <p:nvPr/>
        </p:nvSpPr>
        <p:spPr>
          <a:xfrm>
            <a:off x="658440" y="308160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1"/>
          <p:cNvSpPr/>
          <p:nvPr/>
        </p:nvSpPr>
        <p:spPr>
          <a:xfrm>
            <a:off x="2838600" y="320724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2"/>
          <p:cNvSpPr/>
          <p:nvPr/>
        </p:nvSpPr>
        <p:spPr>
          <a:xfrm>
            <a:off x="2838600" y="320724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 doc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3"/>
          <p:cNvSpPr/>
          <p:nvPr/>
        </p:nvSpPr>
        <p:spPr>
          <a:xfrm>
            <a:off x="3818520" y="308160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Claims in response supported by retrieved context (accuracy of the retrieved context)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4"/>
          <p:cNvSpPr/>
          <p:nvPr/>
        </p:nvSpPr>
        <p:spPr>
          <a:xfrm>
            <a:off x="7798320" y="308160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90% precision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ToolRow"/>
          <p:cNvSpPr/>
          <p:nvPr/>
        </p:nvSpPr>
        <p:spPr>
          <a:xfrm>
            <a:off x="9778320" y="308160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Langfuse with Ragas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5"/>
          <p:cNvSpPr/>
          <p:nvPr/>
        </p:nvSpPr>
        <p:spPr>
          <a:xfrm>
            <a:off x="548640" y="3570840"/>
            <a:ext cx="11063160" cy="4881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6"/>
          <p:cNvSpPr/>
          <p:nvPr/>
        </p:nvSpPr>
        <p:spPr>
          <a:xfrm>
            <a:off x="658440" y="357084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Context recall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7"/>
          <p:cNvSpPr/>
          <p:nvPr/>
        </p:nvSpPr>
        <p:spPr>
          <a:xfrm>
            <a:off x="2838600" y="369648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8"/>
          <p:cNvSpPr/>
          <p:nvPr/>
        </p:nvSpPr>
        <p:spPr>
          <a:xfrm>
            <a:off x="2838600" y="369648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 doc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9"/>
          <p:cNvSpPr/>
          <p:nvPr/>
        </p:nvSpPr>
        <p:spPr>
          <a:xfrm>
            <a:off x="3818520" y="357084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Relevant facts in context that appear in response (ability to retrieve all relevant information)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0"/>
          <p:cNvSpPr/>
          <p:nvPr/>
        </p:nvSpPr>
        <p:spPr>
          <a:xfrm>
            <a:off x="7798320" y="357084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85% context recall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ToolRow"/>
          <p:cNvSpPr/>
          <p:nvPr/>
        </p:nvSpPr>
        <p:spPr>
          <a:xfrm>
            <a:off x="9778320" y="357084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Langfuse with Ragas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1"/>
          <p:cNvSpPr/>
          <p:nvPr/>
        </p:nvSpPr>
        <p:spPr>
          <a:xfrm>
            <a:off x="548640" y="4060080"/>
            <a:ext cx="11063160" cy="48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2"/>
          <p:cNvSpPr/>
          <p:nvPr/>
        </p:nvSpPr>
        <p:spPr>
          <a:xfrm>
            <a:off x="658440" y="406008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Lexical overlap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3"/>
          <p:cNvSpPr/>
          <p:nvPr/>
        </p:nvSpPr>
        <p:spPr>
          <a:xfrm>
            <a:off x="2838600" y="418572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4"/>
          <p:cNvSpPr/>
          <p:nvPr/>
        </p:nvSpPr>
        <p:spPr>
          <a:xfrm>
            <a:off x="2838600" y="418572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 doc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5"/>
          <p:cNvSpPr/>
          <p:nvPr/>
        </p:nvSpPr>
        <p:spPr>
          <a:xfrm>
            <a:off x="3818520" y="406008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Similarity search vector DB vs. human-written reference (where available)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6"/>
          <p:cNvSpPr/>
          <p:nvPr/>
        </p:nvSpPr>
        <p:spPr>
          <a:xfrm>
            <a:off x="7798320" y="406008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90% (caution: limited signal)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ToolRow"/>
          <p:cNvSpPr/>
          <p:nvPr/>
        </p:nvSpPr>
        <p:spPr>
          <a:xfrm>
            <a:off x="9778320" y="406008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vector DB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7"/>
          <p:cNvSpPr/>
          <p:nvPr/>
        </p:nvSpPr>
        <p:spPr>
          <a:xfrm>
            <a:off x="548640" y="4549320"/>
            <a:ext cx="11063160" cy="4881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8"/>
          <p:cNvSpPr/>
          <p:nvPr/>
        </p:nvSpPr>
        <p:spPr>
          <a:xfrm>
            <a:off x="658440" y="454932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Readability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9"/>
          <p:cNvSpPr/>
          <p:nvPr/>
        </p:nvSpPr>
        <p:spPr>
          <a:xfrm>
            <a:off x="2838600" y="467496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0"/>
          <p:cNvSpPr/>
          <p:nvPr/>
        </p:nvSpPr>
        <p:spPr>
          <a:xfrm>
            <a:off x="2838600" y="467496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 doc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1"/>
          <p:cNvSpPr/>
          <p:nvPr/>
        </p:nvSpPr>
        <p:spPr>
          <a:xfrm>
            <a:off x="3818520" y="454932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LLM score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2"/>
          <p:cNvSpPr/>
          <p:nvPr/>
        </p:nvSpPr>
        <p:spPr>
          <a:xfrm>
            <a:off x="7798320" y="454932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80%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ToolRow"/>
          <p:cNvSpPr/>
          <p:nvPr/>
        </p:nvSpPr>
        <p:spPr>
          <a:xfrm>
            <a:off x="9778320" y="454932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textstat + LLM rubric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3"/>
          <p:cNvSpPr/>
          <p:nvPr/>
        </p:nvSpPr>
        <p:spPr>
          <a:xfrm>
            <a:off x="548640" y="5038200"/>
            <a:ext cx="11063160" cy="48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4"/>
          <p:cNvSpPr/>
          <p:nvPr/>
        </p:nvSpPr>
        <p:spPr>
          <a:xfrm>
            <a:off x="658440" y="503820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User acceptance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5"/>
          <p:cNvSpPr/>
          <p:nvPr/>
        </p:nvSpPr>
        <p:spPr>
          <a:xfrm>
            <a:off x="2838600" y="516420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6"/>
          <p:cNvSpPr/>
          <p:nvPr/>
        </p:nvSpPr>
        <p:spPr>
          <a:xfrm>
            <a:off x="2838600" y="516420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manual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7"/>
          <p:cNvSpPr/>
          <p:nvPr/>
        </p:nvSpPr>
        <p:spPr>
          <a:xfrm>
            <a:off x="3818520" y="503820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Manual reviewer classifies output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8"/>
          <p:cNvSpPr/>
          <p:nvPr/>
        </p:nvSpPr>
        <p:spPr>
          <a:xfrm>
            <a:off x="7798320" y="503820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60%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ToolRow"/>
          <p:cNvSpPr/>
          <p:nvPr/>
        </p:nvSpPr>
        <p:spPr>
          <a:xfrm>
            <a:off x="9778320" y="503820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Manual annotation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9"/>
          <p:cNvSpPr/>
          <p:nvPr/>
        </p:nvSpPr>
        <p:spPr>
          <a:xfrm>
            <a:off x="548640" y="5527440"/>
            <a:ext cx="11063160" cy="4881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50"/>
          <p:cNvSpPr/>
          <p:nvPr/>
        </p:nvSpPr>
        <p:spPr>
          <a:xfrm>
            <a:off x="658440" y="5527440"/>
            <a:ext cx="19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Post-publish feedback</a:t>
            </a:r>
            <a:endParaRPr lang="nl-N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1"/>
          <p:cNvSpPr/>
          <p:nvPr/>
        </p:nvSpPr>
        <p:spPr>
          <a:xfrm>
            <a:off x="2838600" y="5653440"/>
            <a:ext cx="799200" cy="236520"/>
          </a:xfrm>
          <a:prstGeom prst="roundRect">
            <a:avLst>
              <a:gd name="adj" fmla="val 50000"/>
            </a:avLst>
          </a:prstGeom>
          <a:solidFill>
            <a:srgbClr val="5B6B7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2"/>
          <p:cNvSpPr/>
          <p:nvPr/>
        </p:nvSpPr>
        <p:spPr>
          <a:xfrm>
            <a:off x="2838600" y="5653440"/>
            <a:ext cx="799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UI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53"/>
          <p:cNvSpPr/>
          <p:nvPr/>
        </p:nvSpPr>
        <p:spPr>
          <a:xfrm>
            <a:off x="3818520" y="5527440"/>
            <a:ext cx="379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Reviewer thumbs-up / thumbs-down on final doc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54"/>
          <p:cNvSpPr/>
          <p:nvPr/>
        </p:nvSpPr>
        <p:spPr>
          <a:xfrm>
            <a:off x="7798320" y="5527440"/>
            <a:ext cx="17992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≥ 70% thumbs-up without major edits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ToolRow"/>
          <p:cNvSpPr/>
          <p:nvPr/>
        </p:nvSpPr>
        <p:spPr>
          <a:xfrm>
            <a:off x="9778320" y="5527440"/>
            <a:ext cx="17420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UI feedback widget</a:t>
            </a:r>
            <a:endParaRPr lang="nl-N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5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6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12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· EVALUATION STRATEGY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Pipeline &amp; open questions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"/>
          <p:cNvSpPr/>
          <p:nvPr/>
        </p:nvSpPr>
        <p:spPr>
          <a:xfrm>
            <a:off x="548640" y="1737360"/>
            <a:ext cx="11063160" cy="155340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"/>
          <p:cNvSpPr/>
          <p:nvPr/>
        </p:nvSpPr>
        <p:spPr>
          <a:xfrm>
            <a:off x="822960" y="19018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EVALUATION PIPELINE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4"/>
          <p:cNvSpPr/>
          <p:nvPr/>
        </p:nvSpPr>
        <p:spPr>
          <a:xfrm>
            <a:off x="822960" y="235908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5"/>
          <p:cNvSpPr/>
          <p:nvPr/>
        </p:nvSpPr>
        <p:spPr>
          <a:xfrm>
            <a:off x="1097280" y="224028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Completeness, precision, context recall &amp; coverage — automated, run synchronously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6"/>
          <p:cNvSpPr/>
          <p:nvPr/>
        </p:nvSpPr>
        <p:spPr>
          <a:xfrm>
            <a:off x="6217920" y="235908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7"/>
          <p:cNvSpPr/>
          <p:nvPr/>
        </p:nvSpPr>
        <p:spPr>
          <a:xfrm>
            <a:off x="6492240" y="224028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Lexical overlap &amp; readability — async, requires a reference document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8"/>
          <p:cNvSpPr/>
          <p:nvPr/>
        </p:nvSpPr>
        <p:spPr>
          <a:xfrm>
            <a:off x="822960" y="28893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9"/>
          <p:cNvSpPr/>
          <p:nvPr/>
        </p:nvSpPr>
        <p:spPr>
          <a:xfrm>
            <a:off x="1097280" y="277056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User acceptance — manual, to assess whether results are meaningful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0"/>
          <p:cNvSpPr/>
          <p:nvPr/>
        </p:nvSpPr>
        <p:spPr>
          <a:xfrm>
            <a:off x="6217920" y="2889360"/>
            <a:ext cx="117720" cy="117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1"/>
          <p:cNvSpPr/>
          <p:nvPr/>
        </p:nvSpPr>
        <p:spPr>
          <a:xfrm>
            <a:off x="6492240" y="277056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Post-publish feedback — collected from UI, stored for fine-tuning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2"/>
          <p:cNvSpPr/>
          <p:nvPr/>
        </p:nvSpPr>
        <p:spPr>
          <a:xfrm>
            <a:off x="548640" y="3520440"/>
            <a:ext cx="11063160" cy="274212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3"/>
          <p:cNvSpPr/>
          <p:nvPr/>
        </p:nvSpPr>
        <p:spPr>
          <a:xfrm>
            <a:off x="822960" y="37033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KEY EVALUATION QUESTIONS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4"/>
          <p:cNvSpPr/>
          <p:nvPr/>
        </p:nvSpPr>
        <p:spPr>
          <a:xfrm>
            <a:off x="822960" y="406908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1051560" y="4069080"/>
            <a:ext cx="10331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 we consistently use the same term for every concept? (automatic term extraction: embed &amp; cluster terms to check)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6"/>
          <p:cNvSpPr/>
          <p:nvPr/>
        </p:nvSpPr>
        <p:spPr>
          <a:xfrm>
            <a:off x="822960" y="448056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7"/>
          <p:cNvSpPr/>
          <p:nvPr/>
        </p:nvSpPr>
        <p:spPr>
          <a:xfrm>
            <a:off x="1051560" y="4480560"/>
            <a:ext cx="10331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 our glossary complete? A concept is added when first used and a definition exists.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8"/>
          <p:cNvSpPr/>
          <p:nvPr/>
        </p:nvSpPr>
        <p:spPr>
          <a:xfrm>
            <a:off x="822960" y="489204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9"/>
          <p:cNvSpPr/>
          <p:nvPr/>
        </p:nvSpPr>
        <p:spPr>
          <a:xfrm>
            <a:off x="1051560" y="4892040"/>
            <a:ext cx="10331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Quality = documentation that is actually used/read — hard to measure before availability; refine metrics after manual review.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0"/>
          <p:cNvSpPr/>
          <p:nvPr/>
        </p:nvSpPr>
        <p:spPr>
          <a:xfrm>
            <a:off x="822960" y="530352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1"/>
          <p:cNvSpPr/>
          <p:nvPr/>
        </p:nvSpPr>
        <p:spPr>
          <a:xfrm>
            <a:off x="1051560" y="5303520"/>
            <a:ext cx="10331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do we do with other agile item types (bug, task, spike, etc.)?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2"/>
          <p:cNvSpPr/>
          <p:nvPr/>
        </p:nvSpPr>
        <p:spPr>
          <a:xfrm>
            <a:off x="822960" y="571500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3"/>
          <p:cNvSpPr/>
          <p:nvPr/>
        </p:nvSpPr>
        <p:spPr>
          <a:xfrm>
            <a:off x="1051560" y="5715000"/>
            <a:ext cx="10331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the real cost to create a meaningful, genuinely-used result?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4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5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13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06 · TRADE-OFFS &amp; LIMITATIONS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Trade-offs &amp; limitations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Row0"/>
          <p:cNvSpPr/>
          <p:nvPr/>
        </p:nvSpPr>
        <p:spPr>
          <a:xfrm>
            <a:off x="548640" y="1737360"/>
            <a:ext cx="11063160" cy="5043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Concern0"/>
          <p:cNvSpPr/>
          <p:nvPr/>
        </p:nvSpPr>
        <p:spPr>
          <a:xfrm>
            <a:off x="685800" y="173736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Source quality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Limit0"/>
          <p:cNvSpPr/>
          <p:nvPr/>
        </p:nvSpPr>
        <p:spPr>
          <a:xfrm>
            <a:off x="3017520" y="173736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Garbage-in, garbage-out; poor tickets or vague specs yield shallow docs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Reason0"/>
          <p:cNvSpPr/>
          <p:nvPr/>
        </p:nvSpPr>
        <p:spPr>
          <a:xfrm>
            <a:off x="7223760" y="173736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Warn user on low-quality data or low similarity scores; prompt for better sources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Row1"/>
          <p:cNvSpPr/>
          <p:nvPr/>
        </p:nvSpPr>
        <p:spPr>
          <a:xfrm>
            <a:off x="548640" y="2242440"/>
            <a:ext cx="11063160" cy="50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Concern1"/>
          <p:cNvSpPr/>
          <p:nvPr/>
        </p:nvSpPr>
        <p:spPr>
          <a:xfrm>
            <a:off x="685800" y="224244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Hallucination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Limit1"/>
          <p:cNvSpPr/>
          <p:nvPr/>
        </p:nvSpPr>
        <p:spPr>
          <a:xfrm>
            <a:off x="3017520" y="224244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LLM may infer behaviour not present in sources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Reason1"/>
          <p:cNvSpPr/>
          <p:nvPr/>
        </p:nvSpPr>
        <p:spPr>
          <a:xfrm>
            <a:off x="7223760" y="224244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Precision/context recall checks flag low-confidence sentences; human review required before publish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Row2"/>
          <p:cNvSpPr/>
          <p:nvPr/>
        </p:nvSpPr>
        <p:spPr>
          <a:xfrm>
            <a:off x="548640" y="2747520"/>
            <a:ext cx="11063160" cy="5043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Concern2"/>
          <p:cNvSpPr/>
          <p:nvPr/>
        </p:nvSpPr>
        <p:spPr>
          <a:xfrm>
            <a:off x="685800" y="274752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Output format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Limit2"/>
          <p:cNvSpPr/>
          <p:nvPr/>
        </p:nvSpPr>
        <p:spPr>
          <a:xfrm>
            <a:off x="3017520" y="274752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Generates Markdown only; post-processing exports to Word, PDF, HTML, wiki page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Reason2"/>
          <p:cNvSpPr/>
          <p:nvPr/>
        </p:nvSpPr>
        <p:spPr>
          <a:xfrm>
            <a:off x="7223760" y="274752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Markdown is the most portable intermediate format; converters exist for target formats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Row3"/>
          <p:cNvSpPr/>
          <p:nvPr/>
        </p:nvSpPr>
        <p:spPr>
          <a:xfrm>
            <a:off x="548640" y="3252240"/>
            <a:ext cx="11063160" cy="50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Concern3"/>
          <p:cNvSpPr/>
          <p:nvPr/>
        </p:nvSpPr>
        <p:spPr>
          <a:xfrm>
            <a:off x="685800" y="325224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Cost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Limit3"/>
          <p:cNvSpPr/>
          <p:nvPr/>
        </p:nvSpPr>
        <p:spPr>
          <a:xfrm>
            <a:off x="3017520" y="325224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Balance cost with quality (e.g. for evaluation); limit LLM calls to reduce cost; use smaller LLMs for specific tasks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Reason3"/>
          <p:cNvSpPr/>
          <p:nvPr/>
        </p:nvSpPr>
        <p:spPr>
          <a:xfrm>
            <a:off x="7223760" y="325224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Major cost factor is calls to external sources (LLMs, etc.)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Row4"/>
          <p:cNvSpPr/>
          <p:nvPr/>
        </p:nvSpPr>
        <p:spPr>
          <a:xfrm>
            <a:off x="548640" y="3757320"/>
            <a:ext cx="11063160" cy="504360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Concern4"/>
          <p:cNvSpPr/>
          <p:nvPr/>
        </p:nvSpPr>
        <p:spPr>
          <a:xfrm>
            <a:off x="685800" y="375732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Context window size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Limit4"/>
          <p:cNvSpPr/>
          <p:nvPr/>
        </p:nvSpPr>
        <p:spPr>
          <a:xfrm>
            <a:off x="3017520" y="375732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1. Keep it small. 2. Do section-by-section generation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Reason4"/>
          <p:cNvSpPr/>
          <p:nvPr/>
        </p:nvSpPr>
        <p:spPr>
          <a:xfrm>
            <a:off x="7223760" y="375732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1. 2-pass generation. 2. Review of whole result before generation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Row5"/>
          <p:cNvSpPr/>
          <p:nvPr/>
        </p:nvSpPr>
        <p:spPr>
          <a:xfrm>
            <a:off x="548640" y="4262400"/>
            <a:ext cx="11063160" cy="504360"/>
          </a:xfrm>
          <a:prstGeom prst="rect">
            <a:avLst/>
          </a:prstGeom>
          <a:solidFill>
            <a:srgbClr val="D9D9D9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Concern5"/>
          <p:cNvSpPr/>
          <p:nvPr/>
        </p:nvSpPr>
        <p:spPr>
          <a:xfrm>
            <a:off x="685800" y="426240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Real-time sync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Limit5"/>
          <p:cNvSpPr/>
          <p:nvPr/>
        </p:nvSpPr>
        <p:spPr>
          <a:xfrm>
            <a:off x="3017520" y="426240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No automatic re-ingestion when a ticket or code file changes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Reason5"/>
          <p:cNvSpPr/>
          <p:nvPr/>
        </p:nvSpPr>
        <p:spPr>
          <a:xfrm>
            <a:off x="7223760" y="426240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Later: manual re-index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Row6"/>
          <p:cNvSpPr/>
          <p:nvPr/>
        </p:nvSpPr>
        <p:spPr>
          <a:xfrm>
            <a:off x="548640" y="4767480"/>
            <a:ext cx="11063160" cy="504360"/>
          </a:xfrm>
          <a:prstGeom prst="rect">
            <a:avLst/>
          </a:prstGeom>
          <a:solidFill>
            <a:srgbClr val="D9D9D9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Concern6"/>
          <p:cNvSpPr/>
          <p:nvPr/>
        </p:nvSpPr>
        <p:spPr>
          <a:xfrm>
            <a:off x="685800" y="476748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Multilingual output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Limit6"/>
          <p:cNvSpPr/>
          <p:nvPr/>
        </p:nvSpPr>
        <p:spPr>
          <a:xfrm>
            <a:off x="3017520" y="476748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Generation language follows the dominant language of sources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Reason6"/>
          <p:cNvSpPr/>
          <p:nvPr/>
        </p:nvSpPr>
        <p:spPr>
          <a:xfrm>
            <a:off x="7223760" y="476748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Later: explicit language override parameter planned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Row7"/>
          <p:cNvSpPr/>
          <p:nvPr/>
        </p:nvSpPr>
        <p:spPr>
          <a:xfrm>
            <a:off x="548640" y="5272200"/>
            <a:ext cx="11063160" cy="504360"/>
          </a:xfrm>
          <a:prstGeom prst="rect">
            <a:avLst/>
          </a:prstGeom>
          <a:solidFill>
            <a:srgbClr val="D9D9D9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Concern7"/>
          <p:cNvSpPr/>
          <p:nvPr/>
        </p:nvSpPr>
        <p:spPr>
          <a:xfrm>
            <a:off x="685800" y="527220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Access control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Limit7"/>
          <p:cNvSpPr/>
          <p:nvPr/>
        </p:nvSpPr>
        <p:spPr>
          <a:xfrm>
            <a:off x="3017520" y="527220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No per-user permission model on source artifacts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Reason7"/>
          <p:cNvSpPr/>
          <p:nvPr/>
        </p:nvSpPr>
        <p:spPr>
          <a:xfrm>
            <a:off x="7223760" y="527220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Later: assumes operator controls which sources are connected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Row8"/>
          <p:cNvSpPr/>
          <p:nvPr/>
        </p:nvSpPr>
        <p:spPr>
          <a:xfrm>
            <a:off x="548640" y="5777280"/>
            <a:ext cx="11063160" cy="504360"/>
          </a:xfrm>
          <a:prstGeom prst="rect">
            <a:avLst/>
          </a:prstGeom>
          <a:solidFill>
            <a:srgbClr val="D9D9D9"/>
          </a:solidFill>
          <a:ln w="9525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Concern8"/>
          <p:cNvSpPr/>
          <p:nvPr/>
        </p:nvSpPr>
        <p:spPr>
          <a:xfrm>
            <a:off x="685800" y="5777280"/>
            <a:ext cx="2284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UI/API output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Limit8"/>
          <p:cNvSpPr/>
          <p:nvPr/>
        </p:nvSpPr>
        <p:spPr>
          <a:xfrm>
            <a:off x="3017520" y="5777280"/>
            <a:ext cx="41137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Does not serve automated results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Reason8"/>
          <p:cNvSpPr/>
          <p:nvPr/>
        </p:nvSpPr>
        <p:spPr>
          <a:xfrm>
            <a:off x="7223760" y="5777280"/>
            <a:ext cx="4296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Later: nice visualization of output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6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7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14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07 · IDEAS TO IMPROVE QUALITY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Raising overall quality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548640" y="1481400"/>
            <a:ext cx="10697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The solution can only work with at least one input source containing quality information. When using agile board items as the input source:</a:t>
            </a:r>
            <a:endParaRPr lang="nl-N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548640" y="2103120"/>
            <a:ext cx="3565080" cy="3839400"/>
          </a:xfrm>
          <a:prstGeom prst="roundRect">
            <a:avLst>
              <a:gd name="adj" fmla="val 2051"/>
            </a:avLst>
          </a:prstGeom>
          <a:solidFill>
            <a:srgbClr val="065A82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"/>
          <p:cNvSpPr/>
          <p:nvPr/>
        </p:nvSpPr>
        <p:spPr>
          <a:xfrm>
            <a:off x="822960" y="2377440"/>
            <a:ext cx="456120" cy="4561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E8A33D"/>
          </a:solidFill>
          <a:ln w="127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5"/>
          <p:cNvSpPr/>
          <p:nvPr/>
        </p:nvSpPr>
        <p:spPr>
          <a:xfrm>
            <a:off x="822960" y="23774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6"/>
          <p:cNvSpPr/>
          <p:nvPr/>
        </p:nvSpPr>
        <p:spPr>
          <a:xfrm>
            <a:off x="822960" y="297180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 &amp; quality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822960" y="3566160"/>
            <a:ext cx="301644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The level of detail on an agile board can strongly vary — from a one-liner up to near pseudo-code. Use templates per item type, ensure descriptions are detailed enough (compare against reference examples), and identify all backlog items relevant to the functionality being documented.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8"/>
          <p:cNvSpPr/>
          <p:nvPr/>
        </p:nvSpPr>
        <p:spPr>
          <a:xfrm>
            <a:off x="4297680" y="2103120"/>
            <a:ext cx="3565080" cy="383940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9"/>
          <p:cNvSpPr/>
          <p:nvPr/>
        </p:nvSpPr>
        <p:spPr>
          <a:xfrm>
            <a:off x="4572000" y="2377440"/>
            <a:ext cx="456120" cy="4561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0"/>
          <p:cNvSpPr/>
          <p:nvPr/>
        </p:nvSpPr>
        <p:spPr>
          <a:xfrm>
            <a:off x="4572000" y="23774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1"/>
          <p:cNvSpPr/>
          <p:nvPr/>
        </p:nvSpPr>
        <p:spPr>
          <a:xfrm>
            <a:off x="4572000" y="297180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Feature definition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2"/>
          <p:cNvSpPr/>
          <p:nvPr/>
        </p:nvSpPr>
        <p:spPr>
          <a:xfrm>
            <a:off x="4572000" y="3566160"/>
            <a:ext cx="301644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We ensure all items of a feature are grouped together.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3"/>
          <p:cNvSpPr/>
          <p:nvPr/>
        </p:nvSpPr>
        <p:spPr>
          <a:xfrm>
            <a:off x="8046720" y="2103120"/>
            <a:ext cx="3565080" cy="383940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4"/>
          <p:cNvSpPr/>
          <p:nvPr/>
        </p:nvSpPr>
        <p:spPr>
          <a:xfrm>
            <a:off x="8321040" y="2377440"/>
            <a:ext cx="456120" cy="4561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5"/>
          <p:cNvSpPr/>
          <p:nvPr/>
        </p:nvSpPr>
        <p:spPr>
          <a:xfrm>
            <a:off x="8321040" y="23774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6"/>
          <p:cNvSpPr/>
          <p:nvPr/>
        </p:nvSpPr>
        <p:spPr>
          <a:xfrm>
            <a:off x="8321040" y="297180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Documentation quality</a:t>
            </a:r>
            <a:endParaRPr lang="nl-N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7"/>
          <p:cNvSpPr/>
          <p:nvPr/>
        </p:nvSpPr>
        <p:spPr>
          <a:xfrm>
            <a:off x="8321040" y="3566160"/>
            <a:ext cx="301644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Further specify what is 'good' documentation — i.e. actually used and read — and get additional input to assess this through human review and acceptance.</a:t>
            </a:r>
            <a:endParaRPr lang="nl-N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8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9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15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08 · BIGGEST CHALLENGES</a:t>
            </a:r>
            <a:endParaRPr lang="nl-N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"/>
          <p:cNvSpPr/>
          <p:nvPr/>
        </p:nvSpPr>
        <p:spPr>
          <a:xfrm>
            <a:off x="548640" y="685800"/>
            <a:ext cx="10057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three biggest challenges</a:t>
            </a:r>
            <a:endParaRPr lang="nl-NL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"/>
          <p:cNvSpPr/>
          <p:nvPr/>
        </p:nvSpPr>
        <p:spPr>
          <a:xfrm>
            <a:off x="548640" y="2103120"/>
            <a:ext cx="3519360" cy="365652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3"/>
          <p:cNvSpPr/>
          <p:nvPr/>
        </p:nvSpPr>
        <p:spPr>
          <a:xfrm>
            <a:off x="868680" y="23317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nl-NL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4"/>
          <p:cNvSpPr/>
          <p:nvPr/>
        </p:nvSpPr>
        <p:spPr>
          <a:xfrm>
            <a:off x="868680" y="3429000"/>
            <a:ext cx="2879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Input data quality</a:t>
            </a:r>
            <a:endParaRPr lang="nl-N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5"/>
          <p:cNvSpPr/>
          <p:nvPr/>
        </p:nvSpPr>
        <p:spPr>
          <a:xfrm>
            <a:off x="868680" y="4160520"/>
            <a:ext cx="28792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Quality of the input data source(s) fundamentally caps output quality.</a:t>
            </a:r>
            <a:endParaRPr lang="nl-N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6"/>
          <p:cNvSpPr/>
          <p:nvPr/>
        </p:nvSpPr>
        <p:spPr>
          <a:xfrm>
            <a:off x="4343400" y="2103120"/>
            <a:ext cx="3519360" cy="365652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7"/>
          <p:cNvSpPr/>
          <p:nvPr/>
        </p:nvSpPr>
        <p:spPr>
          <a:xfrm>
            <a:off x="4663440" y="23317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nl-NL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8"/>
          <p:cNvSpPr/>
          <p:nvPr/>
        </p:nvSpPr>
        <p:spPr>
          <a:xfrm>
            <a:off x="4663440" y="3429000"/>
            <a:ext cx="2879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Evaluation quality</a:t>
            </a:r>
            <a:endParaRPr lang="nl-N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9"/>
          <p:cNvSpPr/>
          <p:nvPr/>
        </p:nvSpPr>
        <p:spPr>
          <a:xfrm>
            <a:off x="4663440" y="4160520"/>
            <a:ext cx="28792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Evaluation quality, to make the result genuinely 'useful'.</a:t>
            </a:r>
            <a:endParaRPr lang="nl-N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0"/>
          <p:cNvSpPr/>
          <p:nvPr/>
        </p:nvSpPr>
        <p:spPr>
          <a:xfrm>
            <a:off x="8138160" y="2103120"/>
            <a:ext cx="3519360" cy="365652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1"/>
          <p:cNvSpPr/>
          <p:nvPr/>
        </p:nvSpPr>
        <p:spPr>
          <a:xfrm>
            <a:off x="8458200" y="2331720"/>
            <a:ext cx="18277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E8A33D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nl-NL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2"/>
          <p:cNvSpPr/>
          <p:nvPr/>
        </p:nvSpPr>
        <p:spPr>
          <a:xfrm>
            <a:off x="8458200" y="3429000"/>
            <a:ext cx="28792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Cost-benefit case</a:t>
            </a:r>
            <a:endParaRPr lang="nl-N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3"/>
          <p:cNvSpPr/>
          <p:nvPr/>
        </p:nvSpPr>
        <p:spPr>
          <a:xfrm>
            <a:off x="8458200" y="4160520"/>
            <a:ext cx="28792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Doing a cost-benefit analysis, to have a real, valid use case.</a:t>
            </a:r>
            <a:endParaRPr lang="nl-N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4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FB8C8"/>
                </a:solidFill>
                <a:effectLst/>
                <a:uFillTx/>
                <a:latin typeface="Calibri"/>
                <a:ea typeface="Calibri"/>
              </a:rPr>
              <a:t>16 / 18</a:t>
            </a:r>
            <a:endParaRPr lang="nl-N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5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B0C4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548640" y="384120"/>
            <a:ext cx="7314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09 · ANNEX — NEXT STEPS</a:t>
            </a:r>
            <a:endParaRPr lang="nl-N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548640" y="68580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Roadmap: v0 → v6</a:t>
            </a:r>
            <a:endParaRPr lang="nl-N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"/>
          <p:cNvSpPr/>
          <p:nvPr/>
        </p:nvSpPr>
        <p:spPr>
          <a:xfrm>
            <a:off x="822960" y="3749040"/>
            <a:ext cx="10515600" cy="360"/>
          </a:xfrm>
          <a:prstGeom prst="line">
            <a:avLst/>
          </a:prstGeom>
          <a:ln w="381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Circle0"/>
          <p:cNvSpPr/>
          <p:nvPr/>
        </p:nvSpPr>
        <p:spPr>
          <a:xfrm>
            <a:off x="62172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Label0"/>
          <p:cNvSpPr/>
          <p:nvPr/>
        </p:nvSpPr>
        <p:spPr>
          <a:xfrm>
            <a:off x="62172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v0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Card0"/>
          <p:cNvSpPr/>
          <p:nvPr/>
        </p:nvSpPr>
        <p:spPr>
          <a:xfrm>
            <a:off x="548640" y="21488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Card0"/>
          <p:cNvSpPr/>
          <p:nvPr/>
        </p:nvSpPr>
        <p:spPr>
          <a:xfrm>
            <a:off x="640080" y="22402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We use fixed input data, which is already cleaned &amp; validated; embed &amp; store (chunking of information, embedding); automated evaluation of 1 metric.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Tick0"/>
          <p:cNvSpPr/>
          <p:nvPr/>
        </p:nvSpPr>
        <p:spPr>
          <a:xfrm>
            <a:off x="822960" y="35204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Circle1"/>
          <p:cNvSpPr/>
          <p:nvPr/>
        </p:nvSpPr>
        <p:spPr>
          <a:xfrm>
            <a:off x="237420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Label1"/>
          <p:cNvSpPr/>
          <p:nvPr/>
        </p:nvSpPr>
        <p:spPr>
          <a:xfrm>
            <a:off x="237420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v1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Card1"/>
          <p:cNvSpPr/>
          <p:nvPr/>
        </p:nvSpPr>
        <p:spPr>
          <a:xfrm>
            <a:off x="1729800" y="39776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Card1"/>
          <p:cNvSpPr/>
          <p:nvPr/>
        </p:nvSpPr>
        <p:spPr>
          <a:xfrm>
            <a:off x="1821240" y="40690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Start with one input source for which we expect to have rather high-quality input; add automated evaluation for 1 or 2 more metrics.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Tick1"/>
          <p:cNvSpPr/>
          <p:nvPr/>
        </p:nvSpPr>
        <p:spPr>
          <a:xfrm>
            <a:off x="2575440" y="37490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Circle2"/>
          <p:cNvSpPr/>
          <p:nvPr/>
        </p:nvSpPr>
        <p:spPr>
          <a:xfrm>
            <a:off x="412704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Label2"/>
          <p:cNvSpPr/>
          <p:nvPr/>
        </p:nvSpPr>
        <p:spPr>
          <a:xfrm>
            <a:off x="412704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v2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Card2"/>
          <p:cNvSpPr/>
          <p:nvPr/>
        </p:nvSpPr>
        <p:spPr>
          <a:xfrm>
            <a:off x="3482280" y="21488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Card2"/>
          <p:cNvSpPr/>
          <p:nvPr/>
        </p:nvSpPr>
        <p:spPr>
          <a:xfrm>
            <a:off x="3573720" y="22402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Use a variable data set, which we clean &amp; validate; add logging of cost, to get a first idea which components generate the highest cost; add automated evaluation for 1 or 2 metrics, to further increase the quality of the output.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Tick2"/>
          <p:cNvSpPr/>
          <p:nvPr/>
        </p:nvSpPr>
        <p:spPr>
          <a:xfrm>
            <a:off x="4327920" y="35204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Circle3"/>
          <p:cNvSpPr/>
          <p:nvPr/>
        </p:nvSpPr>
        <p:spPr>
          <a:xfrm>
            <a:off x="587952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Label3"/>
          <p:cNvSpPr/>
          <p:nvPr/>
        </p:nvSpPr>
        <p:spPr>
          <a:xfrm>
            <a:off x="587952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v3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Card3"/>
          <p:cNvSpPr/>
          <p:nvPr/>
        </p:nvSpPr>
        <p:spPr>
          <a:xfrm>
            <a:off x="5235120" y="39776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Card3"/>
          <p:cNvSpPr/>
          <p:nvPr/>
        </p:nvSpPr>
        <p:spPr>
          <a:xfrm>
            <a:off x="5326560" y="40690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Move to a real-time model: automatically provide input data for automated output generation; more dynamic UI and output API.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Tick3"/>
          <p:cNvSpPr/>
          <p:nvPr/>
        </p:nvSpPr>
        <p:spPr>
          <a:xfrm>
            <a:off x="6080760" y="37490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Circle4"/>
          <p:cNvSpPr/>
          <p:nvPr/>
        </p:nvSpPr>
        <p:spPr>
          <a:xfrm>
            <a:off x="763200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Label4"/>
          <p:cNvSpPr/>
          <p:nvPr/>
        </p:nvSpPr>
        <p:spPr>
          <a:xfrm>
            <a:off x="763200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v4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Card4"/>
          <p:cNvSpPr/>
          <p:nvPr/>
        </p:nvSpPr>
        <p:spPr>
          <a:xfrm>
            <a:off x="6987600" y="21488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Card4"/>
          <p:cNvSpPr/>
          <p:nvPr/>
        </p:nvSpPr>
        <p:spPr>
          <a:xfrm>
            <a:off x="7079040" y="22402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Add access control: per-user authentication and authorization; support output in multiple languages.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Tick4"/>
          <p:cNvSpPr/>
          <p:nvPr/>
        </p:nvSpPr>
        <p:spPr>
          <a:xfrm>
            <a:off x="7833240" y="35204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Circle5"/>
          <p:cNvSpPr/>
          <p:nvPr/>
        </p:nvSpPr>
        <p:spPr>
          <a:xfrm>
            <a:off x="938484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Label5"/>
          <p:cNvSpPr/>
          <p:nvPr/>
        </p:nvSpPr>
        <p:spPr>
          <a:xfrm>
            <a:off x="938484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v5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Card5"/>
          <p:cNvSpPr/>
          <p:nvPr/>
        </p:nvSpPr>
        <p:spPr>
          <a:xfrm>
            <a:off x="8740080" y="39776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Card5"/>
          <p:cNvSpPr/>
          <p:nvPr/>
        </p:nvSpPr>
        <p:spPr>
          <a:xfrm>
            <a:off x="8831520" y="40690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Extend the audience of the output result (end-users, documentation agents); generate other document types.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Tick5"/>
          <p:cNvSpPr/>
          <p:nvPr/>
        </p:nvSpPr>
        <p:spPr>
          <a:xfrm>
            <a:off x="9585720" y="37490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Circle6"/>
          <p:cNvSpPr/>
          <p:nvPr/>
        </p:nvSpPr>
        <p:spPr>
          <a:xfrm>
            <a:off x="11137320" y="3547800"/>
            <a:ext cx="401400" cy="40140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Label6"/>
          <p:cNvSpPr/>
          <p:nvPr/>
        </p:nvSpPr>
        <p:spPr>
          <a:xfrm>
            <a:off x="11137320" y="3547800"/>
            <a:ext cx="401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v6</a:t>
            </a:r>
            <a:endParaRPr lang="nl-N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Card6"/>
          <p:cNvSpPr/>
          <p:nvPr/>
        </p:nvSpPr>
        <p:spPr>
          <a:xfrm>
            <a:off x="9952200" y="2148840"/>
            <a:ext cx="1690560" cy="137052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Card6"/>
          <p:cNvSpPr/>
          <p:nvPr/>
        </p:nvSpPr>
        <p:spPr>
          <a:xfrm>
            <a:off x="10043640" y="2240280"/>
            <a:ext cx="15076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25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C2233"/>
                </a:solidFill>
                <a:effectLst/>
                <a:uFillTx/>
                <a:latin typeface="Calibri"/>
                <a:ea typeface="Calibri"/>
              </a:rPr>
              <a:t>Use the generated document for other means, e.g. validation of requirements before implementation; relate this feature/functionality to the complete application.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Tick6"/>
          <p:cNvSpPr/>
          <p:nvPr/>
        </p:nvSpPr>
        <p:spPr>
          <a:xfrm>
            <a:off x="11338560" y="3520440"/>
            <a:ext cx="360" cy="228600"/>
          </a:xfrm>
          <a:prstGeom prst="line">
            <a:avLst/>
          </a:prstGeom>
          <a:ln w="19050">
            <a:solidFill>
              <a:srgbClr val="DCEAF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3"/>
          <p:cNvSpPr/>
          <p:nvPr/>
        </p:nvSpPr>
        <p:spPr>
          <a:xfrm>
            <a:off x="548640" y="6400800"/>
            <a:ext cx="351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Functional Guide Generator · System Design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34"/>
          <p:cNvSpPr/>
          <p:nvPr/>
        </p:nvSpPr>
        <p:spPr>
          <a:xfrm>
            <a:off x="11003040" y="6400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17 / 18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CC"/>
          <p:cNvSpPr/>
          <p:nvPr/>
        </p:nvSpPr>
        <p:spPr>
          <a:xfrm>
            <a:off x="4064040" y="6400800"/>
            <a:ext cx="406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5"/>
                </a:solidFill>
                <a:effectLst/>
                <a:uFillTx/>
                <a:latin typeface="Calibri"/>
                <a:ea typeface="Calibri"/>
              </a:rPr>
              <a:t>CC BY 4.0 — creativecommons.org/licenses/by/4.0</a:t>
            </a:r>
            <a:endParaRPr lang="nl-N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914400" y="914400"/>
            <a:ext cx="318960" cy="31896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"/>
          <p:cNvSpPr/>
          <p:nvPr/>
        </p:nvSpPr>
        <p:spPr>
          <a:xfrm>
            <a:off x="1737360" y="1463040"/>
            <a:ext cx="218520" cy="2185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"/>
          <p:cNvSpPr/>
          <p:nvPr/>
        </p:nvSpPr>
        <p:spPr>
          <a:xfrm>
            <a:off x="640080" y="1920240"/>
            <a:ext cx="254880" cy="2548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3"/>
          <p:cNvSpPr/>
          <p:nvPr/>
        </p:nvSpPr>
        <p:spPr>
          <a:xfrm>
            <a:off x="2103120" y="5120640"/>
            <a:ext cx="273240" cy="27324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4"/>
          <p:cNvSpPr/>
          <p:nvPr/>
        </p:nvSpPr>
        <p:spPr>
          <a:xfrm>
            <a:off x="1188720" y="5577840"/>
            <a:ext cx="200160" cy="20016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5"/>
          <p:cNvSpPr/>
          <p:nvPr/>
        </p:nvSpPr>
        <p:spPr>
          <a:xfrm>
            <a:off x="1828800" y="6035040"/>
            <a:ext cx="236520" cy="23652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65A82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6"/>
          <p:cNvSpPr/>
          <p:nvPr/>
        </p:nvSpPr>
        <p:spPr>
          <a:xfrm>
            <a:off x="0" y="2286000"/>
            <a:ext cx="1219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E8A33D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7"/>
          <p:cNvSpPr/>
          <p:nvPr/>
        </p:nvSpPr>
        <p:spPr>
          <a:xfrm>
            <a:off x="0" y="2743200"/>
            <a:ext cx="12190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Functional Guide Generator</a:t>
            </a:r>
            <a:endParaRPr lang="nl-NL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8"/>
          <p:cNvSpPr/>
          <p:nvPr/>
        </p:nvSpPr>
        <p:spPr>
          <a:xfrm>
            <a:off x="0" y="3520440"/>
            <a:ext cx="1219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Questions &amp; discussion welcome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9"/>
          <p:cNvSpPr/>
          <p:nvPr/>
        </p:nvSpPr>
        <p:spPr>
          <a:xfrm>
            <a:off x="4998240" y="4297680"/>
            <a:ext cx="2194560" cy="360"/>
          </a:xfrm>
          <a:prstGeom prst="line">
            <a:avLst/>
          </a:prstGeom>
          <a:ln w="12700">
            <a:solidFill>
              <a:srgbClr val="1C729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0"/>
          <p:cNvSpPr/>
          <p:nvPr/>
        </p:nvSpPr>
        <p:spPr>
          <a:xfrm>
            <a:off x="0" y="4572000"/>
            <a:ext cx="1219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B0C4"/>
                </a:solidFill>
                <a:effectLst/>
                <a:uFillTx/>
                <a:latin typeface="Calibri"/>
                <a:ea typeface="Calibri"/>
              </a:rPr>
              <a:t>Author: F. Vreys   ·   July 2026</a:t>
            </a:r>
            <a:endParaRPr lang="nl-NL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1"/>
          <p:cNvSpPr/>
          <p:nvPr/>
        </p:nvSpPr>
        <p:spPr>
          <a:xfrm>
            <a:off x="0" y="4937760"/>
            <a:ext cx="12190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FA4"/>
                </a:solidFill>
                <a:effectLst/>
                <a:uFillTx/>
                <a:latin typeface="Calibri"/>
                <a:ea typeface="Calibri"/>
              </a:rPr>
              <a:t>Licensed under CC BY 4.0 — creativecommons.org/licenses/by/4.0</a:t>
            </a:r>
            <a:endParaRPr lang="nl-N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2"/>
          <p:cNvSpPr/>
          <p:nvPr/>
        </p:nvSpPr>
        <p:spPr>
          <a:xfrm>
            <a:off x="0" y="6309360"/>
            <a:ext cx="12190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A7A8E"/>
                </a:solidFill>
                <a:effectLst/>
                <a:uFillTx/>
                <a:latin typeface="Calibri"/>
                <a:ea typeface="Calibri"/>
              </a:rPr>
              <a:t>Source: Functional_guide_generator_System_design_v12.md</a:t>
            </a:r>
            <a:endParaRPr lang="nl-N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2493</Words>
  <Paragraphs>407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2026-07-15T21:42:07Z</dcterms:created>
  <dc:creator>PptxGenJS</dc:creator>
  <dc:description/>
  <dc:language>nl-NL</dc:language>
  <cp:lastModifiedBy>Frank Vreys</cp:lastModifiedBy>
  <dcterms:modified xsi:type="dcterms:W3CDTF">2026-07-17T16:38:26Z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Breedbeeld</vt:lpwstr>
  </property>
  <property fmtid="{D5CDD505-2E9C-101B-9397-08002B2CF9AE}" pid="4" name="Slides">
    <vt:i4>18</vt:i4>
  </property>
</Properties>
</file>